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Content Placeholder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Calibri"/>
        </a:defRPr>
      </a:lvl1pPr>
    </p:titleStyle>
    <p:bodyStyle>
      <a:lvl1pPr>
        <a:defRPr sz="2800">
          <a:latin typeface="Calibri"/>
        </a:defRPr>
      </a:lvl1pPr>
    </p:body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PLC Tabletop Training Program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Detailed Training Guide &amp; Technical Reference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0: Electrical Safety &amp; LOTO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Personnel safety fundamentals required before any hands-on work. Covers lockout/tagout, arc flash awareness, and safe work practices.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Describe LOTO procedures (OSHA 29 CFR 1910.147) for PLC cabinets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when energized troubleshooting is permitted vs. when LOTO is required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Understand arc flash PPE categories for PLC cabinet voltages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Demonstrate safe multimeter use and proper CAT-rated equipment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1: PLC Hardware &amp; Components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Comprehensive walkthrough of PLC cabinet components, I/O modules, power distribution, and cabinet infrastructure.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every major component inside a PLC control cabinet from physical inspection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Explain the function of the CPU, power supply, Ethernet board, I/O modules, and terminal blocks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Distinguish between digital I/O and analog I/O modules and their applications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Read a basic PLC wiring diagram and match terminal labels to physical wiring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Understand cabinet infrastructure: fuses, DIN rail, grounding, and wire labeling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2: Safety &amp; Input/Output Devices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Input devices (sensors, switches, safety devices) and output devices (motors, relays, valves) — how they work and how they connect to the PLC.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the main input device types and describe the signal each sends to the PLC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the main output device types and describe how the PLC drives each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Understand the difference between standard I/O and safety I/O (dual-channel, OSSD)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Recognize additional field devices: photoelectric sensors, encoders, solenoid valves, VFDs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3: Software Setup &amp; PLC Connectivity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Installing PLC software, configuring IP addresses, and connecting to all three PLC platforms. Includes program backup/restore procedures.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Configure a laptop IP address to communicate with a PLC on a given subnet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Connect to an Omron NX1P2 using Sysmac Studio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Connect to an Allen Bradley controller using Studio 5000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Connect to a Productivity PLC using Productivity Suite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Perform program upload (backup) and understand download procedures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4: Reading &amp; Troubleshooting Logic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Using I/O dashboards, tag browsers, and ladder logic editors to trace signals and diagnose faults across all three platforms.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Apply the 5-layer fault isolation model to systematically troubleshoot PLC issues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Navigate the I/O dashboard to view real-time signal status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Trace a signal from physical input through ladder logic to physical output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Use forcing and monitoring tools safely and effectively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Understand data types, tag structure, and variable scoping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5: Area Scanner Programming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Programming and verifying the Omron OS32C area scanner — defining safety zones, configuring OSSD outputs, and physical verification.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Program or verify the configuration of an Omron OS32C area scanner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Define protective and warning zones using the OS32C Configuration Tool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Confirm OSSD outputs are functioning correctly via PLC monitoring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Physically verify zone boundaries with measurement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6: HMI Navigation &amp; Fault Clearing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Operating the HMI screen — login, alarm management, I/O status monitoring, and fault clearing procedures.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Log into an HMI screen and navigate between key screens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View and interpret active alarms and fault history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Clear faults and reset the machine after a safe condition is restored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Use the I/O status screen to verify field device communication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Manually jog or operate outputs for maintenance testing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7: Scenario-Based Fault Exercises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Five realistic fault scenarios pre-staged on the bench. Diagnose and resolve each independently using the skills from Modules 1–6.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Independently diagnose and resolve a tripped area scanner fault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and correct an IP connectivity failure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Trace a missing sensor signal from PLC to field device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Identify a logic fault (incorrect timer preset) by tracing the ladder rung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Replace a faulty push button and verify proper operation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ccent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 rotWithShape="0">
            <a:gsLst>
              <a:gs pos="0">
                <a:srgbClr val="1E3A5F"/>
              </a:gs>
              <a:gs pos="100000">
                <a:srgbClr val="E8A820"/>
              </a:gs>
            </a:gsLst>
            <a:lin ang="0" scaled="0" flip="none"/>
          </a:gradFill>
        </p:spPr>
        <p:txBody>
          <a:bodyPr/>
          <a:lstStyle/>
          <a:p/>
        </p:txBody>
      </p:sp>
      <p:sp>
        <p:nvSpPr>
          <p:cNvPr id="7" name="FooterStrip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42240"/>
            <a:ext cx="8229600" cy="900000"/>
          </a:xfrm>
          <a:prstGeom prst="rect">
            <a:avLst/>
          </a:prstGeom>
        </p:spPr>
        <p:txBody>
          <a:bodyPr wrap="square" anchor="t" vert="horz"/>
          <a:lstStyle/>
          <a:p>
            <a:r>
              <a:rPr sz="2400" b="1" lang="en-US">
                <a:solidFill>
                  <a:srgbClr val="0F2440"/>
                </a:solidFill>
              </a:rPr>
              <a:t xml:space="preserve">Module 8: Advanced Manufacturing Specifics</a:t>
            </a:r>
          </a:p>
        </p:txBody>
      </p:sp>
      <p:sp>
        <p:nvSpPr>
          <p:cNvPr id="6" name="HeadingUnderline"/>
          <p:cNvSpPr/>
          <p:nvPr/>
        </p:nvSpPr>
        <p:spPr>
          <a:xfrm>
            <a:off x="457200" y="1042240"/>
            <a:ext cx="8229600" cy="38100"/>
          </a:xfrm>
          <a:prstGeom prst="rect">
            <a:avLst/>
          </a:prstGeom>
          <a:solidFill>
            <a:srgbClr val="E8A820"/>
          </a:solidFill>
        </p:spPr>
        <p:txBody>
          <a:bodyPr/>
          <a:lstStyle/>
          <a:p/>
        </p:txBody>
      </p:sp>
      <p:sp>
        <p:nvSpPr>
          <p:cNvPr id="3" name="Content"/>
          <p:cNvSpPr>
            <a:spLocks noGrp="1"/>
          </p:cNvSpPr>
          <p:nvPr>
            <p:ph idx="1" type="body"/>
          </p:nvPr>
        </p:nvSpPr>
        <p:spPr>
          <a:xfrm>
            <a:off x="457200" y="1171780"/>
            <a:ext cx="8229600" cy="5564300"/>
          </a:xfrm>
          <a:prstGeom prst="rect">
            <a:avLst/>
          </a:prstGeom>
        </p:spPr>
        <p:txBody>
          <a:bodyPr wrap="square" anchor="t" vert="horz" lIns="91440" tIns="45720" rIns="91440" bIns="45720"/>
          <a:lstStyle>
            <a:lvl1pPr marL="457200" indent="-228600" algn="l">
              <a:buChar char="•"/>
              <a:defRPr sz="1200">
                <a:solidFill>
                  <a:srgbClr val="1E293B"/>
                </a:solidFill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Custom machine documentation, ladder logic building blocks, servo motor configuration, global variables, and adding I/O components to a PLC.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Locate and use custom build documentation for Vermeer machines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Understand core ladder logic instructions and their symbols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Configure basic servo motor parameters in Sysmac Studio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Create and use global variables with proper naming conventions</a:t>
            </a:r>
          </a:p>
          <a:p>
            <a:pPr lvl="0" algn="l">
              <a:lnSpc>
                <a:spcPct val="112000"/>
              </a:lnSpc>
            </a:pPr>
            <a:r>
              <a:rPr sz="1200" lang="en-US">
                <a:solidFill>
                  <a:srgbClr val="1E293B"/>
                </a:solidFill>
              </a:rPr>
              <a:t xml:space="preserve">Add I/O modules and devices to an existing PLC configuration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plc-training</Application>
  <Slides>10</Slides>
</Properties>
</file>

<file path=docProps/core.xml><?xml version="1.0" encoding="utf-8"?>
<cp:coreProperties xmlns:cp="http://schemas.openxmlformats.org/package/2006/metadata/core-properties" xmlns:dc="http://purl.org/dc/elements/1.1/">
  <dc:title>PLC Tabletop Training</dc:title>
  <dc:creator>plc-training export</dc:creator>
</cp:coreProperties>
</file>