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webp" ContentType="image/webp"/>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6858000"/>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p:sp>
        <p:nvSpPr>
          <p:cNvPr id="2" name="Title Placeholder"/>
          <p:cNvSpPr>
            <a:spLocks noGrp="1"/>
          </p:cNvSpPr>
          <p:nvPr>
            <p:ph type="title"/>
          </p:nvPr>
        </p:nvSpPr>
        <p:spPr>
          <a:xfrm>
            <a:off x="457200" y="142240"/>
            <a:ext cx="8229600" cy="900000"/>
          </a:xfrm>
          <a:prstGeom prst="rect">
            <a:avLst/>
          </a:prstGeom>
        </p:spPr>
        <p:txBody>
          <a:bodyPr/>
          <a:lstStyle/>
          <a:p/>
        </p:txBody>
      </p:sp>
      <p:sp>
        <p:nvSpPr>
          <p:cNvPr id="3" name="Content Placeholder"/>
          <p:cNvSpPr>
            <a:spLocks noGrp="1"/>
          </p:cNvSpPr>
          <p:nvPr>
            <p:ph idx="1" type="body"/>
          </p:nvPr>
        </p:nvSpPr>
        <p:spPr>
          <a:xfrm>
            <a:off x="457200" y="1171780"/>
            <a:ext cx="8229600" cy="5564300"/>
          </a:xfrm>
          <a:prstGeom prst="rect">
            <a:avLst/>
          </a:prstGeom>
        </p:spPr>
        <p:txBody>
          <a:bodyPr/>
          <a:lstStyle/>
          <a:p/>
        </p:txBody>
      </p:sp>
    </p:spTree>
  </p:cSld>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ctr">
        <a:defRPr sz="4400" b="1">
          <a:latin typeface="Calibri"/>
        </a:defRPr>
      </a:lvl1pPr>
    </p:titleStyle>
    <p:bodyStyle>
      <a:lvl1pPr>
        <a:defRPr sz="2800">
          <a:latin typeface="Calibri"/>
        </a:defRPr>
      </a:lvl1pPr>
    </p:body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Module 5: Area Scanner Programming</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PLC Tabletop Training Program · Hands-on Lab · 2.5 h</a:t>
            </a:r>
          </a:p>
          <a:p>
            <a:pPr lvl="0" algn="l">
              <a:lnSpc>
                <a:spcPct val="112000"/>
              </a:lnSpc>
            </a:pPr>
            <a:r>
              <a:rPr sz="1200" lang="en-US">
                <a:solidFill>
                  <a:srgbClr val="1E293B"/>
                </a:solidFill>
              </a:rPr>
              <a:t xml:space="preserve">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Learning objectives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Program or verify the configuration of an Omron OS32C area scanner</a:t>
            </a:r>
          </a:p>
          <a:p>
            <a:pPr lvl="0" algn="l">
              <a:lnSpc>
                <a:spcPct val="112000"/>
              </a:lnSpc>
            </a:pPr>
            <a:r>
              <a:rPr sz="1200" lang="en-US">
                <a:solidFill>
                  <a:srgbClr val="1E293B"/>
                </a:solidFill>
              </a:rPr>
              <a:t xml:space="preserve">Define protective and warning zones using the OS32C Configuration Tool</a:t>
            </a:r>
          </a:p>
          <a:p>
            <a:pPr lvl="0" algn="l">
              <a:lnSpc>
                <a:spcPct val="112000"/>
              </a:lnSpc>
            </a:pPr>
            <a:r>
              <a:rPr sz="1200" lang="en-US">
                <a:solidFill>
                  <a:srgbClr val="1E293B"/>
                </a:solidFill>
              </a:rPr>
              <a:t xml:space="preserve">Confirm OSSD outputs are functioning correctly via PLC monitoring</a:t>
            </a:r>
          </a:p>
          <a:p>
            <a:pPr lvl="0" algn="l">
              <a:lnSpc>
                <a:spcPct val="112000"/>
              </a:lnSpc>
            </a:pPr>
            <a:r>
              <a:rPr sz="1200" lang="en-US">
                <a:solidFill>
                  <a:srgbClr val="1E293B"/>
                </a:solidFill>
              </a:rPr>
              <a:t xml:space="preserve">Physically verify zone boundaries with measurement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Programming and verifying the Omron OS32C area scanner — defining safety zones, configuring OSSD outputs, and physical verification.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OS32C Configuration Tool Setup</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Installing the tool, connecting via USB, and reading existing configurations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Install the Configuration Tool</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Download the OS32C Configuration Tool from Omron's website. Requires Windows 10/11.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Connect to the Scanner</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Connect a USB cable from your laptop to the mini-USB port on the OS32C</a:t>
            </a:r>
          </a:p>
          <a:p>
            <a:pPr lvl="0" algn="l">
              <a:lnSpc>
                <a:spcPct val="112000"/>
              </a:lnSpc>
            </a:pPr>
            <a:r>
              <a:rPr sz="1200" lang="en-US">
                <a:solidFill>
                  <a:srgbClr val="1E293B"/>
                </a:solidFill>
              </a:rPr>
              <a:t xml:space="preserve">Open the Configuration Tool and select the correct COM port</a:t>
            </a:r>
          </a:p>
          <a:p>
            <a:pPr lvl="0" algn="l">
              <a:lnSpc>
                <a:spcPct val="112000"/>
              </a:lnSpc>
            </a:pPr>
            <a:r>
              <a:rPr sz="1200" lang="en-US">
                <a:solidFill>
                  <a:srgbClr val="1E293B"/>
                </a:solidFill>
              </a:rPr>
              <a:t xml:space="preserve">Click Connect</a:t>
            </a:r>
          </a:p>
          <a:p>
            <a:pPr lvl="0" algn="l">
              <a:lnSpc>
                <a:spcPct val="112000"/>
              </a:lnSpc>
            </a:pPr>
            <a:r>
              <a:rPr sz="1200" lang="en-US">
                <a:solidFill>
                  <a:srgbClr val="1E293B"/>
                </a:solidFill>
              </a:rPr>
              <a:t xml:space="preserve">Click Read from Device to load the current zone configuration</a:t>
            </a:r>
          </a:p>
          <a:p>
            <a:pPr lvl="0" algn="l">
              <a:lnSpc>
                <a:spcPct val="112000"/>
              </a:lnSpc>
            </a:pPr>
            <a:r>
              <a:rPr sz="1200" lang="en-US">
                <a:solidFill>
                  <a:srgbClr val="1E293B"/>
                </a:solidFill>
              </a:rPr>
              <a:t xml:space="preserve">The configuration tool shows the scanner's detection field as a top-down polar view. Existing zones appear as colored overlays.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Defining Safety Zones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Creating protective and warning zones, configuring detection parameters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Zone Types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Table: Zone | Purpose | Response</a:t>
            </a:r>
          </a:p>
          <a:p>
            <a:pPr lvl="0" algn="l">
              <a:lnSpc>
                <a:spcPct val="112000"/>
              </a:lnSpc>
            </a:pPr>
            <a:r>
              <a:rPr sz="1200" lang="en-US">
                <a:solidFill>
                  <a:srgbClr val="1E293B"/>
                </a:solidFill>
              </a:rPr>
              <a:t xml:space="preserve">Protective Zone | Immediate danger area around the machine | OSSD outputs drop immediately — machine stops</a:t>
            </a:r>
          </a:p>
          <a:p>
            <a:pPr lvl="0" algn="l">
              <a:lnSpc>
                <a:spcPct val="112000"/>
              </a:lnSpc>
            </a:pPr>
            <a:r>
              <a:rPr sz="1200" lang="en-US">
                <a:solidFill>
                  <a:srgbClr val="1E293B"/>
                </a:solidFill>
              </a:rPr>
              <a:t xml:space="preserve">Warning Zone | Approach area outside the protective zone | Warning output activates (alarm, slow-down) but OSSD stays active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Defining Zone Boundaries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Select the zone type to edit (protective or warning)</a:t>
            </a:r>
          </a:p>
          <a:p>
            <a:pPr lvl="0" algn="l">
              <a:lnSpc>
                <a:spcPct val="112000"/>
              </a:lnSpc>
            </a:pPr>
            <a:r>
              <a:rPr sz="1200" lang="en-US">
                <a:solidFill>
                  <a:srgbClr val="1E293B"/>
                </a:solidFill>
              </a:rPr>
              <a:t xml:space="preserve">Draw the zone boundary using the polygon or radius tool in the configuration software</a:t>
            </a:r>
          </a:p>
          <a:p>
            <a:pPr lvl="0" algn="l">
              <a:lnSpc>
                <a:spcPct val="112000"/>
              </a:lnSpc>
            </a:pPr>
            <a:r>
              <a:rPr sz="1200" lang="en-US">
                <a:solidFill>
                  <a:srgbClr val="1E293B"/>
                </a:solidFill>
              </a:rPr>
              <a:t xml:space="preserve">Set the detection sensitivity (minimum object size) — typically 30–70mm for personnel detection</a:t>
            </a:r>
          </a:p>
          <a:p>
            <a:pPr lvl="0" algn="l">
              <a:lnSpc>
                <a:spcPct val="112000"/>
              </a:lnSpc>
            </a:pPr>
            <a:r>
              <a:rPr sz="1200" lang="en-US">
                <a:solidFill>
                  <a:srgbClr val="1E293B"/>
                </a:solidFill>
              </a:rPr>
              <a:t xml:space="preserve">Configure multiple zone sets if the machine requires different safety zones for different operating modes</a:t>
            </a:r>
          </a:p>
          <a:p>
            <a:pPr lvl="0" algn="l">
              <a:lnSpc>
                <a:spcPct val="112000"/>
              </a:lnSpc>
            </a:pPr>
            <a:r>
              <a:rPr sz="1200" lang="en-US">
                <a:solidFill>
                  <a:srgbClr val="1E293B"/>
                </a:solidFill>
              </a:rPr>
              <a:t xml:space="preserve">Download the configuration to the scanner and verify the new zones are active</a:t>
            </a:r>
          </a:p>
          <a:p>
            <a:pPr lvl="0" algn="l">
              <a:lnSpc>
                <a:spcPct val="112000"/>
              </a:lnSpc>
            </a:pPr>
            <a:r>
              <a:rPr sz="1200" lang="en-US">
                <a:solidFill>
                  <a:srgbClr val="1E293B"/>
                </a:solidFill>
              </a:rPr>
              <a:t xml:space="preserve">[WARNING] Zone Validation Required: After any zone change, you must physically verify the boundaries. Walk toward the scanner from multiple angles and confirm the protective zone triggers at the correct distance. Measure with a tape measure and compare to the configured boundary.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OSSD Testing &amp; Verification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Confirming safety outputs are properly wired and functioning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OSSD Verification Procedure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With the scanner configuration active, confirm both OSSD1 and OSSD2 outputs are wired to the PLC safety input or safety relay</a:t>
            </a:r>
          </a:p>
          <a:p>
            <a:pPr lvl="0" algn="l">
              <a:lnSpc>
                <a:spcPct val="112000"/>
              </a:lnSpc>
            </a:pPr>
            <a:r>
              <a:rPr sz="1200" lang="en-US">
                <a:solidFill>
                  <a:srgbClr val="1E293B"/>
                </a:solidFill>
              </a:rPr>
              <a:t xml:space="preserve">Open the PLC software and go online — monitor the safety input tags mapped to the OSSD outputs</a:t>
            </a:r>
          </a:p>
          <a:p>
            <a:pPr lvl="0" algn="l">
              <a:lnSpc>
                <a:spcPct val="112000"/>
              </a:lnSpc>
            </a:pPr>
            <a:r>
              <a:rPr sz="1200" lang="en-US">
                <a:solidFill>
                  <a:srgbClr val="1E293B"/>
                </a:solidFill>
              </a:rPr>
              <a:t xml:space="preserve">With the zone clear, verify both OSSD tags show TRUE (both channels active)</a:t>
            </a:r>
          </a:p>
          <a:p>
            <a:pPr lvl="0" algn="l">
              <a:lnSpc>
                <a:spcPct val="112000"/>
              </a:lnSpc>
            </a:pPr>
            <a:r>
              <a:rPr sz="1200" lang="en-US">
                <a:solidFill>
                  <a:srgbClr val="1E293B"/>
                </a:solidFill>
              </a:rPr>
              <a:t xml:space="preserve">Have a person enter the protective zone — verify both OSSD tags drop to FALSE simultaneously</a:t>
            </a:r>
          </a:p>
          <a:p>
            <a:pPr lvl="0" algn="l">
              <a:lnSpc>
                <a:spcPct val="112000"/>
              </a:lnSpc>
            </a:pPr>
            <a:r>
              <a:rPr sz="1200" lang="en-US">
                <a:solidFill>
                  <a:srgbClr val="1E293B"/>
                </a:solidFill>
              </a:rPr>
              <a:t xml:space="preserve">Remove the person from the zone — verify both OSSD tags return to TRUE</a:t>
            </a:r>
          </a:p>
          <a:p>
            <a:pPr lvl="0" algn="l">
              <a:lnSpc>
                <a:spcPct val="112000"/>
              </a:lnSpc>
            </a:pPr>
            <a:r>
              <a:rPr sz="1200" lang="en-US">
                <a:solidFill>
                  <a:srgbClr val="1E293B"/>
                </a:solidFill>
              </a:rPr>
              <a:t xml:space="preserve">Confirm the downstream safety circuit responds correctly (machine enabled/disabled)</a:t>
            </a:r>
          </a:p>
          <a:p>
            <a:pPr lvl="0" algn="l">
              <a:lnSpc>
                <a:spcPct val="112000"/>
              </a:lnSpc>
            </a:pPr>
            <a:r>
              <a:rPr sz="1200" lang="en-US">
                <a:solidFill>
                  <a:srgbClr val="1E293B"/>
                </a:solidFill>
              </a:rPr>
              <a:t xml:space="preserve">[DANGER] Single-Channel Failure Test: If your safety system allows it, test single-channel failure: temporarily disconnect one OSSD wire. The safety relay should detect the channel disagreement and lock out. If the machine continues to run on one channel only, the safety wiring is incorrect and must be fixed immediately.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Scanner LED Status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Table: LED State | Meaning</a:t>
            </a:r>
          </a:p>
          <a:p>
            <a:pPr lvl="0" algn="l">
              <a:lnSpc>
                <a:spcPct val="112000"/>
              </a:lnSpc>
            </a:pPr>
            <a:r>
              <a:rPr sz="1200" lang="en-US">
                <a:solidFill>
                  <a:srgbClr val="1E293B"/>
                </a:solidFill>
              </a:rPr>
              <a:t xml:space="preserve">Green steady | Normal operation — zone clear</a:t>
            </a:r>
          </a:p>
          <a:p>
            <a:pPr lvl="0" algn="l">
              <a:lnSpc>
                <a:spcPct val="112000"/>
              </a:lnSpc>
            </a:pPr>
            <a:r>
              <a:rPr sz="1200" lang="en-US">
                <a:solidFill>
                  <a:srgbClr val="1E293B"/>
                </a:solidFill>
              </a:rPr>
              <a:t xml:space="preserve">Yellow steady | Warning zone intrusion detected</a:t>
            </a:r>
          </a:p>
          <a:p>
            <a:pPr lvl="0" algn="l">
              <a:lnSpc>
                <a:spcPct val="112000"/>
              </a:lnSpc>
            </a:pPr>
            <a:r>
              <a:rPr sz="1200" lang="en-US">
                <a:solidFill>
                  <a:srgbClr val="1E293B"/>
                </a:solidFill>
              </a:rPr>
              <a:t xml:space="preserve">Red steady | Protective zone intrusion — OSSD dropped</a:t>
            </a:r>
          </a:p>
          <a:p>
            <a:pPr lvl="0" algn="l">
              <a:lnSpc>
                <a:spcPct val="112000"/>
              </a:lnSpc>
            </a:pPr>
            <a:r>
              <a:rPr sz="1200" lang="en-US">
                <a:solidFill>
                  <a:srgbClr val="1E293B"/>
                </a:solidFill>
              </a:rPr>
              <a:t xml:space="preserve">Red flashing | Scanner fault or configuration error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USB Connection &amp; Live Scan 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OS32C Configuration Tool Setup</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Connect USB to the OS32C on the bench. Open the configuration tool and show the live scan view. Have students walk at various distances to see themselves in the scan display.</a:t>
            </a:r>
          </a:p>
          <a:p>
            <a:pPr lvl="0" algn="l">
              <a:lnSpc>
                <a:spcPct val="112000"/>
              </a:lnSpc>
            </a:pPr>
            <a:r>
              <a:rPr sz="1200" lang="en-US">
                <a:solidFill>
                  <a:srgbClr val="1E293B"/>
                </a:solidFill>
              </a:rPr>
              <a:t xml:space="preserve">Students walk toward and away from the scanner, watching the detection point move in real time. Makes the concept of detection zones tangible.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Zone Programming &amp; Physical Verification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OSSD Testing &amp; Verification</a:t>
            </a:r>
          </a:p>
          <a:p>
            <a:pPr lvl="0" algn="l">
              <a:lnSpc>
                <a:spcPct val="112000"/>
              </a:lnSpc>
            </a:pPr>
            <a:r>
              <a:rPr sz="1200" lang="en-US">
                <a:solidFill>
                  <a:srgbClr val="1E293B"/>
                </a:solidFill>
              </a:rPr>
              <a:t xml:space="preserve">Duration: 15 min</a:t>
            </a:r>
          </a:p>
          <a:p>
            <a:pPr lvl="0" algn="l">
              <a:lnSpc>
                <a:spcPct val="112000"/>
              </a:lnSpc>
            </a:pPr>
            <a:r>
              <a:rPr sz="1200" lang="en-US">
                <a:solidFill>
                  <a:srgbClr val="1E293B"/>
                </a:solidFill>
              </a:rPr>
              <a:t xml:space="preserve">Modify a warning zone boundary, download to the scanner, then physically verify with a student approaching. Show the OSSD output state change on the PLC dashboard simultaneously.</a:t>
            </a:r>
          </a:p>
          <a:p>
            <a:pPr lvl="0" algn="l">
              <a:lnSpc>
                <a:spcPct val="112000"/>
              </a:lnSpc>
            </a:pPr>
            <a:r>
              <a:rPr sz="1200" lang="en-US">
                <a:solidFill>
                  <a:srgbClr val="1E293B"/>
                </a:solidFill>
              </a:rPr>
              <a:t xml:space="preserve">Students measure actual trigger distance with a tape measure and compare to configured distance. Verify both scanner LED and PLC input state change.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happens when an object enters the protective zone of an area scanner?</a:t>
            </a:r>
          </a:p>
          <a:p>
            <a:pPr lvl="0" algn="l">
              <a:lnSpc>
                <a:spcPct val="112000"/>
              </a:lnSpc>
            </a:pPr>
            <a:r>
              <a:rPr sz="1200" lang="en-US">
                <a:solidFill>
                  <a:srgbClr val="1E293B"/>
                </a:solidFill>
              </a:rPr>
              <a:t xml:space="preserve">A warning alarm sounds but the machine continues | The OSSD outputs drop and the machine stops | The scanner displays an error message | Nothing — the operator must press E-stop</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changing zone boundaries in the configuration tool, what must you do?</a:t>
            </a:r>
          </a:p>
          <a:p>
            <a:pPr lvl="0" algn="l">
              <a:lnSpc>
                <a:spcPct val="112000"/>
              </a:lnSpc>
            </a:pPr>
            <a:r>
              <a:rPr sz="1200" lang="en-US">
                <a:solidFill>
                  <a:srgbClr val="1E293B"/>
                </a:solidFill>
              </a:rPr>
              <a:t xml:space="preserve">Just click Save and the scanner updates automatically | Download to the scanner AND physically verify the new boundaries with measurement | Reboot the PLC | Replace the scanner batteries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The area scanner's LED is flashing red. What does this mean?</a:t>
            </a:r>
          </a:p>
          <a:p>
            <a:pPr lvl="0" algn="l">
              <a:lnSpc>
                <a:spcPct val="112000"/>
              </a:lnSpc>
            </a:pPr>
            <a:r>
              <a:rPr sz="1200" lang="en-US">
                <a:solidFill>
                  <a:srgbClr val="1E293B"/>
                </a:solidFill>
              </a:rPr>
              <a:t xml:space="preserve">Normal operation — zone is clear | Warning zone intrusion | Scanner fault or configuration error | Low battery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Application>plc-training</Application>
  <Slides>17</Slides>
</Properties>
</file>

<file path=docProps/core.xml><?xml version="1.0" encoding="utf-8"?>
<cp:coreProperties xmlns:cp="http://schemas.openxmlformats.org/package/2006/metadata/core-properties" xmlns:dc="http://purl.org/dc/elements/1.1/">
  <dc:title>PLC Tabletop Training</dc:title>
  <dc:creator>plc-training export</dc:creator>
</cp:coreProperties>
</file>