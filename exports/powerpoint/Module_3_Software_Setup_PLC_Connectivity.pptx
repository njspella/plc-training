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g" ContentType="image/jpeg"/>
  <Default Extension="jpeg" ContentType="image/jpeg"/>
  <Default Extension="gif" ContentType="image/gif"/>
  <Default Extension="webp" ContentType="image/webp"/>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6858000"/>
  <p:notesSz cx="6858000" cy="9144000"/>
  <p:defaultTextStyle/>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p:sp>
        <p:nvSpPr>
          <p:cNvPr id="2" name="Title Placeholder"/>
          <p:cNvSpPr>
            <a:spLocks noGrp="1"/>
          </p:cNvSpPr>
          <p:nvPr>
            <p:ph type="title"/>
          </p:nvPr>
        </p:nvSpPr>
        <p:spPr>
          <a:xfrm>
            <a:off x="457200" y="142240"/>
            <a:ext cx="8229600" cy="900000"/>
          </a:xfrm>
          <a:prstGeom prst="rect">
            <a:avLst/>
          </a:prstGeom>
        </p:spPr>
        <p:txBody>
          <a:bodyPr/>
          <a:lstStyle/>
          <a:p/>
        </p:txBody>
      </p:sp>
      <p:sp>
        <p:nvSpPr>
          <p:cNvPr id="3" name="Content Placeholder"/>
          <p:cNvSpPr>
            <a:spLocks noGrp="1"/>
          </p:cNvSpPr>
          <p:nvPr>
            <p:ph idx="1" type="body"/>
          </p:nvPr>
        </p:nvSpPr>
        <p:spPr>
          <a:xfrm>
            <a:off x="457200" y="1171780"/>
            <a:ext cx="8229600" cy="5564300"/>
          </a:xfrm>
          <a:prstGeom prst="rect">
            <a:avLst/>
          </a:prstGeom>
        </p:spPr>
        <p:txBody>
          <a:bodyPr/>
          <a:lstStyle/>
          <a:p/>
        </p:txBody>
      </p:sp>
    </p:spTree>
  </p:cSld>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ctr">
        <a:defRPr sz="4400" b="1">
          <a:latin typeface="Calibri"/>
        </a:defRPr>
      </a:lvl1pPr>
    </p:titleStyle>
    <p:bodyStyle>
      <a:lvl1pPr>
        <a:defRPr sz="2800">
          <a:latin typeface="Calibri"/>
        </a:defRPr>
      </a:lvl1pPr>
    </p:body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Module 3: Software Setup &amp; PLC Connectivity</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PLC Tabletop Training Program · Hands-on Lab · 3.5 h</a:t>
            </a:r>
          </a:p>
          <a:p>
            <a:pPr lvl="0" algn="l">
              <a:lnSpc>
                <a:spcPct val="112000"/>
              </a:lnSpc>
            </a:pPr>
            <a:r>
              <a:rPr sz="1200" lang="en-US">
                <a:solidFill>
                  <a:srgbClr val="1E293B"/>
                </a:solidFill>
              </a:rPr>
              <a:t xml:space="preserve">v1.0 (April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Learning objectives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Configure a laptop IP address to communicate with a PLC on a given subnet</a:t>
            </a:r>
          </a:p>
          <a:p>
            <a:pPr lvl="0" algn="l">
              <a:lnSpc>
                <a:spcPct val="112000"/>
              </a:lnSpc>
            </a:pPr>
            <a:r>
              <a:rPr sz="1200" lang="en-US">
                <a:solidFill>
                  <a:srgbClr val="1E293B"/>
                </a:solidFill>
              </a:rPr>
              <a:t xml:space="preserve">Connect to an Omron NX1P2 using Sysmac Studio</a:t>
            </a:r>
          </a:p>
          <a:p>
            <a:pPr lvl="0" algn="l">
              <a:lnSpc>
                <a:spcPct val="112000"/>
              </a:lnSpc>
            </a:pPr>
            <a:r>
              <a:rPr sz="1200" lang="en-US">
                <a:solidFill>
                  <a:srgbClr val="1E293B"/>
                </a:solidFill>
              </a:rPr>
              <a:t xml:space="preserve">Connect to an Allen Bradley controller using Studio 5000</a:t>
            </a:r>
          </a:p>
          <a:p>
            <a:pPr lvl="0" algn="l">
              <a:lnSpc>
                <a:spcPct val="112000"/>
              </a:lnSpc>
            </a:pPr>
            <a:r>
              <a:rPr sz="1200" lang="en-US">
                <a:solidFill>
                  <a:srgbClr val="1E293B"/>
                </a:solidFill>
              </a:rPr>
              <a:t xml:space="preserve">Connect to a Productivity PLC using Productivity Suite</a:t>
            </a:r>
          </a:p>
          <a:p>
            <a:pPr lvl="0" algn="l">
              <a:lnSpc>
                <a:spcPct val="112000"/>
              </a:lnSpc>
            </a:pPr>
            <a:r>
              <a:rPr sz="1200" lang="en-US">
                <a:solidFill>
                  <a:srgbClr val="1E293B"/>
                </a:solidFill>
              </a:rPr>
              <a:t xml:space="preserve">Perform program upload (backup) and understand download procedures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Overview</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Installing PLC software, configuring IP addresses, and connecting to all three PLC platforms. Includes program backup/restore procedures.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IP Address Configuration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Setting your laptop IP to communicate with PLCs on any subnet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IP Address Configuration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Every PLC connection starts with IP address configuration. Your laptop must be on the same subnet as the PLC to communicate.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Step-by-Step: Setting Your IP Address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Open the Windows search bar and type Network Connections</a:t>
            </a:r>
          </a:p>
          <a:p>
            <a:pPr lvl="0" algn="l">
              <a:lnSpc>
                <a:spcPct val="112000"/>
              </a:lnSpc>
            </a:pPr>
            <a:r>
              <a:rPr sz="1200" lang="en-US">
                <a:solidFill>
                  <a:srgbClr val="1E293B"/>
                </a:solidFill>
              </a:rPr>
              <a:t xml:space="preserve">Double-click the Ethernet adapter showing "Unidentified Network" (this is the one connected to the PLC)</a:t>
            </a:r>
          </a:p>
          <a:p>
            <a:pPr lvl="0" algn="l">
              <a:lnSpc>
                <a:spcPct val="112000"/>
              </a:lnSpc>
            </a:pPr>
            <a:r>
              <a:rPr sz="1200" lang="en-US">
                <a:solidFill>
                  <a:srgbClr val="1E293B"/>
                </a:solidFill>
              </a:rPr>
              <a:t xml:space="preserve">Click Properties, enter your username and password if prompted</a:t>
            </a:r>
          </a:p>
          <a:p>
            <a:pPr lvl="0" algn="l">
              <a:lnSpc>
                <a:spcPct val="112000"/>
              </a:lnSpc>
            </a:pPr>
            <a:r>
              <a:rPr sz="1200" lang="en-US">
                <a:solidFill>
                  <a:srgbClr val="1E293B"/>
                </a:solidFill>
              </a:rPr>
              <a:t xml:space="preserve">Scroll to Internet Protocol Version 4 (TCP/IPv4) and double-click</a:t>
            </a:r>
          </a:p>
          <a:p>
            <a:pPr lvl="0" algn="l">
              <a:lnSpc>
                <a:spcPct val="112000"/>
              </a:lnSpc>
            </a:pPr>
            <a:r>
              <a:rPr sz="1200" lang="en-US">
                <a:solidFill>
                  <a:srgbClr val="1E293B"/>
                </a:solidFill>
              </a:rPr>
              <a:t xml:space="preserve">Select Use the following IP address</a:t>
            </a:r>
          </a:p>
          <a:p>
            <a:pPr lvl="0" algn="l">
              <a:lnSpc>
                <a:spcPct val="112000"/>
              </a:lnSpc>
            </a:pPr>
            <a:r>
              <a:rPr sz="1200" lang="en-US">
                <a:solidFill>
                  <a:srgbClr val="1E293B"/>
                </a:solidFill>
              </a:rPr>
              <a:t xml:space="preserve">Set the first three octets to match the PLC's IP. Set the last octet to a unique number (not the PLC's address). Example: PLC is 192.168.1.100 → set laptop to 192.168.1.50</a:t>
            </a:r>
          </a:p>
          <a:p>
            <a:pPr lvl="0" algn="l">
              <a:lnSpc>
                <a:spcPct val="112000"/>
              </a:lnSpc>
            </a:pPr>
            <a:r>
              <a:rPr sz="1200" lang="en-US">
                <a:solidFill>
                  <a:srgbClr val="1E293B"/>
                </a:solidFill>
              </a:rPr>
              <a:t xml:space="preserve">Set Subnet mask to 255.255.255.0</a:t>
            </a:r>
          </a:p>
          <a:p>
            <a:pPr lvl="0" algn="l">
              <a:lnSpc>
                <a:spcPct val="112000"/>
              </a:lnSpc>
            </a:pPr>
            <a:r>
              <a:rPr sz="1200" lang="en-US">
                <a:solidFill>
                  <a:srgbClr val="1E293B"/>
                </a:solidFill>
              </a:rPr>
              <a:t xml:space="preserve">Click OK and close all dialogs</a:t>
            </a:r>
          </a:p>
          <a:p>
            <a:pPr lvl="0" algn="l">
              <a:lnSpc>
                <a:spcPct val="112000"/>
              </a:lnSpc>
            </a:pPr>
            <a:r>
              <a:rPr sz="1200" lang="en-US">
                <a:solidFill>
                  <a:srgbClr val="1E293B"/>
                </a:solidFill>
              </a:rPr>
              <a:t xml:space="preserve">[INFO] Subnet Explained Simply: With a subnet mask of 255.255.255.0, the first three number groups must match between your laptop and the PLC. Only the last number must be different. If the PLC is 192.168.5.20, your laptop could be 192.168.5.50 — but NOT 192.168.1.50 (different third octet).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Verify Connectivity with Ping</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Open Command Prompt and type: ping 192.168.1.100 (replace with the PLC's actual IP). You should see replies. If you see "Request timed out" or "Destination host unreachable," check your IP settings, cable, and link lights.</a:t>
            </a:r>
          </a:p>
          <a:p>
            <a:pPr lvl="0" algn="l">
              <a:lnSpc>
                <a:spcPct val="112000"/>
              </a:lnSpc>
            </a:pPr>
            <a:r>
              <a:rPr sz="1200" lang="en-US">
                <a:solidFill>
                  <a:srgbClr val="1E293B"/>
                </a:solidFill>
              </a:rPr>
              <a:t xml:space="preserve">[TIP] IT Access Requirement: Changing your IP address requires permission. Reference SR-128857 in self-service. One approval covers all three PLC platforms.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Connecting to Omron (Sysmac Studio)</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Direct Ethernet and remote connection procedures for Omron NX1P2</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Connecting to Omron (Sysmac Studio)</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Sysmac Studio is Omron's integrated development environment for the NX/NJ series controllers. Request it via self-service using references SR-124812 and SR-117625.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Direct Ethernet Connection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Plug the Ethernet cable from your laptop directly into the PLC's Ethernet port</a:t>
            </a:r>
          </a:p>
          <a:p>
            <a:pPr lvl="0" algn="l">
              <a:lnSpc>
                <a:spcPct val="112000"/>
              </a:lnSpc>
            </a:pPr>
            <a:r>
              <a:rPr sz="1200" lang="en-US">
                <a:solidFill>
                  <a:srgbClr val="1E293B"/>
                </a:solidFill>
              </a:rPr>
              <a:t xml:space="preserve">Open Sysmac Studio and open or create a project</a:t>
            </a:r>
          </a:p>
          <a:p>
            <a:pPr lvl="0" algn="l">
              <a:lnSpc>
                <a:spcPct val="112000"/>
              </a:lnSpc>
            </a:pPr>
            <a:r>
              <a:rPr sz="1200" lang="en-US">
                <a:solidFill>
                  <a:srgbClr val="1E293B"/>
                </a:solidFill>
              </a:rPr>
              <a:t xml:space="preserve">Select Direct Connection via Ethernet in the connection dialog</a:t>
            </a:r>
          </a:p>
          <a:p>
            <a:pPr lvl="0" algn="l">
              <a:lnSpc>
                <a:spcPct val="112000"/>
              </a:lnSpc>
            </a:pPr>
            <a:r>
              <a:rPr sz="1200" lang="en-US">
                <a:solidFill>
                  <a:srgbClr val="1E293B"/>
                </a:solidFill>
              </a:rPr>
              <a:t xml:space="preserve">Click Connect — the software will scan for controllers on the subnet</a:t>
            </a:r>
          </a:p>
          <a:p>
            <a:pPr lvl="0" algn="l">
              <a:lnSpc>
                <a:spcPct val="112000"/>
              </a:lnSpc>
            </a:pPr>
            <a:r>
              <a:rPr sz="1200" lang="en-US">
                <a:solidFill>
                  <a:srgbClr val="1E293B"/>
                </a:solidFill>
              </a:rPr>
              <a:t xml:space="preserve">If prompted, select the correct controller from the discovered list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Remote Connection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Select Remote Connection via Ethernet</a:t>
            </a:r>
          </a:p>
          <a:p>
            <a:pPr lvl="0" algn="l">
              <a:lnSpc>
                <a:spcPct val="112000"/>
              </a:lnSpc>
            </a:pPr>
            <a:r>
              <a:rPr sz="1200" lang="en-US">
                <a:solidFill>
                  <a:srgbClr val="1E293B"/>
                </a:solidFill>
              </a:rPr>
              <a:t xml:space="preserve">Enter the PLC's IP address in the connection settings</a:t>
            </a:r>
          </a:p>
          <a:p>
            <a:pPr lvl="0" algn="l">
              <a:lnSpc>
                <a:spcPct val="112000"/>
              </a:lnSpc>
            </a:pPr>
            <a:r>
              <a:rPr sz="1200" lang="en-US">
                <a:solidFill>
                  <a:srgbClr val="1E293B"/>
                </a:solidFill>
              </a:rPr>
              <a:t xml:space="preserve">Ensure your laptop's IP address has the same first three octets</a:t>
            </a:r>
          </a:p>
          <a:p>
            <a:pPr lvl="0" algn="l">
              <a:lnSpc>
                <a:spcPct val="112000"/>
              </a:lnSpc>
            </a:pPr>
            <a:r>
              <a:rPr sz="1200" lang="en-US">
                <a:solidFill>
                  <a:srgbClr val="1E293B"/>
                </a:solidFill>
              </a:rPr>
              <a:t xml:space="preserve">Click Connect</a:t>
            </a:r>
          </a:p>
          <a:p>
            <a:pPr lvl="0" algn="l">
              <a:lnSpc>
                <a:spcPct val="112000"/>
              </a:lnSpc>
            </a:pPr>
            <a:r>
              <a:rPr sz="1200" lang="en-US">
                <a:solidFill>
                  <a:srgbClr val="1E293B"/>
                </a:solidFill>
              </a:rPr>
              <a:t xml:space="preserve">If Ethernet fails, try Direct Connection via USB as a backup — connect a USB cable from your laptop to the PLC's USB port.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Verifying Online Status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When connected, the Sysmac Studio toolbar shows a green 'Online' indicator. The project tree updates to show the live controller status. Verify the RUN LED on the physical PLC matches what software reports.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Connecting to Allen Bradley (Studio 5000)</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Who Active, going online, and navigating Studio 5000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Connecting to Allen Bradley (Studio 5000)</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Studio 5000 Logix Designer is the programming environment for Allen Bradley CompactLogix and ControlLogix controllers. Request via self-service (reference SR-124812). IT installs via BeyondTrust.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Connection Steps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Set your IP address to the same subnet as the controller (e.g., PLC is 192.168.1.100, set laptop to 192.168.1.50)</a:t>
            </a:r>
          </a:p>
          <a:p>
            <a:pPr lvl="0" algn="l">
              <a:lnSpc>
                <a:spcPct val="112000"/>
              </a:lnSpc>
            </a:pPr>
            <a:r>
              <a:rPr sz="1200" lang="en-US">
                <a:solidFill>
                  <a:srgbClr val="1E293B"/>
                </a:solidFill>
              </a:rPr>
              <a:t xml:space="preserve">Open Studio 5000 and open the project file (.ACD)</a:t>
            </a:r>
          </a:p>
          <a:p>
            <a:pPr lvl="0" algn="l">
              <a:lnSpc>
                <a:spcPct val="112000"/>
              </a:lnSpc>
            </a:pPr>
            <a:r>
              <a:rPr sz="1200" lang="en-US">
                <a:solidFill>
                  <a:srgbClr val="1E293B"/>
                </a:solidFill>
              </a:rPr>
              <a:t xml:space="preserve">Go to Communications &gt; Who Active (or press Ctrl+W in RSLinx)</a:t>
            </a:r>
          </a:p>
          <a:p>
            <a:pPr lvl="0" algn="l">
              <a:lnSpc>
                <a:spcPct val="112000"/>
              </a:lnSpc>
            </a:pPr>
            <a:r>
              <a:rPr sz="1200" lang="en-US">
                <a:solidFill>
                  <a:srgbClr val="1E293B"/>
                </a:solidFill>
              </a:rPr>
              <a:t xml:space="preserve">Expand the Ethernet driver to browse the network — the controller should appear</a:t>
            </a:r>
          </a:p>
          <a:p>
            <a:pPr lvl="0" algn="l">
              <a:lnSpc>
                <a:spcPct val="112000"/>
              </a:lnSpc>
            </a:pPr>
            <a:r>
              <a:rPr sz="1200" lang="en-US">
                <a:solidFill>
                  <a:srgbClr val="1E293B"/>
                </a:solidFill>
              </a:rPr>
              <a:t xml:space="preserve">Right-click the controller and select Go Online</a:t>
            </a:r>
          </a:p>
          <a:p>
            <a:pPr lvl="0" algn="l">
              <a:lnSpc>
                <a:spcPct val="112000"/>
              </a:lnSpc>
            </a:pPr>
            <a:r>
              <a:rPr sz="1200" lang="en-US">
                <a:solidFill>
                  <a:srgbClr val="1E293B"/>
                </a:solidFill>
              </a:rPr>
              <a:t xml:space="preserve">The software will compare the offline project to the online program — review any differences</a:t>
            </a:r>
          </a:p>
          <a:p>
            <a:pPr lvl="0" algn="l">
              <a:lnSpc>
                <a:spcPct val="112000"/>
              </a:lnSpc>
            </a:pPr>
            <a:r>
              <a:rPr sz="1200" lang="en-US">
                <a:solidFill>
                  <a:srgbClr val="1E293B"/>
                </a:solidFill>
              </a:rPr>
              <a:t xml:space="preserve">[WARNING] Online vs. Offline Mismatch: If the offline project doesn't match what's in the controller, Studio 5000 will warn you. Always upload from the controller first to get the current program before making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Connecting to AutomationDirect (Productivity Suite)</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Ethernet connection and program access for Productivity PLCs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Connecting to AutomationDirect (Productivity Suite)</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Productivity Suite is free to download from AutomationDirect.com. Confirm the version matches the PLC firmware (P1000, P2000, or P3000 series).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Connection Steps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Connect an Ethernet cable from your laptop to the PLC's Ethernet port (or a switch on the same network)</a:t>
            </a:r>
          </a:p>
          <a:p>
            <a:pPr lvl="0" algn="l">
              <a:lnSpc>
                <a:spcPct val="112000"/>
              </a:lnSpc>
            </a:pPr>
            <a:r>
              <a:rPr sz="1200" lang="en-US">
                <a:solidFill>
                  <a:srgbClr val="1E293B"/>
                </a:solidFill>
              </a:rPr>
              <a:t xml:space="preserve">Set your IP to the same subnet as the PLC</a:t>
            </a:r>
          </a:p>
          <a:p>
            <a:pPr lvl="0" algn="l">
              <a:lnSpc>
                <a:spcPct val="112000"/>
              </a:lnSpc>
            </a:pPr>
            <a:r>
              <a:rPr sz="1200" lang="en-US">
                <a:solidFill>
                  <a:srgbClr val="1E293B"/>
                </a:solidFill>
              </a:rPr>
              <a:t xml:space="preserve">Open Productivity Suite and select Connect from the toolbar</a:t>
            </a:r>
          </a:p>
          <a:p>
            <a:pPr lvl="0" algn="l">
              <a:lnSpc>
                <a:spcPct val="112000"/>
              </a:lnSpc>
            </a:pPr>
            <a:r>
              <a:rPr sz="1200" lang="en-US">
                <a:solidFill>
                  <a:srgbClr val="1E293B"/>
                </a:solidFill>
              </a:rPr>
              <a:t xml:space="preserve">Enter the PLC's IP address when prompted</a:t>
            </a:r>
          </a:p>
          <a:p>
            <a:pPr lvl="0" algn="l">
              <a:lnSpc>
                <a:spcPct val="112000"/>
              </a:lnSpc>
            </a:pPr>
            <a:r>
              <a:rPr sz="1200" lang="en-US">
                <a:solidFill>
                  <a:srgbClr val="1E293B"/>
                </a:solidFill>
              </a:rPr>
              <a:t xml:space="preserve">The software connects and shows the live program status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Viewing Live Data</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Once online, go to View &gt; Data View to see a live table of all tag values — I/O points, memory bits, timers, and counters. Filter by name to find specific tags.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Program Backup &amp; Restore</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How to upload (backup) and download programs — the most important habit you'll build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Program Backup &amp; Restore</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[DANGER] The #1 Rule: ALWAYS upload (backup) the current program from the PLC to your laptop BEFORE making any changes. This is non-negotiable on production machines.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Uploading (Backup) a Program</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Uploading reads the current program from the PLC to your laptop. Do this every time before you modify anything.</a:t>
            </a:r>
          </a:p>
          <a:p>
            <a:pPr lvl="0" algn="l">
              <a:lnSpc>
                <a:spcPct val="112000"/>
              </a:lnSpc>
            </a:pPr>
            <a:r>
              <a:rPr sz="1200" lang="en-US">
                <a:solidFill>
                  <a:srgbClr val="1E293B"/>
                </a:solidFill>
              </a:rPr>
              <a:t xml:space="preserve">Table: Platform | Steps</a:t>
            </a:r>
          </a:p>
          <a:p>
            <a:pPr lvl="0" algn="l">
              <a:lnSpc>
                <a:spcPct val="112000"/>
              </a:lnSpc>
            </a:pPr>
            <a:r>
              <a:rPr sz="1200" lang="en-US">
                <a:solidFill>
                  <a:srgbClr val="1E293B"/>
                </a:solidFill>
              </a:rPr>
              <a:t xml:space="preserve">Omron Sysmac Studio | Go online → Transfer &gt; Upload from Controller → Save project with descriptive name</a:t>
            </a:r>
          </a:p>
          <a:p>
            <a:pPr lvl="0" algn="l">
              <a:lnSpc>
                <a:spcPct val="112000"/>
              </a:lnSpc>
            </a:pPr>
            <a:r>
              <a:rPr sz="1200" lang="en-US">
                <a:solidFill>
                  <a:srgbClr val="1E293B"/>
                </a:solidFill>
              </a:rPr>
              <a:t xml:space="preserve">AB Studio 5000 | Go online → Upload → Save .ACD file with date and machine name</a:t>
            </a:r>
          </a:p>
          <a:p>
            <a:pPr lvl="0" algn="l">
              <a:lnSpc>
                <a:spcPct val="112000"/>
              </a:lnSpc>
            </a:pPr>
            <a:r>
              <a:rPr sz="1200" lang="en-US">
                <a:solidFill>
                  <a:srgbClr val="1E293B"/>
                </a:solidFill>
              </a:rPr>
              <a:t xml:space="preserve">Productivity Suite | Connect → File &gt; Read Project from PLC → Save with descriptive name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File Naming Convention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Use a consistent naming format: [MachineName]_[PLCType]_[Date]_[Reason].ext</a:t>
            </a:r>
          </a:p>
          <a:p>
            <a:pPr lvl="0" algn="l">
              <a:lnSpc>
                <a:spcPct val="112000"/>
              </a:lnSpc>
            </a:pPr>
            <a:r>
              <a:rPr sz="1200" lang="en-US">
                <a:solidFill>
                  <a:srgbClr val="1E293B"/>
                </a:solidFill>
              </a:rPr>
              <a:t xml:space="preserve">Example: CobotReamer_NX1P2_20260407_PreMaintenance.smc2</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Downloading (Restore) a Program</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Downloading writes a program from your laptop to the PLC. This replaces the running program and is only done for intentional changes or restoration after a failure.</a:t>
            </a:r>
          </a:p>
          <a:p>
            <a:pPr lvl="0" algn="l">
              <a:lnSpc>
                <a:spcPct val="112000"/>
              </a:lnSpc>
            </a:pPr>
            <a:r>
              <a:rPr sz="1200" lang="en-US">
                <a:solidFill>
                  <a:srgbClr val="1E293B"/>
                </a:solidFill>
              </a:rPr>
              <a:t xml:space="preserve">[WARNING] Production Impact: Downloading to a production PLC will interrupt the running program. Coordinate with production before any download. On the training bench, downloads are safe to practice.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Physical Connection Walkthrough</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IP Address Configuration</a:t>
            </a:r>
          </a:p>
          <a:p>
            <a:pPr lvl="0" algn="l">
              <a:lnSpc>
                <a:spcPct val="112000"/>
              </a:lnSpc>
            </a:pPr>
            <a:r>
              <a:rPr sz="1200" lang="en-US">
                <a:solidFill>
                  <a:srgbClr val="1E293B"/>
                </a:solidFill>
              </a:rPr>
              <a:t xml:space="preserve">Duration: 10 min</a:t>
            </a:r>
          </a:p>
          <a:p>
            <a:pPr lvl="0" algn="l">
              <a:lnSpc>
                <a:spcPct val="112000"/>
              </a:lnSpc>
            </a:pPr>
            <a:r>
              <a:rPr sz="1200" lang="en-US">
                <a:solidFill>
                  <a:srgbClr val="1E293B"/>
                </a:solidFill>
              </a:rPr>
              <a:t xml:space="preserve">Physically connect an Ethernet cable from laptop to the Omron NX1P2. Show link lights on both ends. Open Command Prompt, ping the PLC — show success. Change one octet to demonstrate a failed ping.</a:t>
            </a:r>
          </a:p>
          <a:p>
            <a:pPr lvl="0" algn="l">
              <a:lnSpc>
                <a:spcPct val="112000"/>
              </a:lnSpc>
            </a:pPr>
            <a:r>
              <a:rPr sz="1200" lang="en-US">
                <a:solidFill>
                  <a:srgbClr val="1E293B"/>
                </a:solidFill>
              </a:rPr>
              <a:t xml:space="preserve">Students take turns plugging in the cable, verifying link lights, and running a ping test. Each experiences at least one failed and one successful ping.</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Live Online — All Three Platforms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Connecting to AutomationDirect (Productivity Suite)</a:t>
            </a:r>
          </a:p>
          <a:p>
            <a:pPr lvl="0" algn="l">
              <a:lnSpc>
                <a:spcPct val="112000"/>
              </a:lnSpc>
            </a:pPr>
            <a:r>
              <a:rPr sz="1200" lang="en-US">
                <a:solidFill>
                  <a:srgbClr val="1E293B"/>
                </a:solidFill>
              </a:rPr>
              <a:t xml:space="preserve">Duration: 15 min</a:t>
            </a:r>
          </a:p>
          <a:p>
            <a:pPr lvl="0" algn="l">
              <a:lnSpc>
                <a:spcPct val="112000"/>
              </a:lnSpc>
            </a:pPr>
            <a:r>
              <a:rPr sz="1200" lang="en-US">
                <a:solidFill>
                  <a:srgbClr val="1E293B"/>
                </a:solidFill>
              </a:rPr>
              <a:t xml:space="preserve">With the laptop connected, go online with each platform in sequence: Sysmac Studio → NX1P2, Studio 5000 → CompactLogix, Productivity Suite → P2000. Show the online indicator and matching RUN LED.</a:t>
            </a:r>
          </a:p>
          <a:p>
            <a:pPr lvl="0" algn="l">
              <a:lnSpc>
                <a:spcPct val="112000"/>
              </a:lnSpc>
            </a:pPr>
            <a:r>
              <a:rPr sz="1200" lang="en-US">
                <a:solidFill>
                  <a:srgbClr val="1E293B"/>
                </a:solidFill>
              </a:rPr>
              <a:t xml:space="preserve">Students note the different workflows for each platform and observe visual confirmation (software indicator + physical LED).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Program Upload (Backup)</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Program Backup &amp; Restore</a:t>
            </a:r>
          </a:p>
          <a:p>
            <a:pPr lvl="0" algn="l">
              <a:lnSpc>
                <a:spcPct val="112000"/>
              </a:lnSpc>
            </a:pPr>
            <a:r>
              <a:rPr sz="1200" lang="en-US">
                <a:solidFill>
                  <a:srgbClr val="1E293B"/>
                </a:solidFill>
              </a:rPr>
              <a:t xml:space="preserve">Duration: 10 min</a:t>
            </a:r>
          </a:p>
          <a:p>
            <a:pPr lvl="0" algn="l">
              <a:lnSpc>
                <a:spcPct val="112000"/>
              </a:lnSpc>
            </a:pPr>
            <a:r>
              <a:rPr sz="1200" lang="en-US">
                <a:solidFill>
                  <a:srgbClr val="1E293B"/>
                </a:solidFill>
              </a:rPr>
              <a:t xml:space="preserve">Perform a full upload from PLC to laptop. Save with a proper filename. Show file location. Emphasize: do this EVERY TIME before changing anything on production equipment.</a:t>
            </a:r>
          </a:p>
          <a:p>
            <a:pPr lvl="0" algn="l">
              <a:lnSpc>
                <a:spcPct val="112000"/>
              </a:lnSpc>
            </a:pPr>
            <a:r>
              <a:rPr sz="1200" lang="en-US">
                <a:solidFill>
                  <a:srgbClr val="1E293B"/>
                </a:solidFill>
              </a:rPr>
              <a:t xml:space="preserve">Students perform the upload on at least one platform and verify the saved file exists.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 PLC has IP address 192.168.5.20 with subnet mask 255.255.255.0. Which laptop IP would allow communication?</a:t>
            </a:r>
          </a:p>
          <a:p>
            <a:pPr lvl="0" algn="l">
              <a:lnSpc>
                <a:spcPct val="112000"/>
              </a:lnSpc>
            </a:pPr>
            <a:r>
              <a:rPr sz="1200" lang="en-US">
                <a:solidFill>
                  <a:srgbClr val="1E293B"/>
                </a:solidFill>
              </a:rPr>
              <a:t xml:space="preserve">10.0.0.50 | 192.168.1.50 | 192.168.5.50 | 192.168.5.20</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You try to ping the PLC but get 'Request timed out.' What should you check first?</a:t>
            </a:r>
          </a:p>
          <a:p>
            <a:pPr lvl="0" algn="l">
              <a:lnSpc>
                <a:spcPct val="112000"/>
              </a:lnSpc>
            </a:pPr>
            <a:r>
              <a:rPr sz="1200" lang="en-US">
                <a:solidFill>
                  <a:srgbClr val="1E293B"/>
                </a:solidFill>
              </a:rPr>
              <a:t xml:space="preserve">Reinstall the PLC software | Reboot the PLC | Verify your IP address, check the cable connection, and confirm link lights are on | Call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Before modifying a program on a production PLC, what must you ALWAYS do first?</a:t>
            </a:r>
          </a:p>
          <a:p>
            <a:pPr lvl="0" algn="l">
              <a:lnSpc>
                <a:spcPct val="112000"/>
              </a:lnSpc>
            </a:pPr>
            <a:r>
              <a:rPr sz="1200" lang="en-US">
                <a:solidFill>
                  <a:srgbClr val="1E293B"/>
                </a:solidFill>
              </a:rPr>
              <a:t xml:space="preserve">Get supervisor approval | Upload (backup) the current program | Switch the PLC to PROGRAM mode | Disconnect the HMI</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What is the keyboard shortcut to browse the network in Studio 5000?</a:t>
            </a:r>
          </a:p>
          <a:p>
            <a:pPr lvl="0" algn="l">
              <a:lnSpc>
                <a:spcPct val="112000"/>
              </a:lnSpc>
            </a:pPr>
            <a:r>
              <a:rPr sz="1200" lang="en-US">
                <a:solidFill>
                  <a:srgbClr val="1E293B"/>
                </a:solidFill>
              </a:rPr>
              <a:t xml:space="preserve">Ctrl+W (Who Active via RSLinx) | Ctrl+B | F5 | Ctrl+Enter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name="Office">
      <a:fillStyleLst>
        <a:solidFill>
          <a:schemeClr val="phClr"/>
        </a:solidFill>
      </a:fillStyleLst>
      <a:lnStyleLst>
        <a:ln w="9525">
          <a:solidFill>
            <a:schemeClr val="phClr"/>
          </a:solidFill>
        </a:ln>
      </a:lnStyleLst>
      <a:effectStyleLst>
        <a:effectStyle>
          <a:effectLst/>
        </a:effectStyle>
      </a:effectStyleLst>
      <a:bgFillStyleLst>
        <a:solidFill>
          <a:schemeClr val="phClr"/>
        </a:solidFill>
      </a:bgFillStyleLst>
    </a:fmtScheme>
  </a:themeElements>
  <a:objectDefaults/>
  <a:extraClrSchemeLst/>
</a:theme>
</file>

<file path=docProps/app.xml><?xml version="1.0" encoding="utf-8"?>
<Properties xmlns="http://schemas.openxmlformats.org/officeDocument/2006/extended-properties">
  <Application>plc-training</Application>
  <Slides>31</Slides>
</Properties>
</file>

<file path=docProps/core.xml><?xml version="1.0" encoding="utf-8"?>
<cp:coreProperties xmlns:cp="http://schemas.openxmlformats.org/package/2006/metadata/core-properties" xmlns:dc="http://purl.org/dc/elements/1.1/">
  <dc:title>PLC Tabletop Training</dc:title>
  <dc:creator>plc-training export</dc:creator>
</cp:coreProperties>
</file>