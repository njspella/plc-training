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Lst>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11" Type="http://schemas.openxmlformats.org/officeDocument/2006/relationships/slide" Target="slides/slide1.xml"/>
<Relationship Id="rId12" Type="http://schemas.openxmlformats.org/officeDocument/2006/relationships/slide" Target="slides/slide2.xml"/>
<Relationship Id="rId13" Type="http://schemas.openxmlformats.org/officeDocument/2006/relationships/slide" Target="slides/slide3.xml"/>
<Relationship Id="rId14" Type="http://schemas.openxmlformats.org/officeDocument/2006/relationships/slide" Target="slides/slide4.xml"/>
<Relationship Id="rId15" Type="http://schemas.openxmlformats.org/officeDocument/2006/relationships/slide" Target="slides/slide5.xml"/>
<Relationship Id="rId16" Type="http://schemas.openxmlformats.org/officeDocument/2006/relationships/slide" Target="slides/slide6.xml"/>
<Relationship Id="rId17" Type="http://schemas.openxmlformats.org/officeDocument/2006/relationships/slide" Target="slides/slide7.xml"/>
<Relationship Id="rId18" Type="http://schemas.openxmlformats.org/officeDocument/2006/relationships/slide" Target="slides/slide8.xml"/>
<Relationship Id="rId19" Type="http://schemas.openxmlformats.org/officeDocument/2006/relationships/slide" Target="slides/slide9.xml"/>
<Relationship Id="rId20" Type="http://schemas.openxmlformats.org/officeDocument/2006/relationships/slide" Target="slides/slide10.xml"/>
<Relationship Id="rId21" Type="http://schemas.openxmlformats.org/officeDocument/2006/relationships/slide" Target="slides/slide11.xml"/>
<Relationship Id="rId22" Type="http://schemas.openxmlformats.org/officeDocument/2006/relationships/slide" Target="slides/slide12.xml"/>
<Relationship Id="rId23" Type="http://schemas.openxmlformats.org/officeDocument/2006/relationships/slide" Target="slides/slide13.xml"/>
<Relationship Id="rId24" Type="http://schemas.openxmlformats.org/officeDocument/2006/relationships/slide" Target="slides/slide14.xml"/>
<Relationship Id="rId25" Type="http://schemas.openxmlformats.org/officeDocument/2006/relationships/slide" Target="slides/slide15.xml"/>
<Relationship Id="rId26" Type="http://schemas.openxmlformats.org/officeDocument/2006/relationships/slide" Target="slides/slide16.xml"/>
<Relationship Id="rId27" Type="http://schemas.openxmlformats.org/officeDocument/2006/relationships/slide" Target="slides/slide17.xml"/>
<Relationship Id="rId28" Type="http://schemas.openxmlformats.org/officeDocument/2006/relationships/slide" Target="slides/slide18.xml"/>
<Relationship Id="rId29" Type="http://schemas.openxmlformats.org/officeDocument/2006/relationships/slide" Target="slides/slide19.xml"/>
<Relationship Id="rId30" Type="http://schemas.openxmlformats.org/officeDocument/2006/relationships/slide" Target="slides/slide20.xml"/>
<Relationship Id="rId31" Type="http://schemas.openxmlformats.org/officeDocument/2006/relationships/slide" Target="slides/slide21.xml"/>
<Relationship Id="rId32" Type="http://schemas.openxmlformats.org/officeDocument/2006/relationships/slide" Target="slides/slide22.xml"/>
<Relationship Id="rId33" Type="http://schemas.openxmlformats.org/officeDocument/2006/relationships/slide" Target="slides/slide23.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and Content">
    <p:spTree>
      <p:nvGrpSpPr>
        <p:cNvPr id="1" name=""/>
        <p:cNvGrpSpPr/>
        <p:nvPr/>
      </p:nvGrpSpPr>
      <p:grpSpPr/>
    </p:spTree>
  </p:cSld>
</p:sldLayout>
</file>

<file path=ppt/slideMasters/_rels/slideMaster1.xml.rels><?xml version="1.0"?><Relationships xmlns="http://schemas.openxmlformats.org/package/2006/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sldMaster>
</file>

<file path=ppt/slides/_rels/slide1.xml.rels><?xml version="1.0"?><Relationships xmlns="http://schemas.openxmlformats.org/package/2006/relationships">
<Relationship Id="rId1" Type="http://schemas.openxmlformats.org/officeDocument/2006/relationships/slideLayout" Target="../slideLayouts/slideLayout1.xml"/>
</Relationships>
</file>

<file path=ppt/slides/_rels/slide2.xml.rels><?xml version="1.0"?><Relationships xmlns="http://schemas.openxmlformats.org/package/2006/relationships">
<Relationship Id="rId1" Type="http://schemas.openxmlformats.org/officeDocument/2006/relationships/slideLayout" Target="../slideLayouts/slideLayout1.xml"/>
</Relationships>
</file>

<file path=ppt/slides/_rels/slide3.xml.rels><?xml version="1.0"?><Relationships xmlns="http://schemas.openxmlformats.org/package/2006/relationships">
<Relationship Id="rId1" Type="http://schemas.openxmlformats.org/officeDocument/2006/relationships/slideLayout" Target="../slideLayouts/slideLayout1.xml"/>
</Relationships>
</file>

<file path=ppt/slides/_rels/slide4.xml.rels><?xml version="1.0"?><Relationships xmlns="http://schemas.openxmlformats.org/package/2006/relationships">
<Relationship Id="rId1" Type="http://schemas.openxmlformats.org/officeDocument/2006/relationships/slideLayout" Target="../slideLayouts/slideLayout1.xml"/>
</Relationships>
</file>

<file path=ppt/slides/_rels/slide5.xml.rels><?xml version="1.0"?><Relationships xmlns="http://schemas.openxmlformats.org/package/2006/relationships">
<Relationship Id="rId1" Type="http://schemas.openxmlformats.org/officeDocument/2006/relationships/slideLayout" Target="../slideLayouts/slideLayout1.xml"/>
</Relationships>
</file>

<file path=ppt/slides/_rels/slide6.xml.rels><?xml version="1.0"?><Relationships xmlns="http://schemas.openxmlformats.org/package/2006/relationships">
<Relationship Id="rId1" Type="http://schemas.openxmlformats.org/officeDocument/2006/relationships/slideLayout" Target="../slideLayouts/slideLayout1.xml"/>
</Relationships>
</file>

<file path=ppt/slides/_rels/slide7.xml.rels><?xml version="1.0"?><Relationships xmlns="http://schemas.openxmlformats.org/package/2006/relationships">
<Relationship Id="rId1" Type="http://schemas.openxmlformats.org/officeDocument/2006/relationships/slideLayout" Target="../slideLayouts/slideLayout1.xml"/>
</Relationships>
</file>

<file path=ppt/slides/_rels/slide8.xml.rels><?xml version="1.0"?><Relationships xmlns="http://schemas.openxmlformats.org/package/2006/relationships">
<Relationship Id="rId1" Type="http://schemas.openxmlformats.org/officeDocument/2006/relationships/slideLayout" Target="../slideLayouts/slideLayout1.xml"/>
</Relationships>
</file>

<file path=ppt/slides/_rels/slide9.xml.rels><?xml version="1.0"?><Relationships xmlns="http://schemas.openxmlformats.org/package/2006/relationships">
<Relationship Id="rId1" Type="http://schemas.openxmlformats.org/officeDocument/2006/relationships/slideLayout" Target="../slideLayouts/slideLayout1.xml"/>
</Relationships>
</file>

<file path=ppt/slides/_rels/slide10.xml.rels><?xml version="1.0"?><Relationships xmlns="http://schemas.openxmlformats.org/package/2006/relationships">
<Relationship Id="rId1" Type="http://schemas.openxmlformats.org/officeDocument/2006/relationships/slideLayout" Target="../slideLayouts/slideLayout1.xml"/>
</Relationships>
</file>

<file path=ppt/slides/_rels/slide11.xml.rels><?xml version="1.0"?><Relationships xmlns="http://schemas.openxmlformats.org/package/2006/relationships">
<Relationship Id="rId1" Type="http://schemas.openxmlformats.org/officeDocument/2006/relationships/slideLayout" Target="../slideLayouts/slideLayout1.xml"/>
</Relationships>
</file>

<file path=ppt/slides/_rels/slide12.xml.rels><?xml version="1.0"?><Relationships xmlns="http://schemas.openxmlformats.org/package/2006/relationships">
<Relationship Id="rId1" Type="http://schemas.openxmlformats.org/officeDocument/2006/relationships/slideLayout" Target="../slideLayouts/slideLayout1.xml"/>
</Relationships>
</file>

<file path=ppt/slides/_rels/slide13.xml.rels><?xml version="1.0"?><Relationships xmlns="http://schemas.openxmlformats.org/package/2006/relationships">
<Relationship Id="rId1" Type="http://schemas.openxmlformats.org/officeDocument/2006/relationships/slideLayout" Target="../slideLayouts/slideLayout1.xml"/>
</Relationships>
</file>

<file path=ppt/slides/_rels/slide14.xml.rels><?xml version="1.0"?><Relationships xmlns="http://schemas.openxmlformats.org/package/2006/relationships">
<Relationship Id="rId1" Type="http://schemas.openxmlformats.org/officeDocument/2006/relationships/slideLayout" Target="../slideLayouts/slideLayout1.xml"/>
</Relationships>
</file>

<file path=ppt/slides/_rels/slide15.xml.rels><?xml version="1.0"?><Relationships xmlns="http://schemas.openxmlformats.org/package/2006/relationships">
<Relationship Id="rId1" Type="http://schemas.openxmlformats.org/officeDocument/2006/relationships/slideLayout" Target="../slideLayouts/slideLayout1.xml"/>
</Relationships>
</file>

<file path=ppt/slides/_rels/slide16.xml.rels><?xml version="1.0"?><Relationships xmlns="http://schemas.openxmlformats.org/package/2006/relationships">
<Relationship Id="rId1" Type="http://schemas.openxmlformats.org/officeDocument/2006/relationships/slideLayout" Target="../slideLayouts/slideLayout1.xml"/>
</Relationships>
</file>

<file path=ppt/slides/_rels/slide17.xml.rels><?xml version="1.0"?><Relationships xmlns="http://schemas.openxmlformats.org/package/2006/relationships">
<Relationship Id="rId1" Type="http://schemas.openxmlformats.org/officeDocument/2006/relationships/slideLayout" Target="../slideLayouts/slideLayout1.xml"/>
</Relationships>
</file>

<file path=ppt/slides/_rels/slide18.xml.rels><?xml version="1.0"?><Relationships xmlns="http://schemas.openxmlformats.org/package/2006/relationships">
<Relationship Id="rId1" Type="http://schemas.openxmlformats.org/officeDocument/2006/relationships/slideLayout" Target="../slideLayouts/slideLayout1.xml"/>
</Relationships>
</file>

<file path=ppt/slides/_rels/slide19.xml.rels><?xml version="1.0"?><Relationships xmlns="http://schemas.openxmlformats.org/package/2006/relationships">
<Relationship Id="rId1" Type="http://schemas.openxmlformats.org/officeDocument/2006/relationships/slideLayout" Target="../slideLayouts/slideLayout1.xml"/>
</Relationships>
</file>

<file path=ppt/slides/_rels/slide20.xml.rels><?xml version="1.0"?><Relationships xmlns="http://schemas.openxmlformats.org/package/2006/relationships">
<Relationship Id="rId1" Type="http://schemas.openxmlformats.org/officeDocument/2006/relationships/slideLayout" Target="../slideLayouts/slideLayout1.xml"/>
</Relationships>
</file>

<file path=ppt/slides/_rels/slide21.xml.rels><?xml version="1.0"?><Relationships xmlns="http://schemas.openxmlformats.org/package/2006/relationships">
<Relationship Id="rId1" Type="http://schemas.openxmlformats.org/officeDocument/2006/relationships/slideLayout" Target="../slideLayouts/slideLayout1.xml"/>
</Relationships>
</file>

<file path=ppt/slides/_rels/slide22.xml.rels><?xml version="1.0"?><Relationships xmlns="http://schemas.openxmlformats.org/package/2006/relationships">
<Relationship Id="rId1" Type="http://schemas.openxmlformats.org/officeDocument/2006/relationships/slideLayout" Target="../slideLayouts/slideLayout1.xml"/>
</Relationships>
</file>

<file path=ppt/slides/_rels/slide23.xml.rels><?xml version="1.0"?><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Module 3: Software Setup &amp; PLC Connectivity</a:t>
            </a:r>
          </a:p>
        </p:txBody>
      </p:sp>
      <p:sp>
        <p:nvSpPr>
          <p:cNvPr id="3" name="Content"/>
          <p:cNvSpPr>
            <a:spLocks noGrp="1"/>
          </p:cNvSpPr>
          <p:nvPr>
            <p:ph idx="1" type="body"/>
          </p:nvPr>
        </p:nvSpPr>
        <p:spPr/>
        <p:txBody>
          <a:bodyPr/>
          <a:lstStyle/>
          <a:p>
            <a:r>
              <a:rPr sz="1400"/>
              <a:t>PLC Tabletop Training Program · Hands-on Lab · 3.5 h</a:t>
            </a:r>
          </a:p>
          <a:p>
            <a:r>
              <a:rPr sz="1400"/>
              <a:t>v1.0 (April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Learning objectives</a:t>
            </a:r>
          </a:p>
        </p:txBody>
      </p:sp>
      <p:sp>
        <p:nvSpPr>
          <p:cNvPr id="3" name="Content"/>
          <p:cNvSpPr>
            <a:spLocks noGrp="1"/>
          </p:cNvSpPr>
          <p:nvPr>
            <p:ph idx="1" type="body"/>
          </p:nvPr>
        </p:nvSpPr>
        <p:spPr/>
        <p:txBody>
          <a:bodyPr/>
          <a:lstStyle/>
          <a:p>
            <a:r>
              <a:rPr sz="1400"/>
              <a:t>Configure a laptop IP address to communicate with a PLC on a given subnet</a:t>
            </a:r>
          </a:p>
          <a:p>
            <a:r>
              <a:rPr sz="1400"/>
              <a:t>Connect to an Omron NX1P2 using Sysmac Studio</a:t>
            </a:r>
          </a:p>
          <a:p>
            <a:r>
              <a:rPr sz="1400"/>
              <a:t>Connect to an Allen Bradley controller using Studio 5000</a:t>
            </a:r>
          </a:p>
          <a:p>
            <a:r>
              <a:rPr sz="1400"/>
              <a:t>Connect to a Productivity PLC using Productivity Suite</a:t>
            </a:r>
          </a:p>
          <a:p>
            <a:r>
              <a:rPr sz="1400"/>
              <a:t>Perform program upload (backup) and understand download procedures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Overview</a:t>
            </a:r>
          </a:p>
        </p:txBody>
      </p:sp>
      <p:sp>
        <p:nvSpPr>
          <p:cNvPr id="3" name="Content"/>
          <p:cNvSpPr>
            <a:spLocks noGrp="1"/>
          </p:cNvSpPr>
          <p:nvPr>
            <p:ph idx="1" type="body"/>
          </p:nvPr>
        </p:nvSpPr>
        <p:spPr/>
        <p:txBody>
          <a:bodyPr/>
          <a:lstStyle/>
          <a:p>
            <a:r>
              <a:rPr sz="1400"/>
              <a:t>Installing PLC software, configuring IP addresses, and connecting to all three PLC platforms. Includes program backup/restore procedures.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Lesson: IP Address Configuration</a:t>
            </a:r>
          </a:p>
        </p:txBody>
      </p:sp>
      <p:sp>
        <p:nvSpPr>
          <p:cNvPr id="3" name="Content"/>
          <p:cNvSpPr>
            <a:spLocks noGrp="1"/>
          </p:cNvSpPr>
          <p:nvPr>
            <p:ph idx="1" type="body"/>
          </p:nvPr>
        </p:nvSpPr>
        <p:spPr/>
        <p:txBody>
          <a:bodyPr/>
          <a:lstStyle/>
          <a:p>
            <a:r>
              <a:rPr sz="1400"/>
              <a:t>Setting your laptop IP to communicate with PLCs on any subnet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IP Address Configuration (content)</a:t>
            </a:r>
          </a:p>
        </p:txBody>
      </p:sp>
      <p:sp>
        <p:nvSpPr>
          <p:cNvPr id="3" name="Content"/>
          <p:cNvSpPr>
            <a:spLocks noGrp="1"/>
          </p:cNvSpPr>
          <p:nvPr>
            <p:ph idx="1" type="body"/>
          </p:nvPr>
        </p:nvSpPr>
        <p:spPr/>
        <p:txBody>
          <a:bodyPr/>
          <a:lstStyle/>
          <a:p>
            <a:r>
              <a:rPr sz="1400"/>
              <a:t>Every PLC connection starts with IP address configuration. Your laptop must be on the same subnet as the PLC to communicate.</a:t>
            </a:r>
          </a:p>
          <a:p>
            <a:r>
              <a:rPr sz="1400"/>
              <a:t>→ Step-by-Step: Setting Your IP Address</a:t>
            </a:r>
          </a:p>
          <a:p>
            <a:r>
              <a:rPr sz="1400"/>
              <a:t>• Open the Windows search bar and type Network Connections</a:t>
            </a:r>
          </a:p>
          <a:p>
            <a:r>
              <a:rPr sz="1400"/>
              <a:t>• Double-click the Ethernet adapter showing "Unidentified Network" (this is the one connected to the PLC)</a:t>
            </a:r>
          </a:p>
          <a:p>
            <a:r>
              <a:rPr sz="1400"/>
              <a:t>• Click Properties, enter your username and password if prompted</a:t>
            </a:r>
          </a:p>
          <a:p>
            <a:r>
              <a:rPr sz="1400"/>
              <a:t>• Scroll to Internet Protocol Version 4 (TCP/IPv4) and double-click</a:t>
            </a:r>
          </a:p>
          <a:p>
            <a:r>
              <a:rPr sz="1400"/>
              <a:t>• Select Use the following IP address</a:t>
            </a:r>
          </a:p>
          <a:p>
            <a:r>
              <a:rPr sz="1400"/>
              <a:t>• Set the first three octets to match the PLC's IP. Set the last octet to a unique number (not the PLC's address). Example: PLC is 192.168.1.100 → set laptop to 192.168.1.50</a:t>
            </a:r>
          </a:p>
          <a:p>
            <a:r>
              <a:rPr sz="1400"/>
              <a:t>• Set Subnet mask to 255.255.255.0</a:t>
            </a:r>
          </a:p>
          <a:p>
            <a:r>
              <a:rPr sz="1400"/>
              <a:t>• Click OK and close all dialogs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IP Address Configuration (content)</a:t>
            </a:r>
          </a:p>
        </p:txBody>
      </p:sp>
      <p:sp>
        <p:nvSpPr>
          <p:cNvPr id="3" name="Content"/>
          <p:cNvSpPr>
            <a:spLocks noGrp="1"/>
          </p:cNvSpPr>
          <p:nvPr>
            <p:ph idx="1" type="body"/>
          </p:nvPr>
        </p:nvSpPr>
        <p:spPr/>
        <p:txBody>
          <a:bodyPr/>
          <a:lstStyle/>
          <a:p>
            <a:r>
              <a:rPr sz="1400"/>
              <a:t>[INFO] Subnet Explained Simply: With a subnet mask of 255.255.255.0, the first three number groups must match between your laptop and the PLC. Only the last number must be different. If the PLC is 192.168.5.20, your laptop could be 192.168.5.50 — but NOT 192.168.1.50 (different third octet).</a:t>
            </a:r>
          </a:p>
          <a:p>
            <a:r>
              <a:rPr sz="1400"/>
              <a:t>→ Verify Connectivity with Ping</a:t>
            </a:r>
          </a:p>
          <a:p>
            <a:r>
              <a:rPr sz="1400"/>
              <a:t>Open Command Prompt and type: ping 192.168.1.100 (replace with the PLC's actual IP). You should see replies. If you see "Request timed out" or "Destination host unreachable," check your IP settings, cable, and link lights.</a:t>
            </a:r>
          </a:p>
          <a:p>
            <a:r>
              <a:rPr sz="1400"/>
              <a:t>[TIP] IT Access Requirement: Changing your IP address requires permission. Reference SR-128857 in self-service. One approval covers all three PLC platforms.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Lesson: Connecting to Omron (Sysmac Studio)</a:t>
            </a:r>
          </a:p>
        </p:txBody>
      </p:sp>
      <p:sp>
        <p:nvSpPr>
          <p:cNvPr id="3" name="Content"/>
          <p:cNvSpPr>
            <a:spLocks noGrp="1"/>
          </p:cNvSpPr>
          <p:nvPr>
            <p:ph idx="1" type="body"/>
          </p:nvPr>
        </p:nvSpPr>
        <p:spPr/>
        <p:txBody>
          <a:bodyPr/>
          <a:lstStyle/>
          <a:p>
            <a:r>
              <a:rPr sz="1400"/>
              <a:t>Direct Ethernet and remote connection procedures for Omron NX1P2</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Connecting to Omron (Sysmac Studio) (content)</a:t>
            </a:r>
          </a:p>
        </p:txBody>
      </p:sp>
      <p:sp>
        <p:nvSpPr>
          <p:cNvPr id="3" name="Content"/>
          <p:cNvSpPr>
            <a:spLocks noGrp="1"/>
          </p:cNvSpPr>
          <p:nvPr>
            <p:ph idx="1" type="body"/>
          </p:nvPr>
        </p:nvSpPr>
        <p:spPr/>
        <p:txBody>
          <a:bodyPr/>
          <a:lstStyle/>
          <a:p>
            <a:r>
              <a:rPr sz="1400"/>
              <a:t>Sysmac Studio is Omron's integrated development environment for the NX/NJ series controllers. Request it via self-service using references SR-124812 and SR-117625.</a:t>
            </a:r>
          </a:p>
          <a:p>
            <a:r>
              <a:rPr sz="1400"/>
              <a:t>→ Direct Ethernet Connection</a:t>
            </a:r>
          </a:p>
          <a:p>
            <a:r>
              <a:rPr sz="1400"/>
              <a:t>• Plug the Ethernet cable from your laptop directly into the PLC's Ethernet port</a:t>
            </a:r>
          </a:p>
          <a:p>
            <a:r>
              <a:rPr sz="1400"/>
              <a:t>• Open Sysmac Studio and open or create a project</a:t>
            </a:r>
          </a:p>
          <a:p>
            <a:r>
              <a:rPr sz="1400"/>
              <a:t>• Select Direct Connection via Ethernet in the connection dialog</a:t>
            </a:r>
          </a:p>
          <a:p>
            <a:r>
              <a:rPr sz="1400"/>
              <a:t>• Click Connect — the software will scan for controllers on the subnet</a:t>
            </a:r>
          </a:p>
          <a:p>
            <a:r>
              <a:rPr sz="1400"/>
              <a:t>• If prompted, select the correct controller from the discovered list</a:t>
            </a:r>
          </a:p>
          <a:p>
            <a:r>
              <a:rPr sz="1400"/>
              <a:t>→ Remote Connection</a:t>
            </a:r>
          </a:p>
          <a:p>
            <a:r>
              <a:rPr sz="1400"/>
              <a:t>• Select Remote Connection via Ethernet</a:t>
            </a:r>
          </a:p>
          <a:p>
            <a:r>
              <a:rPr sz="1400"/>
              <a:t>• Enter the PLC's IP address in the connection settings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Connecting to Omron (Sysmac Studio) (content)</a:t>
            </a:r>
          </a:p>
        </p:txBody>
      </p:sp>
      <p:sp>
        <p:nvSpPr>
          <p:cNvPr id="3" name="Content"/>
          <p:cNvSpPr>
            <a:spLocks noGrp="1"/>
          </p:cNvSpPr>
          <p:nvPr>
            <p:ph idx="1" type="body"/>
          </p:nvPr>
        </p:nvSpPr>
        <p:spPr/>
        <p:txBody>
          <a:bodyPr/>
          <a:lstStyle/>
          <a:p>
            <a:r>
              <a:rPr sz="1400"/>
              <a:t>• Ensure your laptop's IP address has the same first three octets</a:t>
            </a:r>
          </a:p>
          <a:p>
            <a:r>
              <a:rPr sz="1400"/>
              <a:t>• Click Connect</a:t>
            </a:r>
          </a:p>
          <a:p>
            <a:r>
              <a:rPr sz="1400"/>
              <a:t>If Ethernet fails, try Direct Connection via USB as a backup — connect a USB cable from your laptop to the PLC's USB port.</a:t>
            </a:r>
          </a:p>
          <a:p>
            <a:r>
              <a:rPr sz="1400"/>
              <a:t>→ Verifying Online Status</a:t>
            </a:r>
          </a:p>
          <a:p>
            <a:r>
              <a:rPr sz="1400"/>
              <a:t>When connected, the Sysmac Studio toolbar shows a green 'Online' indicator. The project tree updates to show the live controller status. Verify the RUN LED on the physical PLC matches what software reports.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Lesson: Connecting to Allen Bradley (Studio 5000)</a:t>
            </a:r>
          </a:p>
        </p:txBody>
      </p:sp>
      <p:sp>
        <p:nvSpPr>
          <p:cNvPr id="3" name="Content"/>
          <p:cNvSpPr>
            <a:spLocks noGrp="1"/>
          </p:cNvSpPr>
          <p:nvPr>
            <p:ph idx="1" type="body"/>
          </p:nvPr>
        </p:nvSpPr>
        <p:spPr/>
        <p:txBody>
          <a:bodyPr/>
          <a:lstStyle/>
          <a:p>
            <a:r>
              <a:rPr sz="1400"/>
              <a:t>Who Active, going online, and navigating Studio 5000</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Connecting to Allen Bradley (Studio 5000) (content)</a:t>
            </a:r>
          </a:p>
        </p:txBody>
      </p:sp>
      <p:sp>
        <p:nvSpPr>
          <p:cNvPr id="3" name="Content"/>
          <p:cNvSpPr>
            <a:spLocks noGrp="1"/>
          </p:cNvSpPr>
          <p:nvPr>
            <p:ph idx="1" type="body"/>
          </p:nvPr>
        </p:nvSpPr>
        <p:spPr/>
        <p:txBody>
          <a:bodyPr/>
          <a:lstStyle/>
          <a:p>
            <a:r>
              <a:rPr sz="1400"/>
              <a:t>Studio 5000 Logix Designer is the programming environment for Allen Bradley CompactLogix and ControlLogix controllers. Request via self-service (reference SR-124812). IT installs via BeyondTrust.</a:t>
            </a:r>
          </a:p>
          <a:p>
            <a:r>
              <a:rPr sz="1400"/>
              <a:t>→ Connection Steps</a:t>
            </a:r>
          </a:p>
          <a:p>
            <a:r>
              <a:rPr sz="1400"/>
              <a:t>• Set your IP address to the same subnet as the controller (e.g., PLC is 192.168.1.100, set laptop to 192.168.1.50)</a:t>
            </a:r>
          </a:p>
          <a:p>
            <a:r>
              <a:rPr sz="1400"/>
              <a:t>• Open Studio 5000 and open the project file (.ACD)</a:t>
            </a:r>
          </a:p>
          <a:p>
            <a:r>
              <a:rPr sz="1400"/>
              <a:t>• Go to Communications &gt; Who Active (or press Ctrl+W in RSLinx)</a:t>
            </a:r>
          </a:p>
          <a:p>
            <a:r>
              <a:rPr sz="1400"/>
              <a:t>• Expand the Ethernet driver to browse the network — the controller should appear</a:t>
            </a:r>
          </a:p>
          <a:p>
            <a:r>
              <a:rPr sz="1400"/>
              <a:t>• Right-click the controller and select Go Online</a:t>
            </a:r>
          </a:p>
          <a:p>
            <a:r>
              <a:rPr sz="1400"/>
              <a:t>• The software will compare the offline project to the online program — review any differences</a:t>
            </a:r>
          </a:p>
          <a:p>
            <a:r>
              <a:rPr sz="1400"/>
              <a:t>[WARNING] Online vs. Offline Mismatch: If the offline project doesn't match what's in the controller, Studio 5000 will warn you. Always upload from the controller first to get the current program before making changes.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Lesson: Connecting to AutomationDirect (Productivity Suite)</a:t>
            </a:r>
          </a:p>
        </p:txBody>
      </p:sp>
      <p:sp>
        <p:nvSpPr>
          <p:cNvPr id="3" name="Content"/>
          <p:cNvSpPr>
            <a:spLocks noGrp="1"/>
          </p:cNvSpPr>
          <p:nvPr>
            <p:ph idx="1" type="body"/>
          </p:nvPr>
        </p:nvSpPr>
        <p:spPr/>
        <p:txBody>
          <a:bodyPr/>
          <a:lstStyle/>
          <a:p>
            <a:r>
              <a:rPr sz="1400"/>
              <a:t>Ethernet connection and program access for Productivity PLCs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Connecting to AutomationDirect (Productivity Suite) (content)</a:t>
            </a:r>
          </a:p>
        </p:txBody>
      </p:sp>
      <p:sp>
        <p:nvSpPr>
          <p:cNvPr id="3" name="Content"/>
          <p:cNvSpPr>
            <a:spLocks noGrp="1"/>
          </p:cNvSpPr>
          <p:nvPr>
            <p:ph idx="1" type="body"/>
          </p:nvPr>
        </p:nvSpPr>
        <p:spPr/>
        <p:txBody>
          <a:bodyPr/>
          <a:lstStyle/>
          <a:p>
            <a:r>
              <a:rPr sz="1400"/>
              <a:t>Productivity Suite is free to download from AutomationDirect.com. Confirm the version matches the PLC firmware (P1000, P2000, or P3000 series).</a:t>
            </a:r>
          </a:p>
          <a:p>
            <a:r>
              <a:rPr sz="1400"/>
              <a:t>→ Connection Steps</a:t>
            </a:r>
          </a:p>
          <a:p>
            <a:r>
              <a:rPr sz="1400"/>
              <a:t>• Connect an Ethernet cable from your laptop to the PLC's Ethernet port (or a switch on the same network)</a:t>
            </a:r>
          </a:p>
          <a:p>
            <a:r>
              <a:rPr sz="1400"/>
              <a:t>• Set your IP to the same subnet as the PLC</a:t>
            </a:r>
          </a:p>
          <a:p>
            <a:r>
              <a:rPr sz="1400"/>
              <a:t>• Open Productivity Suite and select Connect from the toolbar</a:t>
            </a:r>
          </a:p>
          <a:p>
            <a:r>
              <a:rPr sz="1400"/>
              <a:t>• Enter the PLC's IP address when prompted</a:t>
            </a:r>
          </a:p>
          <a:p>
            <a:r>
              <a:rPr sz="1400"/>
              <a:t>• The software connects and shows the live program status</a:t>
            </a:r>
          </a:p>
          <a:p>
            <a:r>
              <a:rPr sz="1400"/>
              <a:t>→ Viewing Live Data</a:t>
            </a:r>
          </a:p>
          <a:p>
            <a:r>
              <a:rPr sz="1400"/>
              <a:t>Once online, go to View &gt; Data View to see a live table of all tag values — I/O points, memory bits, timers, and counters. Filter by name to find specific tags.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Lesson: Program Backup &amp; Restore</a:t>
            </a:r>
          </a:p>
        </p:txBody>
      </p:sp>
      <p:sp>
        <p:nvSpPr>
          <p:cNvPr id="3" name="Content"/>
          <p:cNvSpPr>
            <a:spLocks noGrp="1"/>
          </p:cNvSpPr>
          <p:nvPr>
            <p:ph idx="1" type="body"/>
          </p:nvPr>
        </p:nvSpPr>
        <p:spPr/>
        <p:txBody>
          <a:bodyPr/>
          <a:lstStyle/>
          <a:p>
            <a:r>
              <a:rPr sz="1400"/>
              <a:t>How to upload (backup) and download programs — the most important habit you'll build</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Program Backup &amp; Restore (content)</a:t>
            </a:r>
          </a:p>
        </p:txBody>
      </p:sp>
      <p:sp>
        <p:nvSpPr>
          <p:cNvPr id="3" name="Content"/>
          <p:cNvSpPr>
            <a:spLocks noGrp="1"/>
          </p:cNvSpPr>
          <p:nvPr>
            <p:ph idx="1" type="body"/>
          </p:nvPr>
        </p:nvSpPr>
        <p:spPr/>
        <p:txBody>
          <a:bodyPr/>
          <a:lstStyle/>
          <a:p>
            <a:r>
              <a:rPr sz="1400"/>
              <a:t>[DANGER] The #1 Rule: ALWAYS upload (backup) the current program from the PLC to your laptop BEFORE making any changes. This is non-negotiable on production machines.</a:t>
            </a:r>
          </a:p>
          <a:p>
            <a:r>
              <a:rPr sz="1400"/>
              <a:t>→ Uploading (Backup) a Program</a:t>
            </a:r>
          </a:p>
          <a:p>
            <a:r>
              <a:rPr sz="1400"/>
              <a:t>Uploading reads the current program from the PLC to your laptop. Do this every time before you modify anything.</a:t>
            </a:r>
          </a:p>
          <a:p>
            <a:r>
              <a:rPr sz="1400"/>
              <a:t>Table: Platform | Steps</a:t>
            </a:r>
          </a:p>
          <a:p>
            <a:r>
              <a:rPr sz="1400"/>
              <a:t>  • Omron Sysmac Studio | Go online → Transfer &gt; Upload from Controller → Save project with descriptive name</a:t>
            </a:r>
          </a:p>
          <a:p>
            <a:r>
              <a:rPr sz="1400"/>
              <a:t>  • AB Studio 5000 | Go online → Upload → Save .ACD file with date and machine name</a:t>
            </a:r>
          </a:p>
          <a:p>
            <a:r>
              <a:rPr sz="1400"/>
              <a:t>  • Productivity Suite | Connect → File &gt; Read Project from PLC → Save with descriptive name</a:t>
            </a:r>
          </a:p>
          <a:p>
            <a:r>
              <a:rPr sz="1400"/>
              <a:t>→ File Naming Convention</a:t>
            </a:r>
          </a:p>
          <a:p>
            <a:r>
              <a:rPr sz="1400"/>
              <a:t>Use a consistent naming format: [MachineName]_[PLCType]_[Date]_[Reason].ext</a:t>
            </a:r>
          </a:p>
          <a:p>
            <a:r>
              <a:rPr sz="1400"/>
              <a:t>Example: CobotReamer_NX1P2_20260407_PreMaintenance.smc2</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Program Backup &amp; Restore (content)</a:t>
            </a:r>
          </a:p>
        </p:txBody>
      </p:sp>
      <p:sp>
        <p:nvSpPr>
          <p:cNvPr id="3" name="Content"/>
          <p:cNvSpPr>
            <a:spLocks noGrp="1"/>
          </p:cNvSpPr>
          <p:nvPr>
            <p:ph idx="1" type="body"/>
          </p:nvPr>
        </p:nvSpPr>
        <p:spPr/>
        <p:txBody>
          <a:bodyPr/>
          <a:lstStyle/>
          <a:p>
            <a:r>
              <a:rPr sz="1400"/>
              <a:t>→ Downloading (Restore) a Program</a:t>
            </a:r>
          </a:p>
          <a:p>
            <a:r>
              <a:rPr sz="1400"/>
              <a:t>Downloading writes a program from your laptop to the PLC. This replaces the running program and is only done for intentional changes or restoration after a failure.</a:t>
            </a:r>
          </a:p>
          <a:p>
            <a:r>
              <a:rPr sz="1400"/>
              <a:t>[WARNING] Production Impact: Downloading to a production PLC will interrupt the running program. Coordinate with production before any download. On the training bench, downloads are safe to practice.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Lab: Physical Connection Walkthrough</a:t>
            </a:r>
          </a:p>
        </p:txBody>
      </p:sp>
      <p:sp>
        <p:nvSpPr>
          <p:cNvPr id="3" name="Content"/>
          <p:cNvSpPr>
            <a:spLocks noGrp="1"/>
          </p:cNvSpPr>
          <p:nvPr>
            <p:ph idx="1" type="body"/>
          </p:nvPr>
        </p:nvSpPr>
        <p:spPr/>
        <p:txBody>
          <a:bodyPr/>
          <a:lstStyle/>
          <a:p>
            <a:r>
              <a:rPr sz="1400"/>
              <a:t>After: IP Address Configuration</a:t>
            </a:r>
          </a:p>
          <a:p>
            <a:r>
              <a:rPr sz="1400"/>
              <a:t>Duration: 10 min</a:t>
            </a:r>
          </a:p>
          <a:p>
            <a:r>
              <a:rPr sz="1400"/>
              <a:t>Physically connect an Ethernet cable from laptop to the Omron NX1P2. Show link lights on both ends. Open Command Prompt, ping the PLC — show success. Change one octet to demonstrate a failed ping.</a:t>
            </a:r>
          </a:p>
          <a:p>
            <a:r>
              <a:rPr sz="1400"/>
              <a:t>Students take turns plugging in the cable, verifying link lights, and running a ping test. Each experiences at least one failed and one successful ping.</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Lab: Live Online — All Three Platforms</a:t>
            </a:r>
          </a:p>
        </p:txBody>
      </p:sp>
      <p:sp>
        <p:nvSpPr>
          <p:cNvPr id="3" name="Content"/>
          <p:cNvSpPr>
            <a:spLocks noGrp="1"/>
          </p:cNvSpPr>
          <p:nvPr>
            <p:ph idx="1" type="body"/>
          </p:nvPr>
        </p:nvSpPr>
        <p:spPr/>
        <p:txBody>
          <a:bodyPr/>
          <a:lstStyle/>
          <a:p>
            <a:r>
              <a:rPr sz="1400"/>
              <a:t>After: Connecting to AutomationDirect (Productivity Suite)</a:t>
            </a:r>
          </a:p>
          <a:p>
            <a:r>
              <a:rPr sz="1400"/>
              <a:t>Duration: 15 min</a:t>
            </a:r>
          </a:p>
          <a:p>
            <a:r>
              <a:rPr sz="1400"/>
              <a:t>With the laptop connected, go online with each platform in sequence: Sysmac Studio → NX1P2, Studio 5000 → CompactLogix, Productivity Suite → P2000. Show the online indicator and matching RUN LED.</a:t>
            </a:r>
          </a:p>
          <a:p>
            <a:r>
              <a:rPr sz="1400"/>
              <a:t>Students note the different workflows for each platform and observe visual confirmation (software indicator + physical LED).</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Lab: Program Upload (Backup)</a:t>
            </a:r>
          </a:p>
        </p:txBody>
      </p:sp>
      <p:sp>
        <p:nvSpPr>
          <p:cNvPr id="3" name="Content"/>
          <p:cNvSpPr>
            <a:spLocks noGrp="1"/>
          </p:cNvSpPr>
          <p:nvPr>
            <p:ph idx="1" type="body"/>
          </p:nvPr>
        </p:nvSpPr>
        <p:spPr/>
        <p:txBody>
          <a:bodyPr/>
          <a:lstStyle/>
          <a:p>
            <a:r>
              <a:rPr sz="1400"/>
              <a:t>After: Program Backup &amp; Restore</a:t>
            </a:r>
          </a:p>
          <a:p>
            <a:r>
              <a:rPr sz="1400"/>
              <a:t>Duration: 10 min</a:t>
            </a:r>
          </a:p>
          <a:p>
            <a:r>
              <a:rPr sz="1400"/>
              <a:t>Perform a full upload from PLC to laptop. Save with a proper filename. Show file location. Emphasize: do this EVERY TIME before changing anything on production equipment.</a:t>
            </a:r>
          </a:p>
          <a:p>
            <a:r>
              <a:rPr sz="1400"/>
              <a:t>Students perform the upload on at least one platform and verify the saved file exists.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Quiz</a:t>
            </a:r>
          </a:p>
        </p:txBody>
      </p:sp>
      <p:sp>
        <p:nvSpPr>
          <p:cNvPr id="3" name="Content"/>
          <p:cNvSpPr>
            <a:spLocks noGrp="1"/>
          </p:cNvSpPr>
          <p:nvPr>
            <p:ph idx="1" type="body"/>
          </p:nvPr>
        </p:nvSpPr>
        <p:spPr/>
        <p:txBody>
          <a:bodyPr/>
          <a:lstStyle/>
          <a:p>
            <a:r>
              <a:rPr sz="1400"/>
              <a:t>A PLC has IP address 192.168.5.20 with subnet mask 255.255.255.0. Which laptop IP would allow communication?</a:t>
            </a:r>
          </a:p>
          <a:p>
            <a:r>
              <a:rPr sz="1400"/>
              <a:t>10.0.0.50 | 192.168.1.50 | 192.168.5.50 | 192.168.5.20</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Quiz</a:t>
            </a:r>
          </a:p>
        </p:txBody>
      </p:sp>
      <p:sp>
        <p:nvSpPr>
          <p:cNvPr id="3" name="Content"/>
          <p:cNvSpPr>
            <a:spLocks noGrp="1"/>
          </p:cNvSpPr>
          <p:nvPr>
            <p:ph idx="1" type="body"/>
          </p:nvPr>
        </p:nvSpPr>
        <p:spPr/>
        <p:txBody>
          <a:bodyPr/>
          <a:lstStyle/>
          <a:p>
            <a:r>
              <a:rPr sz="1400"/>
              <a:t>You try to ping the PLC but get 'Request timed out.' What should you check first?</a:t>
            </a:r>
          </a:p>
          <a:p>
            <a:r>
              <a:rPr sz="1400"/>
              <a:t>Reinstall the PLC software | Reboot the PLC | Verify your IP address, check the cable connection, and confirm link lights are on | Call IT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Quiz</a:t>
            </a:r>
          </a:p>
        </p:txBody>
      </p:sp>
      <p:sp>
        <p:nvSpPr>
          <p:cNvPr id="3" name="Content"/>
          <p:cNvSpPr>
            <a:spLocks noGrp="1"/>
          </p:cNvSpPr>
          <p:nvPr>
            <p:ph idx="1" type="body"/>
          </p:nvPr>
        </p:nvSpPr>
        <p:spPr/>
        <p:txBody>
          <a:bodyPr/>
          <a:lstStyle/>
          <a:p>
            <a:r>
              <a:rPr sz="1400"/>
              <a:t>Before modifying a program on a production PLC, what must you ALWAYS do first?</a:t>
            </a:r>
          </a:p>
          <a:p>
            <a:r>
              <a:rPr sz="1400"/>
              <a:t>Get supervisor approval | Upload (backup) the current program | Switch the PLC to PROGRAM mode | Disconnect the HMI</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a:spLocks noGrp="1"/>
          </p:cNvSpPr>
          <p:nvPr>
            <p:ph type="title"/>
          </p:nvPr>
        </p:nvSpPr>
        <p:spPr/>
        <p:txBody>
          <a:bodyPr/>
          <a:lstStyle/>
          <a:p>
            <a:r>
              <a:rPr sz="2800" b="1"/>
              <a:solidFill>
                <a:srgbClr val="1E3A5F"/>
              </a:solidFill>
              <a:t>Quiz</a:t>
            </a:r>
          </a:p>
        </p:txBody>
      </p:sp>
      <p:sp>
        <p:nvSpPr>
          <p:cNvPr id="3" name="Content"/>
          <p:cNvSpPr>
            <a:spLocks noGrp="1"/>
          </p:cNvSpPr>
          <p:nvPr>
            <p:ph idx="1" type="body"/>
          </p:nvPr>
        </p:nvSpPr>
        <p:spPr/>
        <p:txBody>
          <a:bodyPr/>
          <a:lstStyle/>
          <a:p>
            <a:r>
              <a:rPr sz="1400"/>
              <a:t>What is the keyboard shortcut to browse the network in Studio 5000?</a:t>
            </a:r>
          </a:p>
          <a:p>
            <a:r>
              <a:rPr sz="1400"/>
              <a:t>Ctrl+W (Who Active via RSLinx) | Ctrl+B | F5 | Ctrl+Enter</a:t>
            </a:r>
          </a:p>
        </p:txBody>
      </p:sp>
    </p:spTree>
  </p:cSld>
</p:sld>
</file>