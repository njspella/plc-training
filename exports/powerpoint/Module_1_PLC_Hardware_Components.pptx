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media/image0.png" ContentType="image/png"/>
  <Override PartName="/ppt/media/image1.png" ContentType="image/png"/>
  <Override PartName="/ppt/media/image2.png" ContentType="image/png"/>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0.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1: PLC Hardware &amp; Components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Lecture + Lab · 2.5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Identify every major component inside a PLC control cabinet from physical inspection</a:t>
            </a:r>
          </a:p>
          <a:p>
            <a:pPr lvl="0" algn="l">
              <a:lnSpc>
                <a:spcPct val="112000"/>
              </a:lnSpc>
            </a:pPr>
            <a:r>
              <a:rPr sz="1200" lang="en-US">
                <a:solidFill>
                  <a:srgbClr val="1E293B"/>
                </a:solidFill>
              </a:rPr>
              <a:t xml:space="preserve">Explain the function of the CPU, power supply, Ethernet board, I/O modules, and terminal blocks</a:t>
            </a:r>
          </a:p>
          <a:p>
            <a:pPr lvl="0" algn="l">
              <a:lnSpc>
                <a:spcPct val="112000"/>
              </a:lnSpc>
            </a:pPr>
            <a:r>
              <a:rPr sz="1200" lang="en-US">
                <a:solidFill>
                  <a:srgbClr val="1E293B"/>
                </a:solidFill>
              </a:rPr>
              <a:t xml:space="preserve">Distinguish between digital I/O and analog I/O modules and their applications</a:t>
            </a:r>
          </a:p>
          <a:p>
            <a:pPr lvl="0" algn="l">
              <a:lnSpc>
                <a:spcPct val="112000"/>
              </a:lnSpc>
            </a:pPr>
            <a:r>
              <a:rPr sz="1200" lang="en-US">
                <a:solidFill>
                  <a:srgbClr val="1E293B"/>
                </a:solidFill>
              </a:rPr>
              <a:t xml:space="preserve">Read a basic PLC wiring diagram and match terminal labels to physical wiring</a:t>
            </a:r>
          </a:p>
          <a:p>
            <a:pPr lvl="0" algn="l">
              <a:lnSpc>
                <a:spcPct val="112000"/>
              </a:lnSpc>
            </a:pPr>
            <a:r>
              <a:rPr sz="1200" lang="en-US">
                <a:solidFill>
                  <a:srgbClr val="1E293B"/>
                </a:solidFill>
              </a:rPr>
              <a:t xml:space="preserve">Understand cabinet infrastructure: fuses, DIN rail, grounding, and wire labeling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Comprehensive walkthrough of PLC cabinet components, I/O modules, power distribution, and cabinet infrastructure.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PLC Cabinet 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Major components and their functions inside a PLC control cabinet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PLC Cabinet 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PLC (Programmable Logic Controller) checks signals from sensors or switches (inputs), runs through a set of programmed instructions based on those inputs and logic, and controls motors, lights, valves, or conveyors (the outputs).</a:t>
            </a:r>
          </a:p>
          <a:p>
            <a:pPr lvl="0" algn="l">
              <a:lnSpc>
                <a:spcPct val="112000"/>
              </a:lnSpc>
            </a:pPr>
            <a:r>
              <a:rPr sz="1200" lang="en-US">
                <a:solidFill>
                  <a:srgbClr val="1E293B"/>
                </a:solidFill>
              </a:rPr>
              <a:t xml:space="preserve">The PLC cabinet houses all the core control components. Understanding what's inside — and what each component does — is the foundation of every troubleshooting task.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PLC CPU Controller</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CPU is the brain of the PLC. It executes the ladder logic program in a continuous scan cycle: read all inputs → execute program logic → update all outputs → repeat. The scan time (typically 1–20ms) determines how fast the PLC responds to changes.</a:t>
            </a:r>
          </a:p>
          <a:p>
            <a:pPr lvl="0" algn="l">
              <a:lnSpc>
                <a:spcPct val="112000"/>
              </a:lnSpc>
            </a:pPr>
            <a:r>
              <a:rPr sz="1200" lang="en-US">
                <a:solidFill>
                  <a:srgbClr val="1E293B"/>
                </a:solidFill>
              </a:rPr>
              <a:t xml:space="preserve">RUN LED: Solid green = program is executing normally</a:t>
            </a:r>
          </a:p>
          <a:p>
            <a:pPr lvl="0" algn="l">
              <a:lnSpc>
                <a:spcPct val="112000"/>
              </a:lnSpc>
            </a:pPr>
            <a:r>
              <a:rPr sz="1200" lang="en-US">
                <a:solidFill>
                  <a:srgbClr val="1E293B"/>
                </a:solidFill>
              </a:rPr>
              <a:t xml:space="preserve">ERR LED: Flashing red = minor fault, solid red = major fault (CPU halted)</a:t>
            </a:r>
          </a:p>
          <a:p>
            <a:pPr lvl="0" algn="l">
              <a:lnSpc>
                <a:spcPct val="112000"/>
              </a:lnSpc>
            </a:pPr>
            <a:r>
              <a:rPr sz="1200" lang="en-US">
                <a:solidFill>
                  <a:srgbClr val="1E293B"/>
                </a:solidFill>
              </a:rPr>
              <a:t xml:space="preserve">Mode switch: Selects RUN, PROGRAM, or REMOTE mode</a:t>
            </a:r>
          </a:p>
          <a:p>
            <a:pPr lvl="0" algn="l">
              <a:lnSpc>
                <a:spcPct val="112000"/>
              </a:lnSpc>
            </a:pPr>
            <a:r>
              <a:rPr sz="1200" lang="en-US">
                <a:solidFill>
                  <a:srgbClr val="1E293B"/>
                </a:solidFill>
              </a:rPr>
              <a:t xml:space="preserve">[INFO] PLC Operating Modes: RUN: Normal operation — program executes, outputs are active.PROGRAM: Program is halted — outputs are de-energized. Used for downloading programs.REMOTE: Mode can be changed from software. Most common setting for production machines.</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Power Supply</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power supply converts facility AC voltage (120VAC or 240VAC) to 24VDC for the PLC modules and field devices. Key specs to note: input voltage range, output current capacity, and whether it has redundancy or short-circuit protection.</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Ethernet Communication Board</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36000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Enables EtherNet/IP or EtherCAT communication between the PLC, HMI screens, other PLCs, and engineering workstations. Check the link and activity LEDs to verify connectivity.</a:t>
            </a:r>
          </a:p>
        </p:txBody>
      </p:sp>
      <p:pic>
        <p:nvPicPr>
          <p:cNvPr id="4" name="Figure" descr=""/>
          <p:cNvPicPr>
            <a:picLocks noChangeAspect="1"/>
          </p:cNvPicPr>
          <p:nvPr/>
        </p:nvPicPr>
        <p:blipFill>
          <a:blip r:embed="rId2"/>
          <a:stretch>
            <a:fillRect/>
          </a:stretch>
        </p:blipFill>
        <p:spPr>
          <a:xfrm>
            <a:off x="4158800" y="1171780"/>
            <a:ext cx="4528000" cy="5400000"/>
          </a:xfrm>
          <a:prstGeom prst="rect">
            <a:avLst/>
          </a:prstGeom>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PLC Families On Site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Platform | CPU Model | Protocol | Software</a:t>
            </a:r>
          </a:p>
          <a:p>
            <a:pPr lvl="0" algn="l">
              <a:lnSpc>
                <a:spcPct val="112000"/>
              </a:lnSpc>
            </a:pPr>
            <a:r>
              <a:rPr sz="1200" lang="en-US">
                <a:solidFill>
                  <a:srgbClr val="1E293B"/>
                </a:solidFill>
              </a:rPr>
              <a:t xml:space="preserve">Omron | NX1P2, CP1L | EtherCAT | Sysmac Studio</a:t>
            </a:r>
          </a:p>
          <a:p>
            <a:pPr lvl="0" algn="l">
              <a:lnSpc>
                <a:spcPct val="112000"/>
              </a:lnSpc>
            </a:pPr>
            <a:r>
              <a:rPr sz="1200" lang="en-US">
                <a:solidFill>
                  <a:srgbClr val="1E293B"/>
                </a:solidFill>
              </a:rPr>
              <a:t xml:space="preserve">Allen Bradley | CompactLogix | EtherNet/IP | Studio 5000</a:t>
            </a:r>
          </a:p>
          <a:p>
            <a:pPr lvl="0" algn="l">
              <a:lnSpc>
                <a:spcPct val="112000"/>
              </a:lnSpc>
            </a:pPr>
            <a:r>
              <a:rPr sz="1200" lang="en-US">
                <a:solidFill>
                  <a:srgbClr val="1E293B"/>
                </a:solidFill>
              </a:rPr>
              <a:t xml:space="preserve">AutomationDirect | Productivity P2000 | Modbus TCP | Productivity Suite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Digital I/O Modules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Digital input and output cards — wiring, diagnostics, and replacement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Digital Input Modules (DI Cards)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Digital input modules accept discrete on/off signals (typically 24VDC). Each channel reads a binary state — 1 (ON/TRUE) or 0 (OFF/FALSE). Field devices like sensors, switches, and push buttons wire to the module's screw terminals.</a:t>
            </a:r>
          </a:p>
          <a:p>
            <a:pPr lvl="0" algn="l">
              <a:lnSpc>
                <a:spcPct val="112000"/>
              </a:lnSpc>
            </a:pPr>
            <a:r>
              <a:rPr sz="1200" lang="en-US">
                <a:solidFill>
                  <a:srgbClr val="1E293B"/>
                </a:solidFill>
              </a:rPr>
              <a:t xml:space="preserve">Sinking vs. Sourcing: Sinking inputs accept current (NPN sensors provide current path to ground). Sourcing inputs provide current (PNP sensors switch the positive supply). Most modern PLCs auto-detect, but wiring errors between NPN/PNP cause phantom signals.</a:t>
            </a:r>
          </a:p>
          <a:p>
            <a:pPr lvl="0" algn="l">
              <a:lnSpc>
                <a:spcPct val="112000"/>
              </a:lnSpc>
            </a:pPr>
            <a:r>
              <a:rPr sz="1200" lang="en-US">
                <a:solidFill>
                  <a:srgbClr val="1E293B"/>
                </a:solidFill>
              </a:rPr>
              <a:t xml:space="preserve">Channel LEDs: Each input channel has an LED — green/lit means that input is seeing a signal (ON). This is your first diagnostic tool.</a:t>
            </a:r>
          </a:p>
          <a:p>
            <a:pPr lvl="0" algn="l">
              <a:lnSpc>
                <a:spcPct val="112000"/>
              </a:lnSpc>
            </a:pPr>
            <a:r>
              <a:rPr sz="1200" lang="en-US">
                <a:solidFill>
                  <a:srgbClr val="1E293B"/>
                </a:solidFill>
              </a:rPr>
              <a:t xml:space="preserve">Common grouping: Inputs may share a common terminal in groups of 4, 8, or 16. If the common wire breaks, the entire group goes dead.</a:t>
            </a:r>
          </a:p>
          <a:p>
            <a:pPr lvl="0" algn="l">
              <a:lnSpc>
                <a:spcPct val="112000"/>
              </a:lnSpc>
            </a:pPr>
            <a:r>
              <a:rPr sz="1200" lang="en-US">
                <a:solidFill>
                  <a:srgbClr val="1E293B"/>
                </a:solidFill>
              </a:rPr>
              <a:t xml:space="preserve">[TIP] Quick Diagnostic: If a sensor's own LED is lit but the PLC input module LED is dark, the problem is between the sensor and the module — check wiring, terminal connections, and fuses.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Digital Output Modules (DO Cards)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Digital output modules drive discrete on/off loads. The PLC sets output bits to ON/OFF, and the module energizes or de-energizes the corresponding terminal.</a:t>
            </a:r>
          </a:p>
          <a:p>
            <a:pPr lvl="0" algn="l">
              <a:lnSpc>
                <a:spcPct val="112000"/>
              </a:lnSpc>
            </a:pPr>
            <a:r>
              <a:rPr sz="1200" lang="en-US">
                <a:solidFill>
                  <a:srgbClr val="1E293B"/>
                </a:solidFill>
              </a:rPr>
              <a:t xml:space="preserve">Table: Output Type | Characteristics | Best For</a:t>
            </a:r>
          </a:p>
          <a:p>
            <a:pPr lvl="0" algn="l">
              <a:lnSpc>
                <a:spcPct val="112000"/>
              </a:lnSpc>
            </a:pPr>
            <a:r>
              <a:rPr sz="1200" lang="en-US">
                <a:solidFill>
                  <a:srgbClr val="1E293B"/>
                </a:solidFill>
              </a:rPr>
              <a:t xml:space="preserve">Relay | Mechanical contact, audible click, handles AC or DC, higher current (2A+) | Motor contactors, solenoid valves, mixed-voltage loads</a:t>
            </a:r>
          </a:p>
          <a:p>
            <a:pPr lvl="0" algn="l">
              <a:lnSpc>
                <a:spcPct val="112000"/>
              </a:lnSpc>
            </a:pPr>
            <a:r>
              <a:rPr sz="1200" lang="en-US">
                <a:solidFill>
                  <a:srgbClr val="1E293B"/>
                </a:solidFill>
              </a:rPr>
              <a:t xml:space="preserve">Transistor (sinking/sourcing) | Solid-state, silent, DC only, fast switching, lower current | High-speed applications, indicator lights, low-current solenoids</a:t>
            </a:r>
          </a:p>
          <a:p>
            <a:pPr lvl="0" algn="l">
              <a:lnSpc>
                <a:spcPct val="112000"/>
              </a:lnSpc>
            </a:pPr>
            <a:r>
              <a:rPr sz="1200" lang="en-US">
                <a:solidFill>
                  <a:srgbClr val="1E293B"/>
                </a:solidFill>
              </a:rPr>
              <a:t xml:space="preserve">Triac | Solid-state, AC only, silent, moderate speed | AC-powered devices, heaters</a:t>
            </a:r>
          </a:p>
          <a:p>
            <a:pPr lvl="0" algn="l">
              <a:lnSpc>
                <a:spcPct val="112000"/>
              </a:lnSpc>
            </a:pPr>
            <a:r>
              <a:rPr sz="1200" lang="en-US">
                <a:solidFill>
                  <a:srgbClr val="1E293B"/>
                </a:solidFill>
              </a:rPr>
              <a:t xml:space="preserve">[WARNING] Common Failure Mode: Relay output contacts wear over time (especially with inductive loads). If an output module LED is lit but the connected device doesn't respond, measure voltage at the output terminal — a worn relay contact may show high resistance or no continuity.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Analog I/O Modules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Analog input and output modules — signal types, scaling, and calibration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Analog Input Modules (AI Cards)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Analog input modules read continuous signals rather than simple on/off states. They convert real-world measurements (pressure, temperature, flow, position) into digital values the PLC can process.</a:t>
            </a:r>
          </a:p>
          <a:p>
            <a:pPr lvl="0" algn="l">
              <a:lnSpc>
                <a:spcPct val="112000"/>
              </a:lnSpc>
            </a:pPr>
            <a:r>
              <a:rPr sz="1200" lang="en-US">
                <a:solidFill>
                  <a:srgbClr val="1E293B"/>
                </a:solidFill>
              </a:rPr>
              <a:t xml:space="preserve">Table: Signal Type | Range | Common Use</a:t>
            </a:r>
          </a:p>
          <a:p>
            <a:pPr lvl="0" algn="l">
              <a:lnSpc>
                <a:spcPct val="112000"/>
              </a:lnSpc>
            </a:pPr>
            <a:r>
              <a:rPr sz="1200" lang="en-US">
                <a:solidFill>
                  <a:srgbClr val="1E293B"/>
                </a:solidFill>
              </a:rPr>
              <a:t xml:space="preserve">4–20mA | Current loop | Pressure transmitters, level sensors, flow meters — most common industrial standard</a:t>
            </a:r>
          </a:p>
          <a:p>
            <a:pPr lvl="0" algn="l">
              <a:lnSpc>
                <a:spcPct val="112000"/>
              </a:lnSpc>
            </a:pPr>
            <a:r>
              <a:rPr sz="1200" lang="en-US">
                <a:solidFill>
                  <a:srgbClr val="1E293B"/>
                </a:solidFill>
              </a:rPr>
              <a:t xml:space="preserve">0–10VDC | Voltage | Potentiometers, some sensor outputs, speed references</a:t>
            </a:r>
          </a:p>
          <a:p>
            <a:pPr lvl="0" algn="l">
              <a:lnSpc>
                <a:spcPct val="112000"/>
              </a:lnSpc>
            </a:pPr>
            <a:r>
              <a:rPr sz="1200" lang="en-US">
                <a:solidFill>
                  <a:srgbClr val="1E293B"/>
                </a:solidFill>
              </a:rPr>
              <a:t xml:space="preserve">0–5VDC | Voltage | Legacy sensors, some load cells</a:t>
            </a:r>
          </a:p>
          <a:p>
            <a:pPr lvl="0" algn="l">
              <a:lnSpc>
                <a:spcPct val="112000"/>
              </a:lnSpc>
            </a:pPr>
            <a:r>
              <a:rPr sz="1200" lang="en-US">
                <a:solidFill>
                  <a:srgbClr val="1E293B"/>
                </a:solidFill>
              </a:rPr>
              <a:t xml:space="preserve">Thermocouple | mV (type-specific) | Temperature measurement (requires TC-specific module)</a:t>
            </a:r>
          </a:p>
          <a:p>
            <a:pPr lvl="0" algn="l">
              <a:lnSpc>
                <a:spcPct val="112000"/>
              </a:lnSpc>
            </a:pPr>
            <a:r>
              <a:rPr sz="1200" lang="en-US">
                <a:solidFill>
                  <a:srgbClr val="1E293B"/>
                </a:solidFill>
              </a:rPr>
              <a:t xml:space="preserve">RTD | Resistance | Precision temperature measurement (requires RTD-specific module)</a:t>
            </a:r>
          </a:p>
          <a:p>
            <a:pPr lvl="0" algn="l">
              <a:lnSpc>
                <a:spcPct val="112000"/>
              </a:lnSpc>
            </a:pPr>
            <a:r>
              <a:rPr sz="1200" lang="en-US">
                <a:solidFill>
                  <a:srgbClr val="1E293B"/>
                </a:solidFill>
              </a:rPr>
              <a:t xml:space="preserve">[INFO] Why 4–20mA Instead of 0–20mA?: The 4mA "live zero" is intentional — if you read 0mA, it means a broken wire, not a zero reading. This is the single most useful diagnostic feature of the 4–20mA standard.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Analog Output Modules (AO Cards)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Analog output modules generate continuous control signals. The PLC writes a value, and the module outputs a proportional voltage or current signal to control devices like VFDs, proportional valves, or chart recorders.</a:t>
            </a:r>
          </a:p>
          <a:p>
            <a:pPr lvl="0" algn="l">
              <a:lnSpc>
                <a:spcPct val="112000"/>
              </a:lnSpc>
            </a:pPr>
            <a:r>
              <a:rPr sz="1200" lang="en-US">
                <a:solidFill>
                  <a:srgbClr val="1E293B"/>
                </a:solidFill>
              </a:rPr>
              <a:t xml:space="preserve">4–20mA output: Used for driving valve positioners and remote setpoints. 2-wire vs. 4-wire configurations matter for wiring.</a:t>
            </a:r>
          </a:p>
          <a:p>
            <a:pPr lvl="0" algn="l">
              <a:lnSpc>
                <a:spcPct val="112000"/>
              </a:lnSpc>
            </a:pPr>
            <a:r>
              <a:rPr sz="1200" lang="en-US">
                <a:solidFill>
                  <a:srgbClr val="1E293B"/>
                </a:solidFill>
              </a:rPr>
              <a:t xml:space="preserve">0–10VDC output: Common for VFD speed references and dimmer controls.</a:t>
            </a:r>
          </a:p>
          <a:p>
            <a:pPr lvl="0" algn="l">
              <a:lnSpc>
                <a:spcPct val="112000"/>
              </a:lnSpc>
            </a:pPr>
            <a:r>
              <a:rPr sz="1200" lang="en-US">
                <a:solidFill>
                  <a:srgbClr val="1E293B"/>
                </a:solidFill>
              </a:rPr>
              <a:t xml:space="preserve">Scaling: The PLC stores values as raw integers (e.g., 0–4095 for 12-bit, 0–65535 for 16-bit). The program scales this to engineering units.</a:t>
            </a:r>
          </a:p>
          <a:p>
            <a:pPr lvl="0" algn="l">
              <a:lnSpc>
                <a:spcPct val="112000"/>
              </a:lnSpc>
            </a:pPr>
            <a:r>
              <a:rPr sz="1200" lang="en-US">
                <a:solidFill>
                  <a:srgbClr val="1E293B"/>
                </a:solidFill>
              </a:rPr>
              <a:t xml:space="preserve">[TIP] Troubleshooting Analog Signals: Use a milliamp clamp meter or process calibrator to verify the actual signal at the terminal. If the PLC shows a good value but the field device isn't responding, the problem is downstream. If the PLC shows an out-of-range value, check the wiring and transmitter.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Cabinet Infrastructure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DIN rail, fuses, grounding, power distribution, and wire labeling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DIN Rail Mounting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35mm top-hat DIN rail (EN 60715) is the universal standard for mounting PLC modules, terminal blocks, relays, circuit breakers, and power supplies. Every component in the cabinet sits on it.</a:t>
            </a:r>
          </a:p>
          <a:p>
            <a:pPr lvl="0" algn="l">
              <a:lnSpc>
                <a:spcPct val="112000"/>
              </a:lnSpc>
            </a:pPr>
            <a:r>
              <a:rPr sz="1200" lang="en-US">
                <a:solidFill>
                  <a:srgbClr val="1E293B"/>
                </a:solidFill>
              </a:rPr>
              <a:t xml:space="preserve">Modules clip onto DIN rail via a spring-loaded tab at the bottom</a:t>
            </a:r>
          </a:p>
          <a:p>
            <a:pPr lvl="0" algn="l">
              <a:lnSpc>
                <a:spcPct val="112000"/>
              </a:lnSpc>
            </a:pPr>
            <a:r>
              <a:rPr sz="1200" lang="en-US">
                <a:solidFill>
                  <a:srgbClr val="1E293B"/>
                </a:solidFill>
              </a:rPr>
              <a:t xml:space="preserve">To remove: insert a flat-blade screwdriver into the release tab and lever the module forward</a:t>
            </a:r>
          </a:p>
          <a:p>
            <a:pPr lvl="0" algn="l">
              <a:lnSpc>
                <a:spcPct val="112000"/>
              </a:lnSpc>
            </a:pPr>
            <a:r>
              <a:rPr sz="1200" lang="en-US">
                <a:solidFill>
                  <a:srgbClr val="1E293B"/>
                </a:solidFill>
              </a:rPr>
              <a:t xml:space="preserve">Ensure proper spacing between components for heat dissipation per manufacturer specs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Fuses &amp; Circuit Breakers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Fuses and miniature circuit breakers (MCBs) protect the PLC power supply, output modules, and field devices from overcurrent. A blown fuse is one of the most common and easiest-to-fix causes of apparent PLC output failures.</a:t>
            </a:r>
          </a:p>
          <a:p>
            <a:pPr lvl="0" algn="l">
              <a:lnSpc>
                <a:spcPct val="112000"/>
              </a:lnSpc>
            </a:pPr>
            <a:r>
              <a:rPr sz="1200" lang="en-US">
                <a:solidFill>
                  <a:srgbClr val="1E293B"/>
                </a:solidFill>
              </a:rPr>
              <a:t xml:space="preserve">[DANGER] Check Fuses First!: Before chasing a software problem, always check physical fuses. A blown fuse on an output circuit makes the PLC output appear to fail — the PLC commands the output ON (LED is lit on the module), but the field device doesn't respond because the fuse is blown.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24VDC Power Distribution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24VDC output from the PLC power supply must be distributed to input modules, sensors, and some output devices. This is done via power distribution terminal blocks or fused distribution blocks. A single shorted sensor can drag down the entire 24VDC bus if distribution is not fused — taking out dozens of inputs simultaneously.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Grounding &amp; Bonding</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Proper earth grounding prevents analog signal noise, intermittent communication faults, false input triggers, and ESD damage. Key practices:</a:t>
            </a:r>
          </a:p>
          <a:p>
            <a:pPr lvl="0" algn="l">
              <a:lnSpc>
                <a:spcPct val="112000"/>
              </a:lnSpc>
            </a:pPr>
            <a:r>
              <a:rPr sz="1200" lang="en-US">
                <a:solidFill>
                  <a:srgbClr val="1E293B"/>
                </a:solidFill>
              </a:rPr>
              <a:t xml:space="preserve">Star-point grounding: All ground wires connect to a single ground bus bar, which connects to building ground</a:t>
            </a:r>
          </a:p>
          <a:p>
            <a:pPr lvl="0" algn="l">
              <a:lnSpc>
                <a:spcPct val="112000"/>
              </a:lnSpc>
            </a:pPr>
            <a:r>
              <a:rPr sz="1200" lang="en-US">
                <a:solidFill>
                  <a:srgbClr val="1E293B"/>
                </a:solidFill>
              </a:rPr>
              <a:t xml:space="preserve">Cable shield grounding: Shield drain wires land on the ground bus at one end only to avoid ground loops</a:t>
            </a:r>
          </a:p>
          <a:p>
            <a:pPr lvl="0" algn="l">
              <a:lnSpc>
                <a:spcPct val="112000"/>
              </a:lnSpc>
            </a:pPr>
            <a:r>
              <a:rPr sz="1200" lang="en-US">
                <a:solidFill>
                  <a:srgbClr val="1E293B"/>
                </a:solidFill>
              </a:rPr>
              <a:t xml:space="preserve">DIN rail grounding: DIN rail is bonded to the cabinet ground bus</a:t>
            </a:r>
          </a:p>
          <a:p>
            <a:pPr lvl="0" algn="l">
              <a:lnSpc>
                <a:spcPct val="112000"/>
              </a:lnSpc>
            </a:pPr>
            <a:r>
              <a:rPr sz="1200" lang="en-US">
                <a:solidFill>
                  <a:srgbClr val="1E293B"/>
                </a:solidFill>
              </a:rPr>
              <a:t xml:space="preserve">Separate safety earth from signal/analog ground references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Wire Labeling &amp; Cable Management</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Proper wire labeling using heat-shrink markers or wrap-around labels matched to the wiring diagram is critical for maintenance. When you open a cabinet at 2 AM during an emergency, labeled wires are the difference between a 15-minute fix and a 4-hour nightmare.</a:t>
            </a:r>
          </a:p>
          <a:p>
            <a:pPr lvl="0" algn="l">
              <a:lnSpc>
                <a:spcPct val="112000"/>
              </a:lnSpc>
            </a:pPr>
            <a:r>
              <a:rPr sz="1200" lang="en-US">
                <a:solidFill>
                  <a:srgbClr val="1E293B"/>
                </a:solidFill>
              </a:rPr>
              <a:t xml:space="preserve">Wire duct (Panduit) keeps wires organized and accessible</a:t>
            </a:r>
          </a:p>
          <a:p>
            <a:pPr lvl="0" algn="l">
              <a:lnSpc>
                <a:spcPct val="112000"/>
              </a:lnSpc>
            </a:pPr>
            <a:r>
              <a:rPr sz="1200" lang="en-US">
                <a:solidFill>
                  <a:srgbClr val="1E293B"/>
                </a:solidFill>
              </a:rPr>
              <a:t xml:space="preserve">Ferrules on stranded wire ends prevent fraying and loose connections</a:t>
            </a:r>
          </a:p>
          <a:p>
            <a:pPr lvl="0" algn="l">
              <a:lnSpc>
                <a:spcPct val="112000"/>
              </a:lnSpc>
            </a:pPr>
            <a:r>
              <a:rPr sz="1200" lang="en-US">
                <a:solidFill>
                  <a:srgbClr val="1E293B"/>
                </a:solidFill>
              </a:rPr>
              <a:t xml:space="preserve">Every wire should be labeled at both ends matching the wiring diagram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Main Disconnect Switch</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The main power disconnect on the cabinet door is the primary LOTO point. It's required by NFPA 79 and NEC. Always verify zero energy after turning off the disconnect — some circuits (UPS-fed or external convenience outlets) may remain live.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Live Cabinet Identification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PLC Cabinet Overview</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Walk to the tabletop bench. Trainer points to each major component: power supply (show input voltage label, output 24VDC), CPU module (show RUN/ERR LEDs, mode switch), Ethernet port (show link/activity LEDs).</a:t>
            </a:r>
          </a:p>
          <a:p>
            <a:pPr lvl="0" algn="l">
              <a:lnSpc>
                <a:spcPct val="112000"/>
              </a:lnSpc>
            </a:pPr>
            <a:r>
              <a:rPr sz="1200" lang="en-US">
                <a:solidFill>
                  <a:srgbClr val="1E293B"/>
                </a:solidFill>
              </a:rPr>
              <a:t xml:space="preserve">Each student physically points to and names: the CPU on each of the three PLCs, the power supply, and at least one input and one output module.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Wiring Trace Exercise</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Digital I/O Modules</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Pick one input device (e.g., proximity sensor). Starting at the sensor, physically trace the wire through cable duct to the terminal block, then to the I/O module terminal. Show the wiring diagram side-by-side.</a:t>
            </a:r>
          </a:p>
          <a:p>
            <a:pPr lvl="0" algn="l">
              <a:lnSpc>
                <a:spcPct val="112000"/>
              </a:lnSpc>
            </a:pPr>
            <a:r>
              <a:rPr sz="1200" lang="en-US">
                <a:solidFill>
                  <a:srgbClr val="1E293B"/>
                </a:solidFill>
              </a:rPr>
              <a:t xml:space="preserve">Students each select a different device and trace its wiring from device → terminal block → I/O module, then report which terminal block number, I/O slot, and channel.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Three-Platform Comparison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Cabinet Infrastructure</a:t>
            </a:r>
          </a:p>
          <a:p>
            <a:pPr lvl="0" algn="l">
              <a:lnSpc>
                <a:spcPct val="112000"/>
              </a:lnSpc>
            </a:pPr>
            <a:r>
              <a:rPr sz="1200" lang="en-US">
                <a:solidFill>
                  <a:srgbClr val="1E293B"/>
                </a:solidFill>
              </a:rPr>
              <a:t xml:space="preserve">Duration: 10 min</a:t>
            </a:r>
          </a:p>
          <a:p>
            <a:pPr lvl="0" algn="l">
              <a:lnSpc>
                <a:spcPct val="112000"/>
              </a:lnSpc>
            </a:pPr>
            <a:r>
              <a:rPr sz="1200" lang="en-US">
                <a:solidFill>
                  <a:srgbClr val="1E293B"/>
                </a:solidFill>
              </a:rPr>
              <a:t xml:space="preserve">Stand at the bench with all three PLCs visible. Point out physical differences: module form factor, how I/O attaches, Ethernet ports, DIP switches, and size differences.</a:t>
            </a:r>
          </a:p>
          <a:p>
            <a:pPr lvl="0" algn="l">
              <a:lnSpc>
                <a:spcPct val="112000"/>
              </a:lnSpc>
            </a:pPr>
            <a:r>
              <a:rPr sz="1200" lang="en-US">
                <a:solidFill>
                  <a:srgbClr val="1E293B"/>
                </a:solidFill>
              </a:rPr>
              <a:t xml:space="preserve">Students note one physical difference between platforms they find surprising. Brief group discussion.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does a solid red ERR LED on a PLC CPU indicate?</a:t>
            </a:r>
          </a:p>
          <a:p>
            <a:pPr lvl="0" algn="l">
              <a:lnSpc>
                <a:spcPct val="112000"/>
              </a:lnSpc>
            </a:pPr>
            <a:r>
              <a:rPr sz="1200" lang="en-US">
                <a:solidFill>
                  <a:srgbClr val="1E293B"/>
                </a:solidFill>
              </a:rPr>
              <a:t xml:space="preserve">Normal operation | Minor fault — program still running | Major fault — CPU halted, outputs de-energized | Communication error only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digital input module channel LED is dark, but the proximity sensor's own LED is lit. Where is the most likely problem?</a:t>
            </a:r>
          </a:p>
          <a:p>
            <a:pPr lvl="0" algn="l">
              <a:lnSpc>
                <a:spcPct val="112000"/>
              </a:lnSpc>
            </a:pPr>
            <a:r>
              <a:rPr sz="1200" lang="en-US">
                <a:solidFill>
                  <a:srgbClr val="1E293B"/>
                </a:solidFill>
              </a:rPr>
              <a:t xml:space="preserve">The PLC program has a bug | The wiring between the sensor and the module | The sensor is faulty | The CPU is in PROGRAM mode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You read 0mA on a 4–20mA pressure transmitter circuit. What does this indicate?</a:t>
            </a:r>
          </a:p>
          <a:p>
            <a:pPr lvl="0" algn="l">
              <a:lnSpc>
                <a:spcPct val="112000"/>
              </a:lnSpc>
            </a:pPr>
            <a:r>
              <a:rPr sz="1200" lang="en-US">
                <a:solidFill>
                  <a:srgbClr val="1E293B"/>
                </a:solidFill>
              </a:rPr>
              <a:t xml:space="preserve">Zero pressure — everything is normal | A broken wire or disconnected transmitter | The transmitter is reading negative pressure | The analog module is faulty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Why should fuses be checked BEFORE troubleshooting in PLC software?</a:t>
            </a:r>
          </a:p>
          <a:p>
            <a:pPr lvl="0" algn="l">
              <a:lnSpc>
                <a:spcPct val="112000"/>
              </a:lnSpc>
            </a:pPr>
            <a:r>
              <a:rPr sz="1200" lang="en-US">
                <a:solidFill>
                  <a:srgbClr val="1E293B"/>
                </a:solidFill>
              </a:rPr>
              <a:t xml:space="preserve">Fuses are expensive and should be checked regularly | A blown fuse can make an output appear to fail even though the PLC is commanding it ON | PLC software cannot detect fuse status | It's an OSHA requirement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is the purpose of star-point grounding in a PLC cabinet?</a:t>
            </a:r>
          </a:p>
          <a:p>
            <a:pPr lvl="0" algn="l">
              <a:lnSpc>
                <a:spcPct val="112000"/>
              </a:lnSpc>
            </a:pPr>
            <a:r>
              <a:rPr sz="1200" lang="en-US">
                <a:solidFill>
                  <a:srgbClr val="1E293B"/>
                </a:solidFill>
              </a:rPr>
              <a:t xml:space="preserve">To provide backup power | To prevent ground loops and ensure all ground paths converge at a single reference point | To increase cable length capacity | To protect against lightning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30</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