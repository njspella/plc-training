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Types>
</file>

<file path=_rels/.rels><?xml version="1.0" encoding="UTF-8" standalone="yes"?>
<Relationships xmlns="http://schemas.openxmlformats.org/package/2006/relationships">
<Relationship Id="rId1"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IdLst>
    <p:sldId id="256" r:id="rId11"/>
    <p:sldId id="257" r:id="rId12"/>
    <p:sldId id="258" r:id="rId13"/>
    <p:sldId id="259" r:id="rId14"/>
    <p:sldId id="260" r:id="rId15"/>
    <p:sldId id="261" r:id="rId16"/>
    <p:sldId id="262" r:id="rId17"/>
    <p:sldId id="263" r:id="rId18"/>
    <p:sldId id="264" r:id="rId19"/>
    <p:sldId id="265" r:id="rId20"/>
    <p:sldId id="266" r:id="rId21"/>
    <p:sldId id="267" r:id="rId22"/>
    <p:sldId id="268" r:id="rId23"/>
    <p:sldId id="269" r:id="rId24"/>
    <p:sldId id="270" r:id="rId25"/>
    <p:sldId id="271" r:id="rId26"/>
    <p:sldId id="272" r:id="rId27"/>
    <p:sldId id="273" r:id="rId28"/>
    <p:sldId id="274" r:id="rId29"/>
    <p:sldId id="275" r:id="rId30"/>
    <p:sldId id="276" r:id="rId31"/>
    <p:sldId id="277" r:id="rId32"/>
    <p:sldId id="278" r:id="rId33"/>
    <p:sldId id="279" r:id="rId34"/>
  </p:sldIdLst>
</p:presentation>
</file>

<file path=ppt/_rels/presentation.xml.rels><?xml version="1.0" encoding="UTF-8" standalone="yes"?>
<Relationships xmlns="http://schemas.openxmlformats.org/package/2006/relationships">
<Relationship Id="rId1" Type="http://schemas.openxmlformats.org/officeDocument/2006/relationships/slideMaster" Target="slideMasters/slideMaster1.xml"/>
<Relationship Id="rId11" Type="http://schemas.openxmlformats.org/officeDocument/2006/relationships/slide" Target="slides/slide1.xml"/>
<Relationship Id="rId12" Type="http://schemas.openxmlformats.org/officeDocument/2006/relationships/slide" Target="slides/slide2.xml"/>
<Relationship Id="rId13" Type="http://schemas.openxmlformats.org/officeDocument/2006/relationships/slide" Target="slides/slide3.xml"/>
<Relationship Id="rId14" Type="http://schemas.openxmlformats.org/officeDocument/2006/relationships/slide" Target="slides/slide4.xml"/>
<Relationship Id="rId15" Type="http://schemas.openxmlformats.org/officeDocument/2006/relationships/slide" Target="slides/slide5.xml"/>
<Relationship Id="rId16" Type="http://schemas.openxmlformats.org/officeDocument/2006/relationships/slide" Target="slides/slide6.xml"/>
<Relationship Id="rId17" Type="http://schemas.openxmlformats.org/officeDocument/2006/relationships/slide" Target="slides/slide7.xml"/>
<Relationship Id="rId18" Type="http://schemas.openxmlformats.org/officeDocument/2006/relationships/slide" Target="slides/slide8.xml"/>
<Relationship Id="rId19" Type="http://schemas.openxmlformats.org/officeDocument/2006/relationships/slide" Target="slides/slide9.xml"/>
<Relationship Id="rId20" Type="http://schemas.openxmlformats.org/officeDocument/2006/relationships/slide" Target="slides/slide10.xml"/>
<Relationship Id="rId21" Type="http://schemas.openxmlformats.org/officeDocument/2006/relationships/slide" Target="slides/slide11.xml"/>
<Relationship Id="rId22" Type="http://schemas.openxmlformats.org/officeDocument/2006/relationships/slide" Target="slides/slide12.xml"/>
<Relationship Id="rId23" Type="http://schemas.openxmlformats.org/officeDocument/2006/relationships/slide" Target="slides/slide13.xml"/>
<Relationship Id="rId24" Type="http://schemas.openxmlformats.org/officeDocument/2006/relationships/slide" Target="slides/slide14.xml"/>
<Relationship Id="rId25" Type="http://schemas.openxmlformats.org/officeDocument/2006/relationships/slide" Target="slides/slide15.xml"/>
<Relationship Id="rId26" Type="http://schemas.openxmlformats.org/officeDocument/2006/relationships/slide" Target="slides/slide16.xml"/>
<Relationship Id="rId27" Type="http://schemas.openxmlformats.org/officeDocument/2006/relationships/slide" Target="slides/slide17.xml"/>
<Relationship Id="rId28" Type="http://schemas.openxmlformats.org/officeDocument/2006/relationships/slide" Target="slides/slide18.xml"/>
<Relationship Id="rId29" Type="http://schemas.openxmlformats.org/officeDocument/2006/relationships/slide" Target="slides/slide19.xml"/>
<Relationship Id="rId30" Type="http://schemas.openxmlformats.org/officeDocument/2006/relationships/slide" Target="slides/slide20.xml"/>
<Relationship Id="rId31" Type="http://schemas.openxmlformats.org/officeDocument/2006/relationships/slide" Target="slides/slide21.xml"/>
<Relationship Id="rId32" Type="http://schemas.openxmlformats.org/officeDocument/2006/relationships/slide" Target="slides/slide22.xml"/>
<Relationship Id="rId33" Type="http://schemas.openxmlformats.org/officeDocument/2006/relationships/slide" Target="slides/slide23.xml"/>
<Relationship Id="rId34" Type="http://schemas.openxmlformats.org/officeDocument/2006/relationships/slide" Target="slides/slide24.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and Content">
    <p:spTree>
      <p:nvGrpSpPr>
        <p:cNvPr id="1" name=""/>
        <p:cNvGrpSpPr/>
        <p:nvPr/>
      </p:nvGrpSpPr>
      <p:grpSpPr/>
    </p:spTree>
  </p:cSld>
</p:sldLayout>
</file>

<file path=ppt/slideMasters/_rels/slideMaster1.xml.rels><?xml version="1.0"?><Relationships xmlns="http://schemas.openxmlformats.org/package/2006/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Tree>
  </p:cSld>
</p:sldMaster>
</file>

<file path=ppt/slides/_rels/slide1.xml.rels><?xml version="1.0"?><Relationships xmlns="http://schemas.openxmlformats.org/package/2006/relationships">
<Relationship Id="rId1" Type="http://schemas.openxmlformats.org/officeDocument/2006/relationships/slideLayout" Target="../slideLayouts/slideLayout1.xml"/>
</Relationships>
</file>

<file path=ppt/slides/_rels/slide2.xml.rels><?xml version="1.0"?><Relationships xmlns="http://schemas.openxmlformats.org/package/2006/relationships">
<Relationship Id="rId1" Type="http://schemas.openxmlformats.org/officeDocument/2006/relationships/slideLayout" Target="../slideLayouts/slideLayout1.xml"/>
</Relationships>
</file>

<file path=ppt/slides/_rels/slide3.xml.rels><?xml version="1.0"?><Relationships xmlns="http://schemas.openxmlformats.org/package/2006/relationships">
<Relationship Id="rId1" Type="http://schemas.openxmlformats.org/officeDocument/2006/relationships/slideLayout" Target="../slideLayouts/slideLayout1.xml"/>
</Relationships>
</file>

<file path=ppt/slides/_rels/slide4.xml.rels><?xml version="1.0"?><Relationships xmlns="http://schemas.openxmlformats.org/package/2006/relationships">
<Relationship Id="rId1" Type="http://schemas.openxmlformats.org/officeDocument/2006/relationships/slideLayout" Target="../slideLayouts/slideLayout1.xml"/>
</Relationships>
</file>

<file path=ppt/slides/_rels/slide5.xml.rels><?xml version="1.0"?><Relationships xmlns="http://schemas.openxmlformats.org/package/2006/relationships">
<Relationship Id="rId1" Type="http://schemas.openxmlformats.org/officeDocument/2006/relationships/slideLayout" Target="../slideLayouts/slideLayout1.xml"/>
</Relationships>
</file>

<file path=ppt/slides/_rels/slide6.xml.rels><?xml version="1.0"?><Relationships xmlns="http://schemas.openxmlformats.org/package/2006/relationships">
<Relationship Id="rId1" Type="http://schemas.openxmlformats.org/officeDocument/2006/relationships/slideLayout" Target="../slideLayouts/slideLayout1.xml"/>
</Relationships>
</file>

<file path=ppt/slides/_rels/slide7.xml.rels><?xml version="1.0"?><Relationships xmlns="http://schemas.openxmlformats.org/package/2006/relationships">
<Relationship Id="rId1" Type="http://schemas.openxmlformats.org/officeDocument/2006/relationships/slideLayout" Target="../slideLayouts/slideLayout1.xml"/>
</Relationships>
</file>

<file path=ppt/slides/_rels/slide8.xml.rels><?xml version="1.0"?><Relationships xmlns="http://schemas.openxmlformats.org/package/2006/relationships">
<Relationship Id="rId1" Type="http://schemas.openxmlformats.org/officeDocument/2006/relationships/slideLayout" Target="../slideLayouts/slideLayout1.xml"/>
</Relationships>
</file>

<file path=ppt/slides/_rels/slide9.xml.rels><?xml version="1.0"?><Relationships xmlns="http://schemas.openxmlformats.org/package/2006/relationships">
<Relationship Id="rId1" Type="http://schemas.openxmlformats.org/officeDocument/2006/relationships/slideLayout" Target="../slideLayouts/slideLayout1.xml"/>
</Relationships>
</file>

<file path=ppt/slides/_rels/slide10.xml.rels><?xml version="1.0"?><Relationships xmlns="http://schemas.openxmlformats.org/package/2006/relationships">
<Relationship Id="rId1" Type="http://schemas.openxmlformats.org/officeDocument/2006/relationships/slideLayout" Target="../slideLayouts/slideLayout1.xml"/>
</Relationships>
</file>

<file path=ppt/slides/_rels/slide11.xml.rels><?xml version="1.0"?><Relationships xmlns="http://schemas.openxmlformats.org/package/2006/relationships">
<Relationship Id="rId1" Type="http://schemas.openxmlformats.org/officeDocument/2006/relationships/slideLayout" Target="../slideLayouts/slideLayout1.xml"/>
</Relationships>
</file>

<file path=ppt/slides/_rels/slide12.xml.rels><?xml version="1.0"?><Relationships xmlns="http://schemas.openxmlformats.org/package/2006/relationships">
<Relationship Id="rId1" Type="http://schemas.openxmlformats.org/officeDocument/2006/relationships/slideLayout" Target="../slideLayouts/slideLayout1.xml"/>
</Relationships>
</file>

<file path=ppt/slides/_rels/slide13.xml.rels><?xml version="1.0"?><Relationships xmlns="http://schemas.openxmlformats.org/package/2006/relationships">
<Relationship Id="rId1" Type="http://schemas.openxmlformats.org/officeDocument/2006/relationships/slideLayout" Target="../slideLayouts/slideLayout1.xml"/>
</Relationships>
</file>

<file path=ppt/slides/_rels/slide14.xml.rels><?xml version="1.0"?><Relationships xmlns="http://schemas.openxmlformats.org/package/2006/relationships">
<Relationship Id="rId1" Type="http://schemas.openxmlformats.org/officeDocument/2006/relationships/slideLayout" Target="../slideLayouts/slideLayout1.xml"/>
</Relationships>
</file>

<file path=ppt/slides/_rels/slide15.xml.rels><?xml version="1.0"?><Relationships xmlns="http://schemas.openxmlformats.org/package/2006/relationships">
<Relationship Id="rId1" Type="http://schemas.openxmlformats.org/officeDocument/2006/relationships/slideLayout" Target="../slideLayouts/slideLayout1.xml"/>
</Relationships>
</file>

<file path=ppt/slides/_rels/slide16.xml.rels><?xml version="1.0"?><Relationships xmlns="http://schemas.openxmlformats.org/package/2006/relationships">
<Relationship Id="rId1" Type="http://schemas.openxmlformats.org/officeDocument/2006/relationships/slideLayout" Target="../slideLayouts/slideLayout1.xml"/>
</Relationships>
</file>

<file path=ppt/slides/_rels/slide17.xml.rels><?xml version="1.0"?><Relationships xmlns="http://schemas.openxmlformats.org/package/2006/relationships">
<Relationship Id="rId1" Type="http://schemas.openxmlformats.org/officeDocument/2006/relationships/slideLayout" Target="../slideLayouts/slideLayout1.xml"/>
</Relationships>
</file>

<file path=ppt/slides/_rels/slide18.xml.rels><?xml version="1.0"?><Relationships xmlns="http://schemas.openxmlformats.org/package/2006/relationships">
<Relationship Id="rId1" Type="http://schemas.openxmlformats.org/officeDocument/2006/relationships/slideLayout" Target="../slideLayouts/slideLayout1.xml"/>
</Relationships>
</file>

<file path=ppt/slides/_rels/slide19.xml.rels><?xml version="1.0"?><Relationships xmlns="http://schemas.openxmlformats.org/package/2006/relationships">
<Relationship Id="rId1" Type="http://schemas.openxmlformats.org/officeDocument/2006/relationships/slideLayout" Target="../slideLayouts/slideLayout1.xml"/>
</Relationships>
</file>

<file path=ppt/slides/_rels/slide20.xml.rels><?xml version="1.0"?><Relationships xmlns="http://schemas.openxmlformats.org/package/2006/relationships">
<Relationship Id="rId1" Type="http://schemas.openxmlformats.org/officeDocument/2006/relationships/slideLayout" Target="../slideLayouts/slideLayout1.xml"/>
</Relationships>
</file>

<file path=ppt/slides/_rels/slide21.xml.rels><?xml version="1.0"?><Relationships xmlns="http://schemas.openxmlformats.org/package/2006/relationships">
<Relationship Id="rId1" Type="http://schemas.openxmlformats.org/officeDocument/2006/relationships/slideLayout" Target="../slideLayouts/slideLayout1.xml"/>
</Relationships>
</file>

<file path=ppt/slides/_rels/slide22.xml.rels><?xml version="1.0"?><Relationships xmlns="http://schemas.openxmlformats.org/package/2006/relationships">
<Relationship Id="rId1" Type="http://schemas.openxmlformats.org/officeDocument/2006/relationships/slideLayout" Target="../slideLayouts/slideLayout1.xml"/>
</Relationships>
</file>

<file path=ppt/slides/_rels/slide23.xml.rels><?xml version="1.0"?><Relationships xmlns="http://schemas.openxmlformats.org/package/2006/relationships">
<Relationship Id="rId1" Type="http://schemas.openxmlformats.org/officeDocument/2006/relationships/slideLayout" Target="../slideLayouts/slideLayout1.xml"/>
</Relationships>
</file>

<file path=ppt/slides/_rels/slide24.xml.rels><?xml version="1.0"?><Relationships xmlns="http://schemas.openxmlformats.org/package/2006/relationships">
<Relationship Id="rId1" Type="http://schemas.openxmlformats.org/officeDocument/2006/relationships/slideLayout" Target="../slideLayouts/slideLayout1.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p:cNvSpPr>
            <a:spLocks noGrp="1"/>
          </p:cNvSpPr>
          <p:nvPr>
            <p:ph type="title"/>
          </p:nvPr>
        </p:nvSpPr>
        <p:spPr/>
        <p:txBody>
          <a:bodyPr/>
          <a:lstStyle/>
          <a:p>
            <a:r>
              <a:rPr sz="2800" b="1"/>
              <a:solidFill>
                <a:srgbClr val="1E3A5F"/>
              </a:solidFill>
              <a:t>Module 1: PLC Hardware &amp; Components</a:t>
            </a:r>
          </a:p>
        </p:txBody>
      </p:sp>
      <p:sp>
        <p:nvSpPr>
          <p:cNvPr id="3" name="Content"/>
          <p:cNvSpPr>
            <a:spLocks noGrp="1"/>
          </p:cNvSpPr>
          <p:nvPr>
            <p:ph idx="1" type="body"/>
          </p:nvPr>
        </p:nvSpPr>
        <p:spPr/>
        <p:txBody>
          <a:bodyPr/>
          <a:lstStyle/>
          <a:p>
            <a:r>
              <a:rPr sz="1400"/>
              <a:t>PLC Tabletop Training Program · Lecture + Lab · 2.5 h</a:t>
            </a:r>
          </a:p>
          <a:p>
            <a:r>
              <a:rPr sz="1400"/>
              <a:t>v1.0 (April 2026)</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p:cNvSpPr>
            <a:spLocks noGrp="1"/>
          </p:cNvSpPr>
          <p:nvPr>
            <p:ph type="title"/>
          </p:nvPr>
        </p:nvSpPr>
        <p:spPr/>
        <p:txBody>
          <a:bodyPr/>
          <a:lstStyle/>
          <a:p>
            <a:r>
              <a:rPr sz="2800" b="1"/>
              <a:solidFill>
                <a:srgbClr val="1E3A5F"/>
              </a:solidFill>
              <a:t>Learning objectives</a:t>
            </a:r>
          </a:p>
        </p:txBody>
      </p:sp>
      <p:sp>
        <p:nvSpPr>
          <p:cNvPr id="3" name="Content"/>
          <p:cNvSpPr>
            <a:spLocks noGrp="1"/>
          </p:cNvSpPr>
          <p:nvPr>
            <p:ph idx="1" type="body"/>
          </p:nvPr>
        </p:nvSpPr>
        <p:spPr/>
        <p:txBody>
          <a:bodyPr/>
          <a:lstStyle/>
          <a:p>
            <a:r>
              <a:rPr sz="1400"/>
              <a:t>Identify every major component inside a PLC control cabinet from physical inspection</a:t>
            </a:r>
          </a:p>
          <a:p>
            <a:r>
              <a:rPr sz="1400"/>
              <a:t>Explain the function of the CPU, power supply, Ethernet board, I/O modules, and terminal blocks</a:t>
            </a:r>
          </a:p>
          <a:p>
            <a:r>
              <a:rPr sz="1400"/>
              <a:t>Distinguish between digital I/O and analog I/O modules and their applications</a:t>
            </a:r>
          </a:p>
          <a:p>
            <a:r>
              <a:rPr sz="1400"/>
              <a:t>Read a basic PLC wiring diagram and match terminal labels to physical wiring</a:t>
            </a:r>
          </a:p>
          <a:p>
            <a:r>
              <a:rPr sz="1400"/>
              <a:t>Understand cabinet infrastructure: fuses, DIN rail, grounding, and wire labeling</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p:cNvSpPr>
            <a:spLocks noGrp="1"/>
          </p:cNvSpPr>
          <p:nvPr>
            <p:ph type="title"/>
          </p:nvPr>
        </p:nvSpPr>
        <p:spPr/>
        <p:txBody>
          <a:bodyPr/>
          <a:lstStyle/>
          <a:p>
            <a:r>
              <a:rPr sz="2800" b="1"/>
              <a:solidFill>
                <a:srgbClr val="1E3A5F"/>
              </a:solidFill>
              <a:t>Overview</a:t>
            </a:r>
          </a:p>
        </p:txBody>
      </p:sp>
      <p:sp>
        <p:nvSpPr>
          <p:cNvPr id="3" name="Content"/>
          <p:cNvSpPr>
            <a:spLocks noGrp="1"/>
          </p:cNvSpPr>
          <p:nvPr>
            <p:ph idx="1" type="body"/>
          </p:nvPr>
        </p:nvSpPr>
        <p:spPr/>
        <p:txBody>
          <a:bodyPr/>
          <a:lstStyle/>
          <a:p>
            <a:r>
              <a:rPr sz="1400"/>
              <a:t>Comprehensive walkthrough of PLC cabinet components, I/O modules, power distribution, and cabinet infrastructure.</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p:cNvSpPr>
            <a:spLocks noGrp="1"/>
          </p:cNvSpPr>
          <p:nvPr>
            <p:ph type="title"/>
          </p:nvPr>
        </p:nvSpPr>
        <p:spPr/>
        <p:txBody>
          <a:bodyPr/>
          <a:lstStyle/>
          <a:p>
            <a:r>
              <a:rPr sz="2800" b="1"/>
              <a:solidFill>
                <a:srgbClr val="1E3A5F"/>
              </a:solidFill>
              <a:t>Lesson: PLC Cabinet Overview</a:t>
            </a:r>
          </a:p>
        </p:txBody>
      </p:sp>
      <p:sp>
        <p:nvSpPr>
          <p:cNvPr id="3" name="Content"/>
          <p:cNvSpPr>
            <a:spLocks noGrp="1"/>
          </p:cNvSpPr>
          <p:nvPr>
            <p:ph idx="1" type="body"/>
          </p:nvPr>
        </p:nvSpPr>
        <p:spPr/>
        <p:txBody>
          <a:bodyPr/>
          <a:lstStyle/>
          <a:p>
            <a:r>
              <a:rPr sz="1400"/>
              <a:t>Major components and their functions inside a PLC control cabinet</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p:cNvSpPr>
            <a:spLocks noGrp="1"/>
          </p:cNvSpPr>
          <p:nvPr>
            <p:ph type="title"/>
          </p:nvPr>
        </p:nvSpPr>
        <p:spPr/>
        <p:txBody>
          <a:bodyPr/>
          <a:lstStyle/>
          <a:p>
            <a:r>
              <a:rPr sz="2800" b="1"/>
              <a:solidFill>
                <a:srgbClr val="1E3A5F"/>
              </a:solidFill>
              <a:t>PLC Cabinet Overview (content)</a:t>
            </a:r>
          </a:p>
        </p:txBody>
      </p:sp>
      <p:sp>
        <p:nvSpPr>
          <p:cNvPr id="3" name="Content"/>
          <p:cNvSpPr>
            <a:spLocks noGrp="1"/>
          </p:cNvSpPr>
          <p:nvPr>
            <p:ph idx="1" type="body"/>
          </p:nvPr>
        </p:nvSpPr>
        <p:spPr/>
        <p:txBody>
          <a:bodyPr/>
          <a:lstStyle/>
          <a:p>
            <a:r>
              <a:rPr sz="1400"/>
              <a:t>A PLC (Programmable Logic Controller) checks signals from sensors or switches (inputs), runs through a set of programmed instructions based on those inputs and logic, and controls motors, lights, valves, or conveyors (the outputs).</a:t>
            </a:r>
          </a:p>
          <a:p>
            <a:r>
              <a:rPr sz="1400"/>
              <a:t>The PLC cabinet houses all the core control components. Understanding what's inside — and what each component does — is the foundation of every troubleshooting task.</a:t>
            </a:r>
          </a:p>
          <a:p>
            <a:r>
              <a:rPr sz="1400"/>
              <a:t>→ PLC CPU Controller</a:t>
            </a:r>
          </a:p>
          <a:p>
            <a:r>
              <a:rPr sz="1400"/>
              <a:t>[Figure] PLC CPU Controller Module — the brain of the system</a:t>
            </a:r>
          </a:p>
          <a:p>
            <a:r>
              <a:rPr sz="1400"/>
              <a:t>The CPU is the brain of the PLC. It executes the ladder logic program in a continuous scan cycle: read all inputs → execute program logic → update all outputs → repeat. The scan time (typically 1–20ms) determines how fast the PLC responds to changes.</a:t>
            </a:r>
          </a:p>
          <a:p>
            <a:r>
              <a:rPr sz="1400"/>
              <a:t>• RUN LED: Solid green = program is executing normally</a:t>
            </a:r>
          </a:p>
          <a:p>
            <a:r>
              <a:rPr sz="1400"/>
              <a:t>• ERR LED: Flashing red = minor fault, solid red = major fault (CPU halted)</a:t>
            </a:r>
          </a:p>
          <a:p>
            <a:r>
              <a:rPr sz="1400"/>
              <a:t>• Mode switch: Selects RUN, PROGRAM, or REMOTE mode</a:t>
            </a:r>
          </a:p>
          <a:p>
            <a:r>
              <a:rPr sz="1400"/>
              <a:t>[INFO] PLC Operating Modes: RUN: Normal operation — program executes, outputs are active.PROGRAM: Program is halted — outputs are de-energized. Used for downloading programs.REMOTE: Mode can be changed from software. Most common setting for production machines.</a:t>
            </a:r>
          </a:p>
          <a:p>
            <a:r>
              <a:rPr sz="1400"/>
              <a:t>→ Power Supply</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p:cNvSpPr>
            <a:spLocks noGrp="1"/>
          </p:cNvSpPr>
          <p:nvPr>
            <p:ph type="title"/>
          </p:nvPr>
        </p:nvSpPr>
        <p:spPr/>
        <p:txBody>
          <a:bodyPr/>
          <a:lstStyle/>
          <a:p>
            <a:r>
              <a:rPr sz="2800" b="1"/>
              <a:solidFill>
                <a:srgbClr val="1E3A5F"/>
              </a:solidFill>
              <a:t>PLC Cabinet Overview (content)</a:t>
            </a:r>
          </a:p>
        </p:txBody>
      </p:sp>
      <p:sp>
        <p:nvSpPr>
          <p:cNvPr id="3" name="Content"/>
          <p:cNvSpPr>
            <a:spLocks noGrp="1"/>
          </p:cNvSpPr>
          <p:nvPr>
            <p:ph idx="1" type="body"/>
          </p:nvPr>
        </p:nvSpPr>
        <p:spPr/>
        <p:txBody>
          <a:bodyPr/>
          <a:lstStyle/>
          <a:p>
            <a:r>
              <a:rPr sz="1400"/>
              <a:t>[Figure] Power Supply Module — converts AC to 24VDC</a:t>
            </a:r>
          </a:p>
          <a:p>
            <a:r>
              <a:rPr sz="1400"/>
              <a:t>The power supply converts facility AC voltage (120VAC or 240VAC) to 24VDC for the PLC modules and field devices. Key specs to note: input voltage range, output current capacity, and whether it has redundancy or short-circuit protection.</a:t>
            </a:r>
          </a:p>
          <a:p>
            <a:r>
              <a:rPr sz="1400"/>
              <a:t>→ Ethernet Communication Board</a:t>
            </a:r>
          </a:p>
          <a:p>
            <a:r>
              <a:rPr sz="1400"/>
              <a:t>[Figure] Ethernet Communication Board — network connectivity</a:t>
            </a:r>
          </a:p>
          <a:p>
            <a:r>
              <a:rPr sz="1400"/>
              <a:t>Enables EtherNet/IP or EtherCAT communication between the PLC, HMI screens, other PLCs, and engineering workstations. Check the link and activity LEDs to verify connectivity.</a:t>
            </a:r>
          </a:p>
          <a:p>
            <a:r>
              <a:rPr sz="1400"/>
              <a:t>→ PLC Families On Site</a:t>
            </a:r>
          </a:p>
          <a:p>
            <a:r>
              <a:rPr sz="1400"/>
              <a:t>Table: Platform | CPU Model | Protocol | Software</a:t>
            </a:r>
          </a:p>
          <a:p>
            <a:r>
              <a:rPr sz="1400"/>
              <a:t>  • Omron | NX1P2, CP1L | EtherCAT | Sysmac Studio</a:t>
            </a:r>
          </a:p>
          <a:p>
            <a:r>
              <a:rPr sz="1400"/>
              <a:t>  • Allen Bradley | CompactLogix | EtherNet/IP | Studio 5000</a:t>
            </a:r>
          </a:p>
          <a:p>
            <a:r>
              <a:rPr sz="1400"/>
              <a:t>  • AutomationDirect | Productivity P2000 | Modbus TCP | Productivity Suite</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p:cNvSpPr>
            <a:spLocks noGrp="1"/>
          </p:cNvSpPr>
          <p:nvPr>
            <p:ph type="title"/>
          </p:nvPr>
        </p:nvSpPr>
        <p:spPr/>
        <p:txBody>
          <a:bodyPr/>
          <a:lstStyle/>
          <a:p>
            <a:r>
              <a:rPr sz="2800" b="1"/>
              <a:solidFill>
                <a:srgbClr val="1E3A5F"/>
              </a:solidFill>
              <a:t>Lesson: Digital I/O Modules</a:t>
            </a:r>
          </a:p>
        </p:txBody>
      </p:sp>
      <p:sp>
        <p:nvSpPr>
          <p:cNvPr id="3" name="Content"/>
          <p:cNvSpPr>
            <a:spLocks noGrp="1"/>
          </p:cNvSpPr>
          <p:nvPr>
            <p:ph idx="1" type="body"/>
          </p:nvPr>
        </p:nvSpPr>
        <p:spPr/>
        <p:txBody>
          <a:bodyPr/>
          <a:lstStyle/>
          <a:p>
            <a:r>
              <a:rPr sz="1400"/>
              <a:t>Digital input and output cards — wiring, diagnostics, and replacement</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p:cNvSpPr>
            <a:spLocks noGrp="1"/>
          </p:cNvSpPr>
          <p:nvPr>
            <p:ph type="title"/>
          </p:nvPr>
        </p:nvSpPr>
        <p:spPr/>
        <p:txBody>
          <a:bodyPr/>
          <a:lstStyle/>
          <a:p>
            <a:r>
              <a:rPr sz="2800" b="1"/>
              <a:solidFill>
                <a:srgbClr val="1E3A5F"/>
              </a:solidFill>
              <a:t>Digital I/O Modules (content)</a:t>
            </a:r>
          </a:p>
        </p:txBody>
      </p:sp>
      <p:sp>
        <p:nvSpPr>
          <p:cNvPr id="3" name="Content"/>
          <p:cNvSpPr>
            <a:spLocks noGrp="1"/>
          </p:cNvSpPr>
          <p:nvPr>
            <p:ph idx="1" type="body"/>
          </p:nvPr>
        </p:nvSpPr>
        <p:spPr/>
        <p:txBody>
          <a:bodyPr/>
          <a:lstStyle/>
          <a:p>
            <a:r>
              <a:rPr sz="1400"/>
              <a:t>→ Digital Input Modules (DI Cards)</a:t>
            </a:r>
          </a:p>
          <a:p>
            <a:r>
              <a:rPr sz="1400"/>
              <a:t>Digital input modules accept discrete on/off signals (typically 24VDC). Each channel reads a binary state — 1 (ON/TRUE) or 0 (OFF/FALSE). Field devices like sensors, switches, and push buttons wire to the module's screw terminals.</a:t>
            </a:r>
          </a:p>
          <a:p>
            <a:r>
              <a:rPr sz="1400"/>
              <a:t>• Sinking vs. Sourcing: Sinking inputs accept current (NPN sensors provide current path to ground). Sourcing inputs provide current (PNP sensors switch the positive supply). Most modern PLCs auto-detect, but wiring errors between NPN/PNP cause phantom signals.</a:t>
            </a:r>
          </a:p>
          <a:p>
            <a:r>
              <a:rPr sz="1400"/>
              <a:t>• Channel LEDs: Each input channel has an LED — green/lit means that input is seeing a signal (ON). This is your first diagnostic tool.</a:t>
            </a:r>
          </a:p>
          <a:p>
            <a:r>
              <a:rPr sz="1400"/>
              <a:t>• Common grouping: Inputs may share a common terminal in groups of 4, 8, or 16. If the common wire breaks, the entire group goes dead.</a:t>
            </a:r>
          </a:p>
          <a:p>
            <a:r>
              <a:rPr sz="1400"/>
              <a:t>[TIP] Quick Diagnostic: If a sensor's own LED is lit but the PLC input module LED is dark, the problem is between the sensor and the module — check wiring, terminal connections, and fuses.</a:t>
            </a:r>
          </a:p>
          <a:p>
            <a:r>
              <a:rPr sz="1400"/>
              <a:t>→ Digital Output Modules (DO Cards)</a:t>
            </a:r>
          </a:p>
          <a:p>
            <a:r>
              <a:rPr sz="1400"/>
              <a:t>Digital output modules drive discrete on/off loads. The PLC sets output bits to ON/OFF, and the module energizes or de-energizes the corresponding terminal.</a:t>
            </a:r>
          </a:p>
          <a:p>
            <a:r>
              <a:rPr sz="1400"/>
              <a:t>Table: Output Type | Characteristics | Best For</a:t>
            </a:r>
          </a:p>
          <a:p>
            <a:r>
              <a:rPr sz="1400"/>
              <a:t>  • Relay | Mechanical contact, audible click, handles AC or DC, higher current (2A+) | Motor contactors, solenoid valves, mixed-voltage loads</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p:cNvSpPr>
            <a:spLocks noGrp="1"/>
          </p:cNvSpPr>
          <p:nvPr>
            <p:ph type="title"/>
          </p:nvPr>
        </p:nvSpPr>
        <p:spPr/>
        <p:txBody>
          <a:bodyPr/>
          <a:lstStyle/>
          <a:p>
            <a:r>
              <a:rPr sz="2800" b="1"/>
              <a:solidFill>
                <a:srgbClr val="1E3A5F"/>
              </a:solidFill>
              <a:t>Digital I/O Modules (content)</a:t>
            </a:r>
          </a:p>
        </p:txBody>
      </p:sp>
      <p:sp>
        <p:nvSpPr>
          <p:cNvPr id="3" name="Content"/>
          <p:cNvSpPr>
            <a:spLocks noGrp="1"/>
          </p:cNvSpPr>
          <p:nvPr>
            <p:ph idx="1" type="body"/>
          </p:nvPr>
        </p:nvSpPr>
        <p:spPr/>
        <p:txBody>
          <a:bodyPr/>
          <a:lstStyle/>
          <a:p>
            <a:r>
              <a:rPr sz="1400"/>
              <a:t>  • Transistor (sinking/sourcing) | Solid-state, silent, DC only, fast switching, lower current | High-speed applications, indicator lights, low-current solenoids</a:t>
            </a:r>
          </a:p>
          <a:p>
            <a:r>
              <a:rPr sz="1400"/>
              <a:t>  • Triac | Solid-state, AC only, silent, moderate speed | AC-powered devices, heaters</a:t>
            </a:r>
          </a:p>
          <a:p>
            <a:r>
              <a:rPr sz="1400"/>
              <a:t>[WARNING] Common Failure Mode: Relay output contacts wear over time (especially with inductive loads). If an output module LED is lit but the connected device doesn't respond, measure voltage at the output terminal — a worn relay contact may show high resistance or no continuity.</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p:cNvSpPr>
            <a:spLocks noGrp="1"/>
          </p:cNvSpPr>
          <p:nvPr>
            <p:ph type="title"/>
          </p:nvPr>
        </p:nvSpPr>
        <p:spPr/>
        <p:txBody>
          <a:bodyPr/>
          <a:lstStyle/>
          <a:p>
            <a:r>
              <a:rPr sz="2800" b="1"/>
              <a:solidFill>
                <a:srgbClr val="1E3A5F"/>
              </a:solidFill>
              <a:t>Lesson: Analog I/O Modules</a:t>
            </a:r>
          </a:p>
        </p:txBody>
      </p:sp>
      <p:sp>
        <p:nvSpPr>
          <p:cNvPr id="3" name="Content"/>
          <p:cNvSpPr>
            <a:spLocks noGrp="1"/>
          </p:cNvSpPr>
          <p:nvPr>
            <p:ph idx="1" type="body"/>
          </p:nvPr>
        </p:nvSpPr>
        <p:spPr/>
        <p:txBody>
          <a:bodyPr/>
          <a:lstStyle/>
          <a:p>
            <a:r>
              <a:rPr sz="1400"/>
              <a:t>Analog input and output modules — signal types, scaling, and calibration</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p:cNvSpPr>
            <a:spLocks noGrp="1"/>
          </p:cNvSpPr>
          <p:nvPr>
            <p:ph type="title"/>
          </p:nvPr>
        </p:nvSpPr>
        <p:spPr/>
        <p:txBody>
          <a:bodyPr/>
          <a:lstStyle/>
          <a:p>
            <a:r>
              <a:rPr sz="2800" b="1"/>
              <a:solidFill>
                <a:srgbClr val="1E3A5F"/>
              </a:solidFill>
              <a:t>Analog I/O Modules (content)</a:t>
            </a:r>
          </a:p>
        </p:txBody>
      </p:sp>
      <p:sp>
        <p:nvSpPr>
          <p:cNvPr id="3" name="Content"/>
          <p:cNvSpPr>
            <a:spLocks noGrp="1"/>
          </p:cNvSpPr>
          <p:nvPr>
            <p:ph idx="1" type="body"/>
          </p:nvPr>
        </p:nvSpPr>
        <p:spPr/>
        <p:txBody>
          <a:bodyPr/>
          <a:lstStyle/>
          <a:p>
            <a:r>
              <a:rPr sz="1400"/>
              <a:t>→ Analog Input Modules (AI Cards)</a:t>
            </a:r>
          </a:p>
          <a:p>
            <a:r>
              <a:rPr sz="1400"/>
              <a:t>Analog input modules read continuous signals rather than simple on/off states. They convert real-world measurements (pressure, temperature, flow, position) into digital values the PLC can process.</a:t>
            </a:r>
          </a:p>
          <a:p>
            <a:r>
              <a:rPr sz="1400"/>
              <a:t>Table: Signal Type | Range | Common Use</a:t>
            </a:r>
          </a:p>
          <a:p>
            <a:r>
              <a:rPr sz="1400"/>
              <a:t>  • 4–20mA | Current loop | Pressure transmitters, level sensors, flow meters — most common industrial standard</a:t>
            </a:r>
          </a:p>
          <a:p>
            <a:r>
              <a:rPr sz="1400"/>
              <a:t>  • 0–10VDC | Voltage | Potentiometers, some sensor outputs, speed references</a:t>
            </a:r>
          </a:p>
          <a:p>
            <a:r>
              <a:rPr sz="1400"/>
              <a:t>  • 0–5VDC | Voltage | Legacy sensors, some load cells</a:t>
            </a:r>
          </a:p>
          <a:p>
            <a:r>
              <a:rPr sz="1400"/>
              <a:t>  • Thermocouple | mV (type-specific) | Temperature measurement (requires TC-specific module)</a:t>
            </a:r>
          </a:p>
          <a:p>
            <a:r>
              <a:rPr sz="1400"/>
              <a:t>  • RTD | Resistance | Precision temperature measurement (requires RTD-specific module)</a:t>
            </a:r>
          </a:p>
          <a:p>
            <a:r>
              <a:rPr sz="1400"/>
              <a:t>[INFO] Why 4–20mA Instead of 0–20mA?: The 4mA "live zero" is intentional — if you read 0mA, it means a broken wire, not a zero reading. This is the single most useful diagnostic feature of the 4–20mA standard.</a:t>
            </a:r>
          </a:p>
          <a:p>
            <a:r>
              <a:rPr sz="1400"/>
              <a:t>→ Analog Output Modules (AO Cards)</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p:cNvSpPr>
            <a:spLocks noGrp="1"/>
          </p:cNvSpPr>
          <p:nvPr>
            <p:ph type="title"/>
          </p:nvPr>
        </p:nvSpPr>
        <p:spPr/>
        <p:txBody>
          <a:bodyPr/>
          <a:lstStyle/>
          <a:p>
            <a:r>
              <a:rPr sz="2800" b="1"/>
              <a:solidFill>
                <a:srgbClr val="1E3A5F"/>
              </a:solidFill>
              <a:t>Analog I/O Modules (content)</a:t>
            </a:r>
          </a:p>
        </p:txBody>
      </p:sp>
      <p:sp>
        <p:nvSpPr>
          <p:cNvPr id="3" name="Content"/>
          <p:cNvSpPr>
            <a:spLocks noGrp="1"/>
          </p:cNvSpPr>
          <p:nvPr>
            <p:ph idx="1" type="body"/>
          </p:nvPr>
        </p:nvSpPr>
        <p:spPr/>
        <p:txBody>
          <a:bodyPr/>
          <a:lstStyle/>
          <a:p>
            <a:r>
              <a:rPr sz="1400"/>
              <a:t>Analog output modules generate continuous control signals. The PLC writes a value, and the module outputs a proportional voltage or current signal to control devices like VFDs, proportional valves, or chart recorders.</a:t>
            </a:r>
          </a:p>
          <a:p>
            <a:r>
              <a:rPr sz="1400"/>
              <a:t>• 4–20mA output: Used for driving valve positioners and remote setpoints. 2-wire vs. 4-wire configurations matter for wiring.</a:t>
            </a:r>
          </a:p>
          <a:p>
            <a:r>
              <a:rPr sz="1400"/>
              <a:t>• 0–10VDC output: Common for VFD speed references and dimmer controls.</a:t>
            </a:r>
          </a:p>
          <a:p>
            <a:r>
              <a:rPr sz="1400"/>
              <a:t>• Scaling: The PLC stores values as raw integers (e.g., 0–4095 for 12-bit, 0–65535 for 16-bit). The program scales this to engineering units.</a:t>
            </a:r>
          </a:p>
          <a:p>
            <a:r>
              <a:rPr sz="1400"/>
              <a:t>[TIP] Troubleshooting Analog Signals: Use a milliamp clamp meter or process calibrator to verify the actual signal at the terminal. If the PLC shows a good value but the field device isn't responding, the problem is downstream. If the PLC shows an out-of-range value, check the wiring and transmitter.</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p:cNvSpPr>
            <a:spLocks noGrp="1"/>
          </p:cNvSpPr>
          <p:nvPr>
            <p:ph type="title"/>
          </p:nvPr>
        </p:nvSpPr>
        <p:spPr/>
        <p:txBody>
          <a:bodyPr/>
          <a:lstStyle/>
          <a:p>
            <a:r>
              <a:rPr sz="2800" b="1"/>
              <a:solidFill>
                <a:srgbClr val="1E3A5F"/>
              </a:solidFill>
              <a:t>Lesson: Cabinet Infrastructure</a:t>
            </a:r>
          </a:p>
        </p:txBody>
      </p:sp>
      <p:sp>
        <p:nvSpPr>
          <p:cNvPr id="3" name="Content"/>
          <p:cNvSpPr>
            <a:spLocks noGrp="1"/>
          </p:cNvSpPr>
          <p:nvPr>
            <p:ph idx="1" type="body"/>
          </p:nvPr>
        </p:nvSpPr>
        <p:spPr/>
        <p:txBody>
          <a:bodyPr/>
          <a:lstStyle/>
          <a:p>
            <a:r>
              <a:rPr sz="1400"/>
              <a:t>DIN rail, fuses, grounding, power distribution, and wire labeling</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p:cNvSpPr>
            <a:spLocks noGrp="1"/>
          </p:cNvSpPr>
          <p:nvPr>
            <p:ph type="title"/>
          </p:nvPr>
        </p:nvSpPr>
        <p:spPr/>
        <p:txBody>
          <a:bodyPr/>
          <a:lstStyle/>
          <a:p>
            <a:r>
              <a:rPr sz="2800" b="1"/>
              <a:solidFill>
                <a:srgbClr val="1E3A5F"/>
              </a:solidFill>
              <a:t>Cabinet Infrastructure (content)</a:t>
            </a:r>
          </a:p>
        </p:txBody>
      </p:sp>
      <p:sp>
        <p:nvSpPr>
          <p:cNvPr id="3" name="Content"/>
          <p:cNvSpPr>
            <a:spLocks noGrp="1"/>
          </p:cNvSpPr>
          <p:nvPr>
            <p:ph idx="1" type="body"/>
          </p:nvPr>
        </p:nvSpPr>
        <p:spPr/>
        <p:txBody>
          <a:bodyPr/>
          <a:lstStyle/>
          <a:p>
            <a:r>
              <a:rPr sz="1400"/>
              <a:t>→ DIN Rail Mounting</a:t>
            </a:r>
          </a:p>
          <a:p>
            <a:r>
              <a:rPr sz="1400"/>
              <a:t>35mm top-hat DIN rail (EN 60715) is the universal standard for mounting PLC modules, terminal blocks, relays, circuit breakers, and power supplies. Every component in the cabinet sits on it.</a:t>
            </a:r>
          </a:p>
          <a:p>
            <a:r>
              <a:rPr sz="1400"/>
              <a:t>• Modules clip onto DIN rail via a spring-loaded tab at the bottom</a:t>
            </a:r>
          </a:p>
          <a:p>
            <a:r>
              <a:rPr sz="1400"/>
              <a:t>• To remove: insert a flat-blade screwdriver into the release tab and lever the module forward</a:t>
            </a:r>
          </a:p>
          <a:p>
            <a:r>
              <a:rPr sz="1400"/>
              <a:t>• Ensure proper spacing between components for heat dissipation per manufacturer specs</a:t>
            </a:r>
          </a:p>
          <a:p>
            <a:r>
              <a:rPr sz="1400"/>
              <a:t>→ Fuses &amp; Circuit Breakers</a:t>
            </a:r>
          </a:p>
          <a:p>
            <a:r>
              <a:rPr sz="1400"/>
              <a:t>Fuses and miniature circuit breakers (MCBs) protect the PLC power supply, output modules, and field devices from overcurrent. A blown fuse is one of the most common and easiest-to-fix causes of apparent PLC output failures.</a:t>
            </a:r>
          </a:p>
          <a:p>
            <a:r>
              <a:rPr sz="1400"/>
              <a:t>[DANGER] Check Fuses First!: Before chasing a software problem, always check physical fuses. A blown fuse on an output circuit makes the PLC output appear to fail — the PLC commands the output ON (LED is lit on the module), but the field device doesn't respond because the fuse is blown.</a:t>
            </a:r>
          </a:p>
          <a:p>
            <a:r>
              <a:rPr sz="1400"/>
              <a:t>→ 24VDC Power Distribution</a:t>
            </a:r>
          </a:p>
          <a:p>
            <a:r>
              <a:rPr sz="1400"/>
              <a:t>The 24VDC output from the PLC power supply must be distributed to input modules, sensors, and some output devices. This is done via power distribution terminal blocks or fused distribution blocks. A single shorted sensor can drag down the entire 24VDC bus if distribution is not fused — taking out dozens of inputs simultaneously.</a:t>
            </a:r>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p:cNvSpPr>
            <a:spLocks noGrp="1"/>
          </p:cNvSpPr>
          <p:nvPr>
            <p:ph type="title"/>
          </p:nvPr>
        </p:nvSpPr>
        <p:spPr/>
        <p:txBody>
          <a:bodyPr/>
          <a:lstStyle/>
          <a:p>
            <a:r>
              <a:rPr sz="2800" b="1"/>
              <a:solidFill>
                <a:srgbClr val="1E3A5F"/>
              </a:solidFill>
              <a:t>Cabinet Infrastructure (content)</a:t>
            </a:r>
          </a:p>
        </p:txBody>
      </p:sp>
      <p:sp>
        <p:nvSpPr>
          <p:cNvPr id="3" name="Content"/>
          <p:cNvSpPr>
            <a:spLocks noGrp="1"/>
          </p:cNvSpPr>
          <p:nvPr>
            <p:ph idx="1" type="body"/>
          </p:nvPr>
        </p:nvSpPr>
        <p:spPr/>
        <p:txBody>
          <a:bodyPr/>
          <a:lstStyle/>
          <a:p>
            <a:r>
              <a:rPr sz="1400"/>
              <a:t>→ Grounding &amp; Bonding</a:t>
            </a:r>
          </a:p>
          <a:p>
            <a:r>
              <a:rPr sz="1400"/>
              <a:t>Proper earth grounding prevents analog signal noise, intermittent communication faults, false input triggers, and ESD damage. Key practices:</a:t>
            </a:r>
          </a:p>
          <a:p>
            <a:r>
              <a:rPr sz="1400"/>
              <a:t>• Star-point grounding: All ground wires connect to a single ground bus bar, which connects to building ground</a:t>
            </a:r>
          </a:p>
          <a:p>
            <a:r>
              <a:rPr sz="1400"/>
              <a:t>• Cable shield grounding: Shield drain wires land on the ground bus at one end only to avoid ground loops</a:t>
            </a:r>
          </a:p>
          <a:p>
            <a:r>
              <a:rPr sz="1400"/>
              <a:t>• DIN rail grounding: DIN rail is bonded to the cabinet ground bus</a:t>
            </a:r>
          </a:p>
          <a:p>
            <a:r>
              <a:rPr sz="1400"/>
              <a:t>• Separate safety earth from signal/analog ground references</a:t>
            </a:r>
          </a:p>
          <a:p>
            <a:r>
              <a:rPr sz="1400"/>
              <a:t>→ Wire Labeling &amp; Cable Management</a:t>
            </a:r>
          </a:p>
          <a:p>
            <a:r>
              <a:rPr sz="1400"/>
              <a:t>Proper wire labeling using heat-shrink markers or wrap-around labels matched to the wiring diagram is critical for maintenance. When you open a cabinet at 2 AM during an emergency, labeled wires are the difference between a 15-minute fix and a 4-hour nightmare.</a:t>
            </a:r>
          </a:p>
          <a:p>
            <a:r>
              <a:rPr sz="1400"/>
              <a:t>• Wire duct (Panduit) keeps wires organized and accessible</a:t>
            </a:r>
          </a:p>
          <a:p>
            <a:r>
              <a:rPr sz="1400"/>
              <a:t>• Ferrules on stranded wire ends prevent fraying and loose connections</a:t>
            </a:r>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p:cNvSpPr>
            <a:spLocks noGrp="1"/>
          </p:cNvSpPr>
          <p:nvPr>
            <p:ph type="title"/>
          </p:nvPr>
        </p:nvSpPr>
        <p:spPr/>
        <p:txBody>
          <a:bodyPr/>
          <a:lstStyle/>
          <a:p>
            <a:r>
              <a:rPr sz="2800" b="1"/>
              <a:solidFill>
                <a:srgbClr val="1E3A5F"/>
              </a:solidFill>
              <a:t>Cabinet Infrastructure (content)</a:t>
            </a:r>
          </a:p>
        </p:txBody>
      </p:sp>
      <p:sp>
        <p:nvSpPr>
          <p:cNvPr id="3" name="Content"/>
          <p:cNvSpPr>
            <a:spLocks noGrp="1"/>
          </p:cNvSpPr>
          <p:nvPr>
            <p:ph idx="1" type="body"/>
          </p:nvPr>
        </p:nvSpPr>
        <p:spPr/>
        <p:txBody>
          <a:bodyPr/>
          <a:lstStyle/>
          <a:p>
            <a:r>
              <a:rPr sz="1400"/>
              <a:t>• Every wire should be labeled at both ends matching the wiring diagram</a:t>
            </a:r>
          </a:p>
          <a:p>
            <a:r>
              <a:rPr sz="1400"/>
              <a:t>→ Main Disconnect Switch</a:t>
            </a:r>
          </a:p>
          <a:p>
            <a:r>
              <a:rPr sz="1400"/>
              <a:t>The main power disconnect on the cabinet door is the primary LOTO point. It's required by NFPA 79 and NEC. Always verify zero energy after turning off the disconnect — some circuits (UPS-fed or external convenience outlets) may remain live.</a:t>
            </a:r>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p:cNvSpPr>
            <a:spLocks noGrp="1"/>
          </p:cNvSpPr>
          <p:nvPr>
            <p:ph type="title"/>
          </p:nvPr>
        </p:nvSpPr>
        <p:spPr/>
        <p:txBody>
          <a:bodyPr/>
          <a:lstStyle/>
          <a:p>
            <a:r>
              <a:rPr sz="2800" b="1"/>
              <a:solidFill>
                <a:srgbClr val="1E3A5F"/>
              </a:solidFill>
              <a:t>Lab: Live Cabinet Identification</a:t>
            </a:r>
          </a:p>
        </p:txBody>
      </p:sp>
      <p:sp>
        <p:nvSpPr>
          <p:cNvPr id="3" name="Content"/>
          <p:cNvSpPr>
            <a:spLocks noGrp="1"/>
          </p:cNvSpPr>
          <p:nvPr>
            <p:ph idx="1" type="body"/>
          </p:nvPr>
        </p:nvSpPr>
        <p:spPr/>
        <p:txBody>
          <a:bodyPr/>
          <a:lstStyle/>
          <a:p>
            <a:r>
              <a:rPr sz="1400"/>
              <a:t>After: PLC Cabinet Overview</a:t>
            </a:r>
          </a:p>
          <a:p>
            <a:r>
              <a:rPr sz="1400"/>
              <a:t>Duration: 10 min</a:t>
            </a:r>
          </a:p>
          <a:p>
            <a:r>
              <a:rPr sz="1400"/>
              <a:t>Walk to the tabletop bench. Trainer points to each major component: power supply (show input voltage label, output 24VDC), CPU module (show RUN/ERR LEDs, mode switch), Ethernet port (show link/activity LEDs).</a:t>
            </a:r>
          </a:p>
          <a:p>
            <a:r>
              <a:rPr sz="1400"/>
              <a:t>Each student physically points to and names: the CPU on each of the three PLCs, the power supply, and at least one input and one output module.</a:t>
            </a:r>
          </a:p>
        </p:txBody>
      </p:sp>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p:cNvSpPr>
            <a:spLocks noGrp="1"/>
          </p:cNvSpPr>
          <p:nvPr>
            <p:ph type="title"/>
          </p:nvPr>
        </p:nvSpPr>
        <p:spPr/>
        <p:txBody>
          <a:bodyPr/>
          <a:lstStyle/>
          <a:p>
            <a:r>
              <a:rPr sz="2800" b="1"/>
              <a:solidFill>
                <a:srgbClr val="1E3A5F"/>
              </a:solidFill>
              <a:t>Lab: Wiring Trace Exercise</a:t>
            </a:r>
          </a:p>
        </p:txBody>
      </p:sp>
      <p:sp>
        <p:nvSpPr>
          <p:cNvPr id="3" name="Content"/>
          <p:cNvSpPr>
            <a:spLocks noGrp="1"/>
          </p:cNvSpPr>
          <p:nvPr>
            <p:ph idx="1" type="body"/>
          </p:nvPr>
        </p:nvSpPr>
        <p:spPr/>
        <p:txBody>
          <a:bodyPr/>
          <a:lstStyle/>
          <a:p>
            <a:r>
              <a:rPr sz="1400"/>
              <a:t>After: Digital I/O Modules</a:t>
            </a:r>
          </a:p>
          <a:p>
            <a:r>
              <a:rPr sz="1400"/>
              <a:t>Duration: 15 min</a:t>
            </a:r>
          </a:p>
          <a:p>
            <a:r>
              <a:rPr sz="1400"/>
              <a:t>Pick one input device (e.g., proximity sensor). Starting at the sensor, physically trace the wire through cable duct to the terminal block, then to the I/O module terminal. Show the wiring diagram side-by-side.</a:t>
            </a:r>
          </a:p>
          <a:p>
            <a:r>
              <a:rPr sz="1400"/>
              <a:t>Students each select a different device and trace its wiring from device → terminal block → I/O module, then report which terminal block number, I/O slot, and channel.</a:t>
            </a:r>
          </a:p>
        </p:txBody>
      </p:sp>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p:cNvSpPr>
            <a:spLocks noGrp="1"/>
          </p:cNvSpPr>
          <p:nvPr>
            <p:ph type="title"/>
          </p:nvPr>
        </p:nvSpPr>
        <p:spPr/>
        <p:txBody>
          <a:bodyPr/>
          <a:lstStyle/>
          <a:p>
            <a:r>
              <a:rPr sz="2800" b="1"/>
              <a:solidFill>
                <a:srgbClr val="1E3A5F"/>
              </a:solidFill>
              <a:t>Lab: Three-Platform Comparison</a:t>
            </a:r>
          </a:p>
        </p:txBody>
      </p:sp>
      <p:sp>
        <p:nvSpPr>
          <p:cNvPr id="3" name="Content"/>
          <p:cNvSpPr>
            <a:spLocks noGrp="1"/>
          </p:cNvSpPr>
          <p:nvPr>
            <p:ph idx="1" type="body"/>
          </p:nvPr>
        </p:nvSpPr>
        <p:spPr/>
        <p:txBody>
          <a:bodyPr/>
          <a:lstStyle/>
          <a:p>
            <a:r>
              <a:rPr sz="1400"/>
              <a:t>After: Cabinet Infrastructure</a:t>
            </a:r>
          </a:p>
          <a:p>
            <a:r>
              <a:rPr sz="1400"/>
              <a:t>Duration: 10 min</a:t>
            </a:r>
          </a:p>
          <a:p>
            <a:r>
              <a:rPr sz="1400"/>
              <a:t>Stand at the bench with all three PLCs visible. Point out physical differences: module form factor, how I/O attaches, Ethernet ports, DIP switches, and size differences.</a:t>
            </a:r>
          </a:p>
          <a:p>
            <a:r>
              <a:rPr sz="1400"/>
              <a:t>Students note one physical difference between platforms they find surprising. Brief group discussion.</a:t>
            </a:r>
          </a:p>
        </p:txBody>
      </p:sp>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p:cNvSpPr>
            <a:spLocks noGrp="1"/>
          </p:cNvSpPr>
          <p:nvPr>
            <p:ph type="title"/>
          </p:nvPr>
        </p:nvSpPr>
        <p:spPr/>
        <p:txBody>
          <a:bodyPr/>
          <a:lstStyle/>
          <a:p>
            <a:r>
              <a:rPr sz="2800" b="1"/>
              <a:solidFill>
                <a:srgbClr val="1E3A5F"/>
              </a:solidFill>
              <a:t>Quiz</a:t>
            </a:r>
          </a:p>
        </p:txBody>
      </p:sp>
      <p:sp>
        <p:nvSpPr>
          <p:cNvPr id="3" name="Content"/>
          <p:cNvSpPr>
            <a:spLocks noGrp="1"/>
          </p:cNvSpPr>
          <p:nvPr>
            <p:ph idx="1" type="body"/>
          </p:nvPr>
        </p:nvSpPr>
        <p:spPr/>
        <p:txBody>
          <a:bodyPr/>
          <a:lstStyle/>
          <a:p>
            <a:r>
              <a:rPr sz="1400"/>
              <a:t>What does a solid red ERR LED on a PLC CPU indicate?</a:t>
            </a:r>
          </a:p>
          <a:p>
            <a:r>
              <a:rPr sz="1400"/>
              <a:t>Normal operation | Minor fault — program still running | Major fault — CPU halted, outputs de-energized | Communication error only</a:t>
            </a:r>
          </a:p>
        </p:txBody>
      </p:sp>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p:cNvSpPr>
            <a:spLocks noGrp="1"/>
          </p:cNvSpPr>
          <p:nvPr>
            <p:ph type="title"/>
          </p:nvPr>
        </p:nvSpPr>
        <p:spPr/>
        <p:txBody>
          <a:bodyPr/>
          <a:lstStyle/>
          <a:p>
            <a:r>
              <a:rPr sz="2800" b="1"/>
              <a:solidFill>
                <a:srgbClr val="1E3A5F"/>
              </a:solidFill>
              <a:t>Quiz</a:t>
            </a:r>
          </a:p>
        </p:txBody>
      </p:sp>
      <p:sp>
        <p:nvSpPr>
          <p:cNvPr id="3" name="Content"/>
          <p:cNvSpPr>
            <a:spLocks noGrp="1"/>
          </p:cNvSpPr>
          <p:nvPr>
            <p:ph idx="1" type="body"/>
          </p:nvPr>
        </p:nvSpPr>
        <p:spPr/>
        <p:txBody>
          <a:bodyPr/>
          <a:lstStyle/>
          <a:p>
            <a:r>
              <a:rPr sz="1400"/>
              <a:t>A digital input module channel LED is dark, but the proximity sensor's own LED is lit. Where is the most likely problem?</a:t>
            </a:r>
          </a:p>
          <a:p>
            <a:r>
              <a:rPr sz="1400"/>
              <a:t>The PLC program has a bug | The wiring between the sensor and the module | The sensor is faulty | The CPU is in PROGRAM mode</a:t>
            </a:r>
          </a:p>
        </p:txBody>
      </p:sp>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p:cNvSpPr>
            <a:spLocks noGrp="1"/>
          </p:cNvSpPr>
          <p:nvPr>
            <p:ph type="title"/>
          </p:nvPr>
        </p:nvSpPr>
        <p:spPr/>
        <p:txBody>
          <a:bodyPr/>
          <a:lstStyle/>
          <a:p>
            <a:r>
              <a:rPr sz="2800" b="1"/>
              <a:solidFill>
                <a:srgbClr val="1E3A5F"/>
              </a:solidFill>
              <a:t>Quiz</a:t>
            </a:r>
          </a:p>
        </p:txBody>
      </p:sp>
      <p:sp>
        <p:nvSpPr>
          <p:cNvPr id="3" name="Content"/>
          <p:cNvSpPr>
            <a:spLocks noGrp="1"/>
          </p:cNvSpPr>
          <p:nvPr>
            <p:ph idx="1" type="body"/>
          </p:nvPr>
        </p:nvSpPr>
        <p:spPr/>
        <p:txBody>
          <a:bodyPr/>
          <a:lstStyle/>
          <a:p>
            <a:r>
              <a:rPr sz="1400"/>
              <a:t>You read 0mA on a 4–20mA pressure transmitter circuit. What does this indicate?</a:t>
            </a:r>
          </a:p>
          <a:p>
            <a:r>
              <a:rPr sz="1400"/>
              <a:t>Zero pressure — everything is normal | A broken wire or disconnected transmitter | The transmitter is reading negative pressure | The analog module is faulty</a:t>
            </a:r>
          </a:p>
        </p:txBody>
      </p:sp>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p:cNvSpPr>
            <a:spLocks noGrp="1"/>
          </p:cNvSpPr>
          <p:nvPr>
            <p:ph type="title"/>
          </p:nvPr>
        </p:nvSpPr>
        <p:spPr/>
        <p:txBody>
          <a:bodyPr/>
          <a:lstStyle/>
          <a:p>
            <a:r>
              <a:rPr sz="2800" b="1"/>
              <a:solidFill>
                <a:srgbClr val="1E3A5F"/>
              </a:solidFill>
              <a:t>Quiz</a:t>
            </a:r>
          </a:p>
        </p:txBody>
      </p:sp>
      <p:sp>
        <p:nvSpPr>
          <p:cNvPr id="3" name="Content"/>
          <p:cNvSpPr>
            <a:spLocks noGrp="1"/>
          </p:cNvSpPr>
          <p:nvPr>
            <p:ph idx="1" type="body"/>
          </p:nvPr>
        </p:nvSpPr>
        <p:spPr/>
        <p:txBody>
          <a:bodyPr/>
          <a:lstStyle/>
          <a:p>
            <a:r>
              <a:rPr sz="1400"/>
              <a:t>Why should fuses be checked BEFORE troubleshooting in PLC software?</a:t>
            </a:r>
          </a:p>
          <a:p>
            <a:r>
              <a:rPr sz="1400"/>
              <a:t>Fuses are expensive and should be checked regularly | A blown fuse can make an output appear to fail even though the PLC is commanding it ON | PLC software cannot detect fuse status | It's an OSHA requirement</a:t>
            </a:r>
          </a:p>
        </p:txBody>
      </p:sp>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p:cNvSpPr>
            <a:spLocks noGrp="1"/>
          </p:cNvSpPr>
          <p:nvPr>
            <p:ph type="title"/>
          </p:nvPr>
        </p:nvSpPr>
        <p:spPr/>
        <p:txBody>
          <a:bodyPr/>
          <a:lstStyle/>
          <a:p>
            <a:r>
              <a:rPr sz="2800" b="1"/>
              <a:solidFill>
                <a:srgbClr val="1E3A5F"/>
              </a:solidFill>
              <a:t>Quiz</a:t>
            </a:r>
          </a:p>
        </p:txBody>
      </p:sp>
      <p:sp>
        <p:nvSpPr>
          <p:cNvPr id="3" name="Content"/>
          <p:cNvSpPr>
            <a:spLocks noGrp="1"/>
          </p:cNvSpPr>
          <p:nvPr>
            <p:ph idx="1" type="body"/>
          </p:nvPr>
        </p:nvSpPr>
        <p:spPr/>
        <p:txBody>
          <a:bodyPr/>
          <a:lstStyle/>
          <a:p>
            <a:r>
              <a:rPr sz="1400"/>
              <a:t>What is the purpose of star-point grounding in a PLC cabinet?</a:t>
            </a:r>
          </a:p>
          <a:p>
            <a:r>
              <a:rPr sz="1400"/>
              <a:t>To provide backup power | To prevent ground loops and ensure all ground paths converge at a single reference point | To increase cable length capacity | To protect against lightning</a:t>
            </a:r>
          </a:p>
        </p:txBody>
      </p:sp>
    </p:spTree>
  </p:cSld>
</p:sld>
</file>