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Lst>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11" Type="http://schemas.openxmlformats.org/officeDocument/2006/relationships/slide" Target="slides/slide1.xml"/>
<Relationship Id="rId12" Type="http://schemas.openxmlformats.org/officeDocument/2006/relationships/slide" Target="slides/slide2.xml"/>
<Relationship Id="rId13" Type="http://schemas.openxmlformats.org/officeDocument/2006/relationships/slide" Target="slides/slide3.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p:spTree>
  </p:cSld>
</p:sldLayout>
</file>

<file path=ppt/slideMasters/_rels/slideMaster1.xml.rels><?xml version="1.0"?><Relationships xmlns="http://schemas.openxmlformats.org/package/2006/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sldMaster>
</file>

<file path=ppt/slides/_rels/slide1.xml.rels><?xml version="1.0"?><Relationships xmlns="http://schemas.openxmlformats.org/package/2006/relationships">
<Relationship Id="rId1" Type="http://schemas.openxmlformats.org/officeDocument/2006/relationships/slideLayout" Target="../slideLayouts/slideLayout1.xml"/>
</Relationships>
</file>

<file path=ppt/slides/_rels/slide2.xml.rels><?xml version="1.0"?><Relationships xmlns="http://schemas.openxmlformats.org/package/2006/relationships">
<Relationship Id="rId1" Type="http://schemas.openxmlformats.org/officeDocument/2006/relationships/slideLayout" Target="../slideLayouts/slideLayout1.xml"/>
</Relationships>
</file>

<file path=ppt/slides/_rels/slide3.xml.rels><?xml version="1.0"?><Relationships xmlns="http://schemas.openxmlformats.org/package/2006/relationships">
<Relationship Id="rId1" Type="http://schemas.openxmlformats.org/officeDocument/2006/relationships/slideLayout" Target="../slideLayouts/slideLayout1.xml"/>
</Relationships>
</file>

<file path=ppt/slides/_rels/slide4.xml.rels><?xml version="1.0"?><Relationships xmlns="http://schemas.openxmlformats.org/package/2006/relationships">
<Relationship Id="rId1" Type="http://schemas.openxmlformats.org/officeDocument/2006/relationships/slideLayout" Target="../slideLayouts/slideLayout1.xml"/>
</Relationships>
</file>

<file path=ppt/slides/_rels/slide5.xml.rels><?xml version="1.0"?><Relationships xmlns="http://schemas.openxmlformats.org/package/2006/relationships">
<Relationship Id="rId1" Type="http://schemas.openxmlformats.org/officeDocument/2006/relationships/slideLayout" Target="../slideLayouts/slideLayout1.xml"/>
</Relationships>
</file>

<file path=ppt/slides/_rels/slide6.xml.rels><?xml version="1.0"?><Relationships xmlns="http://schemas.openxmlformats.org/package/2006/relationships">
<Relationship Id="rId1" Type="http://schemas.openxmlformats.org/officeDocument/2006/relationships/slideLayout" Target="../slideLayouts/slideLayout1.xml"/>
</Relationships>
</file>

<file path=ppt/slides/_rels/slide7.xml.rels><?xml version="1.0"?><Relationships xmlns="http://schemas.openxmlformats.org/package/2006/relationships">
<Relationship Id="rId1" Type="http://schemas.openxmlformats.org/officeDocument/2006/relationships/slideLayout" Target="../slideLayouts/slideLayout1.xml"/>
</Relationships>
</file>

<file path=ppt/slides/_rels/slide8.xml.rels><?xml version="1.0"?><Relationships xmlns="http://schemas.openxmlformats.org/package/2006/relationships">
<Relationship Id="rId1" Type="http://schemas.openxmlformats.org/officeDocument/2006/relationships/slideLayout" Target="../slideLayouts/slideLayout1.xml"/>
</Relationships>
</file>

<file path=ppt/slides/_rels/slide9.xml.rels><?xml version="1.0"?><Relationships xmlns="http://schemas.openxmlformats.org/package/2006/relationships">
<Relationship Id="rId1" Type="http://schemas.openxmlformats.org/officeDocument/2006/relationships/slideLayout" Target="../slideLayouts/slideLayout1.xml"/>
</Relationships>
</file>

<file path=ppt/slides/_rels/slide10.xml.rels><?xml version="1.0"?><Relationships xmlns="http://schemas.openxmlformats.org/package/2006/relationships">
<Relationship Id="rId1" Type="http://schemas.openxmlformats.org/officeDocument/2006/relationships/slideLayout" Target="../slideLayouts/slideLayout1.xml"/>
</Relationships>
</file>

<file path=ppt/slides/_rels/slide11.xml.rels><?xml version="1.0"?><Relationships xmlns="http://schemas.openxmlformats.org/package/2006/relationships">
<Relationship Id="rId1" Type="http://schemas.openxmlformats.org/officeDocument/2006/relationships/slideLayout" Target="../slideLayouts/slideLayout1.xml"/>
</Relationships>
</file>

<file path=ppt/slides/_rels/slide12.xml.rels><?xml version="1.0"?><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Module 0: Electrical Safety &amp; LOTO</a:t>
            </a:r>
          </a:p>
        </p:txBody>
      </p:sp>
      <p:sp>
        <p:nvSpPr>
          <p:cNvPr id="3" name="Content"/>
          <p:cNvSpPr>
            <a:spLocks noGrp="1"/>
          </p:cNvSpPr>
          <p:nvPr>
            <p:ph idx="1" type="body"/>
          </p:nvPr>
        </p:nvSpPr>
        <p:spPr/>
        <p:txBody>
          <a:bodyPr/>
          <a:lstStyle/>
          <a:p>
            <a:r>
              <a:rPr sz="1400"/>
              <a:t>PLC Tabletop Training Program · Lecture · 0.5 h</a:t>
            </a:r>
          </a:p>
          <a:p>
            <a:r>
              <a:rPr sz="1400"/>
              <a:t>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Learning objectives</a:t>
            </a:r>
          </a:p>
        </p:txBody>
      </p:sp>
      <p:sp>
        <p:nvSpPr>
          <p:cNvPr id="3" name="Content"/>
          <p:cNvSpPr>
            <a:spLocks noGrp="1"/>
          </p:cNvSpPr>
          <p:nvPr>
            <p:ph idx="1" type="body"/>
          </p:nvPr>
        </p:nvSpPr>
        <p:spPr/>
        <p:txBody>
          <a:bodyPr/>
          <a:lstStyle/>
          <a:p>
            <a:r>
              <a:rPr sz="1400"/>
              <a:t>Describe LOTO procedures (OSHA 29 CFR 1910.147) for PLC cabinets</a:t>
            </a:r>
          </a:p>
          <a:p>
            <a:r>
              <a:rPr sz="1400"/>
              <a:t>Identify when energized troubleshooting is permitted vs. when LOTO is required</a:t>
            </a:r>
          </a:p>
          <a:p>
            <a:r>
              <a:rPr sz="1400"/>
              <a:t>Understand arc flash PPE categories for PLC cabinet voltages</a:t>
            </a:r>
          </a:p>
          <a:p>
            <a:r>
              <a:rPr sz="1400"/>
              <a:t>Demonstrate safe multimeter use and proper CAT-rated equipment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Overview</a:t>
            </a:r>
          </a:p>
        </p:txBody>
      </p:sp>
      <p:sp>
        <p:nvSpPr>
          <p:cNvPr id="3" name="Content"/>
          <p:cNvSpPr>
            <a:spLocks noGrp="1"/>
          </p:cNvSpPr>
          <p:nvPr>
            <p:ph idx="1" type="body"/>
          </p:nvPr>
        </p:nvSpPr>
        <p:spPr/>
        <p:txBody>
          <a:bodyPr/>
          <a:lstStyle/>
          <a:p>
            <a:r>
              <a:rPr sz="1400"/>
              <a:t>Personnel safety fundamentals required before any hands-on work. Covers lockout/tagout, arc flash awareness, and safe work practices.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Lockout/Tagout for PLC Cabinets</a:t>
            </a:r>
          </a:p>
        </p:txBody>
      </p:sp>
      <p:sp>
        <p:nvSpPr>
          <p:cNvPr id="3" name="Content"/>
          <p:cNvSpPr>
            <a:spLocks noGrp="1"/>
          </p:cNvSpPr>
          <p:nvPr>
            <p:ph idx="1" type="body"/>
          </p:nvPr>
        </p:nvSpPr>
        <p:spPr/>
        <p:txBody>
          <a:bodyPr/>
          <a:lstStyle/>
          <a:p>
            <a:r>
              <a:rPr sz="1400"/>
              <a:t>When and how to lock out a PLC cabinet safely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Lockout/Tagout for PLC Cabinets (content)</a:t>
            </a:r>
          </a:p>
        </p:txBody>
      </p:sp>
      <p:sp>
        <p:nvSpPr>
          <p:cNvPr id="3" name="Content"/>
          <p:cNvSpPr>
            <a:spLocks noGrp="1"/>
          </p:cNvSpPr>
          <p:nvPr>
            <p:ph idx="1" type="body"/>
          </p:nvPr>
        </p:nvSpPr>
        <p:spPr/>
        <p:txBody>
          <a:bodyPr/>
          <a:lstStyle/>
          <a:p>
            <a:r>
              <a:rPr sz="1400"/>
              <a:t>Before any hands-on work with PLC equipment, you must understand the difference between troubleshooting (which may be performed energized under specific conditions) and repair/maintenance (which requires full lockout/tagout).</a:t>
            </a:r>
          </a:p>
          <a:p>
            <a:r>
              <a:rPr sz="1400"/>
              <a:t>[DANGER] Critical Safety Rule: Never perform component replacement, wiring changes, or module swaps on an energized cabinet. LOTO is mandatory for all physical modifications.</a:t>
            </a:r>
          </a:p>
          <a:p>
            <a:r>
              <a:rPr sz="1400"/>
              <a:t>→ LOTO Procedure for PLC Cabinets</a:t>
            </a:r>
          </a:p>
          <a:p>
            <a:r>
              <a:rPr sz="1400"/>
              <a:t>• Notify all affected personnel that the equipment will be locked out</a:t>
            </a:r>
          </a:p>
          <a:p>
            <a:r>
              <a:rPr sz="1400"/>
              <a:t>• Identify the main disconnect switch on the PLC cabinet door (rotary disconnect or MCCB with door-interlock handle)</a:t>
            </a:r>
          </a:p>
          <a:p>
            <a:r>
              <a:rPr sz="1400"/>
              <a:t>• Shut down the controlled equipment through normal stopping procedures</a:t>
            </a:r>
          </a:p>
          <a:p>
            <a:r>
              <a:rPr sz="1400"/>
              <a:t>• Move the disconnect to the OFF position</a:t>
            </a:r>
          </a:p>
          <a:p>
            <a:r>
              <a:rPr sz="1400"/>
              <a:t>• Apply your personal lock and tag to the disconnect — each person working on the cabinet applies their own lock</a:t>
            </a:r>
          </a:p>
          <a:p>
            <a:r>
              <a:rPr sz="1400"/>
              <a:t>• Verify zero energy: use a CAT III or CAT IV rated multimeter to confirm no voltage is present at the PLC power supply input terminals and any auxiliary power feeds</a:t>
            </a:r>
          </a:p>
          <a:p>
            <a:r>
              <a:rPr sz="1400"/>
              <a:t>• Check for stored energy — capacitors in VFDs and servo drives may retain charge after disconnect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Lockout/Tagout for PLC Cabinets (content)</a:t>
            </a:r>
          </a:p>
        </p:txBody>
      </p:sp>
      <p:sp>
        <p:nvSpPr>
          <p:cNvPr id="3" name="Content"/>
          <p:cNvSpPr>
            <a:spLocks noGrp="1"/>
          </p:cNvSpPr>
          <p:nvPr>
            <p:ph idx="1" type="body"/>
          </p:nvPr>
        </p:nvSpPr>
        <p:spPr/>
        <p:txBody>
          <a:bodyPr/>
          <a:lstStyle/>
          <a:p>
            <a:r>
              <a:rPr sz="1400"/>
              <a:t>[WARNING] Watch For: Some PLC cabinets have multiple power sources — a main 480VAC feed, a separate 120VAC convenience circuit, and possibly a UPS. All sources must be identified and locked out.</a:t>
            </a:r>
          </a:p>
          <a:p>
            <a:r>
              <a:rPr sz="1400"/>
              <a:t>→ Energized Troubleshooting — When Is It Permitted?</a:t>
            </a:r>
          </a:p>
          <a:p>
            <a:r>
              <a:rPr sz="1400"/>
              <a:t>Under NFPA 70E, live electrical work is permitted when de-energizing creates a greater hazard or when the task is infeasible without power. For PLC troubleshooting, this typically means:</a:t>
            </a:r>
          </a:p>
          <a:p>
            <a:r>
              <a:rPr sz="1400"/>
              <a:t>• Reading PLC status LEDs, HMI screens, and I/O module indicators (visual inspection only)</a:t>
            </a:r>
          </a:p>
          <a:p>
            <a:r>
              <a:rPr sz="1400"/>
              <a:t>• Connecting a laptop to the PLC's Ethernet port for software monitoring</a:t>
            </a:r>
          </a:p>
          <a:p>
            <a:r>
              <a:rPr sz="1400"/>
              <a:t>• Using a multimeter to measure voltages at terminal blocks (with appropriate PPE)</a:t>
            </a:r>
          </a:p>
          <a:p>
            <a:r>
              <a:rPr sz="1400"/>
              <a:t>• Temporarily forcing I/O in software for diagnostic purposes</a:t>
            </a:r>
          </a:p>
          <a:p>
            <a:r>
              <a:rPr sz="1400"/>
              <a:t>Any time you need to disconnect wires, swap modules, or replace components, you must lock out first.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Arc Flash Awareness &amp; Safe Practices</a:t>
            </a:r>
          </a:p>
        </p:txBody>
      </p:sp>
      <p:sp>
        <p:nvSpPr>
          <p:cNvPr id="3" name="Content"/>
          <p:cNvSpPr>
            <a:spLocks noGrp="1"/>
          </p:cNvSpPr>
          <p:nvPr>
            <p:ph idx="1" type="body"/>
          </p:nvPr>
        </p:nvSpPr>
        <p:spPr/>
        <p:txBody>
          <a:bodyPr/>
          <a:lstStyle/>
          <a:p>
            <a:r>
              <a:rPr sz="1400"/>
              <a:t>PPE requirements and safe work practices for electrical work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Arc Flash Awareness &amp; Safe Practices (content)</a:t>
            </a:r>
          </a:p>
        </p:txBody>
      </p:sp>
      <p:sp>
        <p:nvSpPr>
          <p:cNvPr id="3" name="Content"/>
          <p:cNvSpPr>
            <a:spLocks noGrp="1"/>
          </p:cNvSpPr>
          <p:nvPr>
            <p:ph idx="1" type="body"/>
          </p:nvPr>
        </p:nvSpPr>
        <p:spPr/>
        <p:txBody>
          <a:bodyPr/>
          <a:lstStyle/>
          <a:p>
            <a:r>
              <a:rPr sz="1400"/>
              <a:t>Arc flash is an explosive release of energy caused by an electrical fault. While rare at 24VDC control voltages, PLC cabinets often contain 480VAC power feeds, 240VAC heater circuits, or 120VAC auxiliary power that pose real arc flash risk.</a:t>
            </a:r>
          </a:p>
          <a:p>
            <a:r>
              <a:rPr sz="1400"/>
              <a:t>→ Reading Arc Flash Labels</a:t>
            </a:r>
          </a:p>
          <a:p>
            <a:r>
              <a:rPr sz="1400"/>
              <a:t>Every electrical panel should have an arc flash label showing the incident energy level (in cal/cm²), the arc flash boundary, and the required PPE category. Before opening any cabinet, read this label.</a:t>
            </a:r>
          </a:p>
          <a:p>
            <a:r>
              <a:rPr sz="1400"/>
              <a:t>Table: PPE Category | Typical Energy | Required PPE | Typical Application</a:t>
            </a:r>
          </a:p>
          <a:p>
            <a:r>
              <a:rPr sz="1400"/>
              <a:t>  • Cat 1 | 4 cal/cm² | Arc-rated shirt, safety glasses | 24VDC control panels only</a:t>
            </a:r>
          </a:p>
          <a:p>
            <a:r>
              <a:rPr sz="1400"/>
              <a:t>  • Cat 2 | 8 cal/cm² | Arc-rated shirt/pants, face shield | 120/240VAC with limited fault current</a:t>
            </a:r>
          </a:p>
          <a:p>
            <a:r>
              <a:rPr sz="1400"/>
              <a:t>  • Cat 3 | 25 cal/cm² | Arc flash suit, hood | 480VAC motor control centers</a:t>
            </a:r>
          </a:p>
          <a:p>
            <a:r>
              <a:rPr sz="1400"/>
              <a:t>  • Cat 4 | 40 cal/cm² | Full arc flash suit, double-layer | High-energy 480VAC+ systems</a:t>
            </a:r>
          </a:p>
          <a:p>
            <a:r>
              <a:rPr sz="1400"/>
              <a:t>→ Safe Multimeter Practices</a:t>
            </a:r>
          </a:p>
          <a:p>
            <a:r>
              <a:rPr sz="1400"/>
              <a:t>• CAT Rating: Use a CAT III rated meter minimum for PLC cabinet work. CAT IV for work at or near the service entrance.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Arc Flash Awareness &amp; Safe Practices (content)</a:t>
            </a:r>
          </a:p>
        </p:txBody>
      </p:sp>
      <p:sp>
        <p:nvSpPr>
          <p:cNvPr id="3" name="Content"/>
          <p:cNvSpPr>
            <a:spLocks noGrp="1"/>
          </p:cNvSpPr>
          <p:nvPr>
            <p:ph idx="1" type="body"/>
          </p:nvPr>
        </p:nvSpPr>
        <p:spPr/>
        <p:txBody>
          <a:bodyPr/>
          <a:lstStyle/>
          <a:p>
            <a:r>
              <a:rPr sz="1400"/>
              <a:t>• Test leads: Inspect leads for cracked insulation before every use. Replace damaged leads immediately.</a:t>
            </a:r>
          </a:p>
          <a:p>
            <a:r>
              <a:rPr sz="1400"/>
              <a:t>• Probe technique: Use one hand whenever possible. Hook one lead, then probe with the other.</a:t>
            </a:r>
          </a:p>
          <a:p>
            <a:r>
              <a:rPr sz="1400"/>
              <a:t>• Verify your meter: Test on a known live source before and after testing a de-energized circuit.</a:t>
            </a:r>
          </a:p>
          <a:p>
            <a:r>
              <a:rPr sz="1400"/>
              <a:t>[INFO] For This Training: The tabletop PLC bench operates at 24VDC and 120VAC. While the risk level is lower than production equipment, we will practice the same safe work habits here that you'll use on the plant floor.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When is LOTO required for PLC cabinet work?</a:t>
            </a:r>
          </a:p>
          <a:p>
            <a:r>
              <a:rPr sz="1400"/>
              <a:t>Only during a complete system shutdown | Any time you need to disconnect wires, swap modules, or replace components | Only when working above 480VAC | Only when the supervisor says so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What should you do FIRST when approaching an unfamiliar PLC cabinet?</a:t>
            </a:r>
          </a:p>
          <a:p>
            <a:r>
              <a:rPr sz="1400"/>
              <a:t>Open the door and look inside | Read the arc flash label on the outside | Connect your laptop | Turn off the main disconnect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A PLC cabinet has both a 480VAC main feed and a separate 120VAC UPS. You lock out only the main disconnect. Is the cabinet safe to work on?</a:t>
            </a:r>
          </a:p>
          <a:p>
            <a:r>
              <a:rPr sz="1400"/>
              <a:t>Yes — the main disconnect covers everything | No — the UPS is a separate source and must also be locked out | Yes — 120VAC is not dangerous | It depends on the work being done</a:t>
            </a:r>
          </a:p>
        </p:txBody>
      </p:sp>
    </p:spTree>
  </p:cSld>
</p:sld>
</file>