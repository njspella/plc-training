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Lst>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11" Type="http://schemas.openxmlformats.org/officeDocument/2006/relationships/slide" Target="slides/slide1.xml"/>
<Relationship Id="rId12" Type="http://schemas.openxmlformats.org/officeDocument/2006/relationships/slide" Target="slides/slide2.xml"/>
<Relationship Id="rId13" Type="http://schemas.openxmlformats.org/officeDocument/2006/relationships/slide" Target="slides/slide3.xml"/>
<Relationship Id="rId14" Type="http://schemas.openxmlformats.org/officeDocument/2006/relationships/slide" Target="slides/slide4.xml"/>
<Relationship Id="rId15" Type="http://schemas.openxmlformats.org/officeDocument/2006/relationships/slide" Target="slides/slide5.xml"/>
<Relationship Id="rId16" Type="http://schemas.openxmlformats.org/officeDocument/2006/relationships/slide" Target="slides/slide6.xml"/>
<Relationship Id="rId17" Type="http://schemas.openxmlformats.org/officeDocument/2006/relationships/slide" Target="slides/slide7.xml"/>
<Relationship Id="rId18" Type="http://schemas.openxmlformats.org/officeDocument/2006/relationships/slide" Target="slides/slide8.xml"/>
<Relationship Id="rId19" Type="http://schemas.openxmlformats.org/officeDocument/2006/relationships/slide" Target="slides/slide9.xml"/>
<Relationship Id="rId20" Type="http://schemas.openxmlformats.org/officeDocument/2006/relationships/slide" Target="slides/slide10.xml"/>
<Relationship Id="rId21" Type="http://schemas.openxmlformats.org/officeDocument/2006/relationships/slide" Target="slides/slide11.xml"/>
<Relationship Id="rId22" Type="http://schemas.openxmlformats.org/officeDocument/2006/relationships/slide" Target="slides/slide12.xml"/>
<Relationship Id="rId23" Type="http://schemas.openxmlformats.org/officeDocument/2006/relationships/slide" Target="slides/slide13.xml"/>
<Relationship Id="rId24" Type="http://schemas.openxmlformats.org/officeDocument/2006/relationships/slide" Target="slides/slide14.xml"/>
<Relationship Id="rId25" Type="http://schemas.openxmlformats.org/officeDocument/2006/relationships/slide" Target="slides/slide15.xml"/>
<Relationship Id="rId26" Type="http://schemas.openxmlformats.org/officeDocument/2006/relationships/slide" Target="slides/slide16.xml"/>
<Relationship Id="rId27" Type="http://schemas.openxmlformats.org/officeDocument/2006/relationships/slide" Target="slides/slide17.xml"/>
<Relationship Id="rId28" Type="http://schemas.openxmlformats.org/officeDocument/2006/relationships/slide" Target="slides/slide18.xml"/>
<Relationship Id="rId29" Type="http://schemas.openxmlformats.org/officeDocument/2006/relationships/slide" Target="slides/slide19.xml"/>
<Relationship Id="rId30" Type="http://schemas.openxmlformats.org/officeDocument/2006/relationships/slide" Target="slides/slide20.xml"/>
<Relationship Id="rId31" Type="http://schemas.openxmlformats.org/officeDocument/2006/relationships/slide" Target="slides/slide21.xml"/>
<Relationship Id="rId32" Type="http://schemas.openxmlformats.org/officeDocument/2006/relationships/slide" Target="slides/slide22.xml"/>
<Relationship Id="rId33" Type="http://schemas.openxmlformats.org/officeDocument/2006/relationships/slide" Target="slides/slide23.xml"/>
<Relationship Id="rId34" Type="http://schemas.openxmlformats.org/officeDocument/2006/relationships/slide" Target="slides/slide24.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and Content">
    <p:spTree>
      <p:nvGrpSpPr>
        <p:cNvPr id="1" name=""/>
        <p:cNvGrpSpPr/>
        <p:nvPr/>
      </p:nvGrpSpPr>
      <p:grpSpPr/>
    </p:spTree>
  </p:cSld>
</p:sldLayout>
</file>

<file path=ppt/slideMasters/_rels/slideMaster1.xml.rels><?xml version="1.0"?><Relationships xmlns="http://schemas.openxmlformats.org/package/2006/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sldMaster>
</file>

<file path=ppt/slides/_rels/slide1.xml.rels><?xml version="1.0"?><Relationships xmlns="http://schemas.openxmlformats.org/package/2006/relationships">
<Relationship Id="rId1" Type="http://schemas.openxmlformats.org/officeDocument/2006/relationships/slideLayout" Target="../slideLayouts/slideLayout1.xml"/>
</Relationships>
</file>

<file path=ppt/slides/_rels/slide2.xml.rels><?xml version="1.0"?><Relationships xmlns="http://schemas.openxmlformats.org/package/2006/relationships">
<Relationship Id="rId1" Type="http://schemas.openxmlformats.org/officeDocument/2006/relationships/slideLayout" Target="../slideLayouts/slideLayout1.xml"/>
</Relationships>
</file>

<file path=ppt/slides/_rels/slide3.xml.rels><?xml version="1.0"?><Relationships xmlns="http://schemas.openxmlformats.org/package/2006/relationships">
<Relationship Id="rId1" Type="http://schemas.openxmlformats.org/officeDocument/2006/relationships/slideLayout" Target="../slideLayouts/slideLayout1.xml"/>
</Relationships>
</file>

<file path=ppt/slides/_rels/slide4.xml.rels><?xml version="1.0"?><Relationships xmlns="http://schemas.openxmlformats.org/package/2006/relationships">
<Relationship Id="rId1" Type="http://schemas.openxmlformats.org/officeDocument/2006/relationships/slideLayout" Target="../slideLayouts/slideLayout1.xml"/>
</Relationships>
</file>

<file path=ppt/slides/_rels/slide5.xml.rels><?xml version="1.0"?><Relationships xmlns="http://schemas.openxmlformats.org/package/2006/relationships">
<Relationship Id="rId1" Type="http://schemas.openxmlformats.org/officeDocument/2006/relationships/slideLayout" Target="../slideLayouts/slideLayout1.xml"/>
</Relationships>
</file>

<file path=ppt/slides/_rels/slide6.xml.rels><?xml version="1.0"?><Relationships xmlns="http://schemas.openxmlformats.org/package/2006/relationships">
<Relationship Id="rId1" Type="http://schemas.openxmlformats.org/officeDocument/2006/relationships/slideLayout" Target="../slideLayouts/slideLayout1.xml"/>
</Relationships>
</file>

<file path=ppt/slides/_rels/slide7.xml.rels><?xml version="1.0"?><Relationships xmlns="http://schemas.openxmlformats.org/package/2006/relationships">
<Relationship Id="rId1" Type="http://schemas.openxmlformats.org/officeDocument/2006/relationships/slideLayout" Target="../slideLayouts/slideLayout1.xml"/>
</Relationships>
</file>

<file path=ppt/slides/_rels/slide8.xml.rels><?xml version="1.0"?><Relationships xmlns="http://schemas.openxmlformats.org/package/2006/relationships">
<Relationship Id="rId1" Type="http://schemas.openxmlformats.org/officeDocument/2006/relationships/slideLayout" Target="../slideLayouts/slideLayout1.xml"/>
</Relationships>
</file>

<file path=ppt/slides/_rels/slide9.xml.rels><?xml version="1.0"?><Relationships xmlns="http://schemas.openxmlformats.org/package/2006/relationships">
<Relationship Id="rId1" Type="http://schemas.openxmlformats.org/officeDocument/2006/relationships/slideLayout" Target="../slideLayouts/slideLayout1.xml"/>
</Relationships>
</file>

<file path=ppt/slides/_rels/slide10.xml.rels><?xml version="1.0"?><Relationships xmlns="http://schemas.openxmlformats.org/package/2006/relationships">
<Relationship Id="rId1" Type="http://schemas.openxmlformats.org/officeDocument/2006/relationships/slideLayout" Target="../slideLayouts/slideLayout1.xml"/>
</Relationships>
</file>

<file path=ppt/slides/_rels/slide11.xml.rels><?xml version="1.0"?><Relationships xmlns="http://schemas.openxmlformats.org/package/2006/relationships">
<Relationship Id="rId1" Type="http://schemas.openxmlformats.org/officeDocument/2006/relationships/slideLayout" Target="../slideLayouts/slideLayout1.xml"/>
</Relationships>
</file>

<file path=ppt/slides/_rels/slide12.xml.rels><?xml version="1.0"?><Relationships xmlns="http://schemas.openxmlformats.org/package/2006/relationships">
<Relationship Id="rId1" Type="http://schemas.openxmlformats.org/officeDocument/2006/relationships/slideLayout" Target="../slideLayouts/slideLayout1.xml"/>
</Relationships>
</file>

<file path=ppt/slides/_rels/slide13.xml.rels><?xml version="1.0"?><Relationships xmlns="http://schemas.openxmlformats.org/package/2006/relationships">
<Relationship Id="rId1" Type="http://schemas.openxmlformats.org/officeDocument/2006/relationships/slideLayout" Target="../slideLayouts/slideLayout1.xml"/>
</Relationships>
</file>

<file path=ppt/slides/_rels/slide14.xml.rels><?xml version="1.0"?><Relationships xmlns="http://schemas.openxmlformats.org/package/2006/relationships">
<Relationship Id="rId1" Type="http://schemas.openxmlformats.org/officeDocument/2006/relationships/slideLayout" Target="../slideLayouts/slideLayout1.xml"/>
</Relationships>
</file>

<file path=ppt/slides/_rels/slide15.xml.rels><?xml version="1.0"?><Relationships xmlns="http://schemas.openxmlformats.org/package/2006/relationships">
<Relationship Id="rId1" Type="http://schemas.openxmlformats.org/officeDocument/2006/relationships/slideLayout" Target="../slideLayouts/slideLayout1.xml"/>
</Relationships>
</file>

<file path=ppt/slides/_rels/slide16.xml.rels><?xml version="1.0"?><Relationships xmlns="http://schemas.openxmlformats.org/package/2006/relationships">
<Relationship Id="rId1" Type="http://schemas.openxmlformats.org/officeDocument/2006/relationships/slideLayout" Target="../slideLayouts/slideLayout1.xml"/>
</Relationships>
</file>

<file path=ppt/slides/_rels/slide17.xml.rels><?xml version="1.0"?><Relationships xmlns="http://schemas.openxmlformats.org/package/2006/relationships">
<Relationship Id="rId1" Type="http://schemas.openxmlformats.org/officeDocument/2006/relationships/slideLayout" Target="../slideLayouts/slideLayout1.xml"/>
</Relationships>
</file>

<file path=ppt/slides/_rels/slide18.xml.rels><?xml version="1.0"?><Relationships xmlns="http://schemas.openxmlformats.org/package/2006/relationships">
<Relationship Id="rId1" Type="http://schemas.openxmlformats.org/officeDocument/2006/relationships/slideLayout" Target="../slideLayouts/slideLayout1.xml"/>
</Relationships>
</file>

<file path=ppt/slides/_rels/slide19.xml.rels><?xml version="1.0"?><Relationships xmlns="http://schemas.openxmlformats.org/package/2006/relationships">
<Relationship Id="rId1" Type="http://schemas.openxmlformats.org/officeDocument/2006/relationships/slideLayout" Target="../slideLayouts/slideLayout1.xml"/>
</Relationships>
</file>

<file path=ppt/slides/_rels/slide20.xml.rels><?xml version="1.0"?><Relationships xmlns="http://schemas.openxmlformats.org/package/2006/relationships">
<Relationship Id="rId1" Type="http://schemas.openxmlformats.org/officeDocument/2006/relationships/slideLayout" Target="../slideLayouts/slideLayout1.xml"/>
</Relationships>
</file>

<file path=ppt/slides/_rels/slide21.xml.rels><?xml version="1.0"?><Relationships xmlns="http://schemas.openxmlformats.org/package/2006/relationships">
<Relationship Id="rId1" Type="http://schemas.openxmlformats.org/officeDocument/2006/relationships/slideLayout" Target="../slideLayouts/slideLayout1.xml"/>
</Relationships>
</file>

<file path=ppt/slides/_rels/slide22.xml.rels><?xml version="1.0"?><Relationships xmlns="http://schemas.openxmlformats.org/package/2006/relationships">
<Relationship Id="rId1" Type="http://schemas.openxmlformats.org/officeDocument/2006/relationships/slideLayout" Target="../slideLayouts/slideLayout1.xml"/>
</Relationships>
</file>

<file path=ppt/slides/_rels/slide23.xml.rels><?xml version="1.0"?><Relationships xmlns="http://schemas.openxmlformats.org/package/2006/relationships">
<Relationship Id="rId1" Type="http://schemas.openxmlformats.org/officeDocument/2006/relationships/slideLayout" Target="../slideLayouts/slideLayout1.xml"/>
</Relationships>
</file>

<file path=ppt/slides/_rels/slide24.xml.rels><?xml version="1.0"?><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Module 4: Reading &amp; Troubleshooting Logic</a:t>
            </a:r>
          </a:p>
        </p:txBody>
      </p:sp>
      <p:sp>
        <p:nvSpPr>
          <p:cNvPr id="3" name="Content"/>
          <p:cNvSpPr>
            <a:spLocks noGrp="1"/>
          </p:cNvSpPr>
          <p:nvPr>
            <p:ph idx="1" type="body"/>
          </p:nvPr>
        </p:nvSpPr>
        <p:spPr/>
        <p:txBody>
          <a:bodyPr/>
          <a:lstStyle/>
          <a:p>
            <a:r>
              <a:rPr sz="1400"/>
              <a:t>PLC Tabletop Training Program · Hands-on Lab · 3.5 h</a:t>
            </a:r>
          </a:p>
          <a:p>
            <a:r>
              <a:rPr sz="1400"/>
              <a:t>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Learning objectives</a:t>
            </a:r>
          </a:p>
        </p:txBody>
      </p:sp>
      <p:sp>
        <p:nvSpPr>
          <p:cNvPr id="3" name="Content"/>
          <p:cNvSpPr>
            <a:spLocks noGrp="1"/>
          </p:cNvSpPr>
          <p:nvPr>
            <p:ph idx="1" type="body"/>
          </p:nvPr>
        </p:nvSpPr>
        <p:spPr/>
        <p:txBody>
          <a:bodyPr/>
          <a:lstStyle/>
          <a:p>
            <a:r>
              <a:rPr sz="1400"/>
              <a:t>Apply the 5-layer fault isolation model to systematically troubleshoot PLC issues</a:t>
            </a:r>
          </a:p>
          <a:p>
            <a:r>
              <a:rPr sz="1400"/>
              <a:t>Navigate the I/O dashboard to view real-time signal status</a:t>
            </a:r>
          </a:p>
          <a:p>
            <a:r>
              <a:rPr sz="1400"/>
              <a:t>Trace a signal from physical input through ladder logic to physical output</a:t>
            </a:r>
          </a:p>
          <a:p>
            <a:r>
              <a:rPr sz="1400"/>
              <a:t>Use forcing and monitoring tools safely and effectively</a:t>
            </a:r>
          </a:p>
          <a:p>
            <a:r>
              <a:rPr sz="1400"/>
              <a:t>Understand data types, tag structure, and variable scoping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Overview</a:t>
            </a:r>
          </a:p>
        </p:txBody>
      </p:sp>
      <p:sp>
        <p:nvSpPr>
          <p:cNvPr id="3" name="Content"/>
          <p:cNvSpPr>
            <a:spLocks noGrp="1"/>
          </p:cNvSpPr>
          <p:nvPr>
            <p:ph idx="1" type="body"/>
          </p:nvPr>
        </p:nvSpPr>
        <p:spPr/>
        <p:txBody>
          <a:bodyPr/>
          <a:lstStyle/>
          <a:p>
            <a:r>
              <a:rPr sz="1400"/>
              <a:t>Using I/O dashboards, tag browsers, and ladder logic editors to trace signals and diagnose faults across all three platforms.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Structured Troubleshooting Methodology</a:t>
            </a:r>
          </a:p>
        </p:txBody>
      </p:sp>
      <p:sp>
        <p:nvSpPr>
          <p:cNvPr id="3" name="Content"/>
          <p:cNvSpPr>
            <a:spLocks noGrp="1"/>
          </p:cNvSpPr>
          <p:nvPr>
            <p:ph idx="1" type="body"/>
          </p:nvPr>
        </p:nvSpPr>
        <p:spPr/>
        <p:txBody>
          <a:bodyPr/>
          <a:lstStyle/>
          <a:p>
            <a:r>
              <a:rPr sz="1400"/>
              <a:t>The 5-layer fault isolation model — a repeatable framework for diagnosis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Structured Troubleshooting Methodology (content)</a:t>
            </a:r>
          </a:p>
        </p:txBody>
      </p:sp>
      <p:sp>
        <p:nvSpPr>
          <p:cNvPr id="3" name="Content"/>
          <p:cNvSpPr>
            <a:spLocks noGrp="1"/>
          </p:cNvSpPr>
          <p:nvPr>
            <p:ph idx="1" type="body"/>
          </p:nvPr>
        </p:nvSpPr>
        <p:spPr/>
        <p:txBody>
          <a:bodyPr/>
          <a:lstStyle/>
          <a:p>
            <a:r>
              <a:rPr sz="1400"/>
              <a:t>Before diving into software tools, you need a systematic troubleshooting method. Random poking at the PLC wastes time. The 5-layer model isolates the fault location before you start fixing.</a:t>
            </a:r>
          </a:p>
          <a:p>
            <a:r>
              <a:rPr sz="1400"/>
              <a:t>→ The 5-Layer Fault Isolation Model</a:t>
            </a:r>
          </a:p>
          <a:p>
            <a:r>
              <a:rPr sz="1400"/>
              <a:t>When something isn't working, the fault exists in one of five layers. Work through them in order:</a:t>
            </a:r>
          </a:p>
          <a:p>
            <a:r>
              <a:rPr sz="1400"/>
              <a:t>• Physical Device — Is the field device itself working? Check sensor LEDs, listen for relay clicks, verify mechanical operation.</a:t>
            </a:r>
          </a:p>
          <a:p>
            <a:r>
              <a:rPr sz="1400"/>
              <a:t>• Wiring — Is the signal getting from the device to the PLC? Check terminal block connections, measure voltage with a multimeter, verify wire continuity.</a:t>
            </a:r>
          </a:p>
          <a:p>
            <a:r>
              <a:rPr sz="1400"/>
              <a:t>• I/O Module — Is the PLC module receiving/sending the signal? Check channel LEDs on the I/O card. A lit LED means the module sees the signal.</a:t>
            </a:r>
          </a:p>
          <a:p>
            <a:r>
              <a:rPr sz="1400"/>
              <a:t>• PLC Logic — Is the program processing the signal correctly? Go online and trace the ladder rung. Is a contact preventing power flow? Is a timer stuck?</a:t>
            </a:r>
          </a:p>
          <a:p>
            <a:r>
              <a:rPr sz="1400"/>
              <a:t>• Network/HMI — Is the information reaching the operator? Check HMI communication, verify tag mappings, confirm alarm configuration.</a:t>
            </a:r>
          </a:p>
          <a:p>
            <a:r>
              <a:rPr sz="1400"/>
              <a:t>[INFO] Key Principle: Software tells you what the PLC thinks it sees. A multimeter tells you what's actually there. Always verify physical reality against software status. If they disagree, the truth is in the physical measurement.</a:t>
            </a:r>
          </a:p>
          <a:p>
            <a:r>
              <a:rPr sz="1400"/>
              <a:t>→ Half-Split Troubleshooting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Structured Troubleshooting Methodology (content)</a:t>
            </a:r>
          </a:p>
        </p:txBody>
      </p:sp>
      <p:sp>
        <p:nvSpPr>
          <p:cNvPr id="3" name="Content"/>
          <p:cNvSpPr>
            <a:spLocks noGrp="1"/>
          </p:cNvSpPr>
          <p:nvPr>
            <p:ph idx="1" type="body"/>
          </p:nvPr>
        </p:nvSpPr>
        <p:spPr/>
        <p:txBody>
          <a:bodyPr/>
          <a:lstStyle/>
          <a:p>
            <a:r>
              <a:rPr sz="1400"/>
              <a:t>Start at the midpoint of the signal path to halve your search space. If the I/O module LED is lit (layer 3 is good), the problem is either in logic (layer 4) or HMI (layer 5) — you've eliminated layers 1–3 in one check.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Data Types &amp; Tag Structure</a:t>
            </a:r>
          </a:p>
        </p:txBody>
      </p:sp>
      <p:sp>
        <p:nvSpPr>
          <p:cNvPr id="3" name="Content"/>
          <p:cNvSpPr>
            <a:spLocks noGrp="1"/>
          </p:cNvSpPr>
          <p:nvPr>
            <p:ph idx="1" type="body"/>
          </p:nvPr>
        </p:nvSpPr>
        <p:spPr/>
        <p:txBody>
          <a:bodyPr/>
          <a:lstStyle/>
          <a:p>
            <a:r>
              <a:rPr sz="1400"/>
              <a:t>Understanding BOOL, INT, REAL, and tag naming conventions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Data Types &amp; Tag Structure (content)</a:t>
            </a:r>
          </a:p>
        </p:txBody>
      </p:sp>
      <p:sp>
        <p:nvSpPr>
          <p:cNvPr id="3" name="Content"/>
          <p:cNvSpPr>
            <a:spLocks noGrp="1"/>
          </p:cNvSpPr>
          <p:nvPr>
            <p:ph idx="1" type="body"/>
          </p:nvPr>
        </p:nvSpPr>
        <p:spPr/>
        <p:txBody>
          <a:bodyPr/>
          <a:lstStyle/>
          <a:p>
            <a:r>
              <a:rPr sz="1400"/>
              <a:t>Before reading tags in the I/O dashboard, you need to understand what you're looking at.</a:t>
            </a:r>
          </a:p>
          <a:p>
            <a:r>
              <a:rPr sz="1400"/>
              <a:t>Table: Data Type | Description | Example</a:t>
            </a:r>
          </a:p>
          <a:p>
            <a:r>
              <a:rPr sz="1400"/>
              <a:t>  • BOOL | True/False, ON/OFF, 1/0 | Proximity sensor state, push button state</a:t>
            </a:r>
          </a:p>
          <a:p>
            <a:r>
              <a:rPr sz="1400"/>
              <a:t>  • INT (16-bit) | Whole number -32,768 to 32,767 | Counter values, small setpoints</a:t>
            </a:r>
          </a:p>
          <a:p>
            <a:r>
              <a:rPr sz="1400"/>
              <a:t>  • DINT (32-bit) | Whole number ±2.1 billion | High-speed counter values, encoder counts</a:t>
            </a:r>
          </a:p>
          <a:p>
            <a:r>
              <a:rPr sz="1400"/>
              <a:t>  • REAL (floating point) | Decimal numbers | Temperature (72.5°F), pressure (45.3 PSI)</a:t>
            </a:r>
          </a:p>
          <a:p>
            <a:r>
              <a:rPr sz="1400"/>
              <a:t>  • STRING | Text | HMI messages, recipe names</a:t>
            </a:r>
          </a:p>
          <a:p>
            <a:r>
              <a:rPr sz="1400"/>
              <a:t>→ Tag Naming Conventions</a:t>
            </a:r>
          </a:p>
          <a:p>
            <a:r>
              <a:rPr sz="1400"/>
              <a:t>Good tag names follow a prefix-based convention that tells you the function area at a glance:</a:t>
            </a:r>
          </a:p>
          <a:p>
            <a:r>
              <a:rPr sz="1400"/>
              <a:t>• SAFETY_EStop — safety function, E-stop circuit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Data Types &amp; Tag Structure (content)</a:t>
            </a:r>
          </a:p>
        </p:txBody>
      </p:sp>
      <p:sp>
        <p:nvSpPr>
          <p:cNvPr id="3" name="Content"/>
          <p:cNvSpPr>
            <a:spLocks noGrp="1"/>
          </p:cNvSpPr>
          <p:nvPr>
            <p:ph idx="1" type="body"/>
          </p:nvPr>
        </p:nvSpPr>
        <p:spPr/>
        <p:txBody>
          <a:bodyPr/>
          <a:lstStyle/>
          <a:p>
            <a:r>
              <a:rPr sz="1400"/>
              <a:t>• MOTION_AxisHome — motion control, axis home position</a:t>
            </a:r>
          </a:p>
          <a:p>
            <a:r>
              <a:rPr sz="1400"/>
              <a:t>• HMI_CycleStart — HMI-triggered, cycle start command</a:t>
            </a:r>
          </a:p>
          <a:p>
            <a:r>
              <a:rPr sz="1400"/>
              <a:t>• CONV_ProxSensor1 — conveyor area, proximity sensor 1</a:t>
            </a:r>
          </a:p>
          <a:p>
            <a:r>
              <a:rPr sz="1400"/>
              <a:t>→ Global vs. Local Variables</a:t>
            </a:r>
          </a:p>
          <a:p>
            <a:r>
              <a:rPr sz="1400"/>
              <a:t>A global variable is accessible from any program block in the PLC project. A local (program-scoped) variable is only visible within its own routine. Most I/O tags and inter-program signals should be global. Temporary calculation variables can be local.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Reviewing Signals — Omron</a:t>
            </a:r>
          </a:p>
        </p:txBody>
      </p:sp>
      <p:sp>
        <p:nvSpPr>
          <p:cNvPr id="3" name="Content"/>
          <p:cNvSpPr>
            <a:spLocks noGrp="1"/>
          </p:cNvSpPr>
          <p:nvPr>
            <p:ph idx="1" type="body"/>
          </p:nvPr>
        </p:nvSpPr>
        <p:spPr/>
        <p:txBody>
          <a:bodyPr/>
          <a:lstStyle/>
          <a:p>
            <a:r>
              <a:rPr sz="1400"/>
              <a:t>I/O dashboard, variable monitoring, and live logic viewing in Sysmac Studio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Reviewing Signals — Omron (content)</a:t>
            </a:r>
          </a:p>
        </p:txBody>
      </p:sp>
      <p:sp>
        <p:nvSpPr>
          <p:cNvPr id="3" name="Content"/>
          <p:cNvSpPr>
            <a:spLocks noGrp="1"/>
          </p:cNvSpPr>
          <p:nvPr>
            <p:ph idx="1" type="body"/>
          </p:nvPr>
        </p:nvSpPr>
        <p:spPr/>
        <p:txBody>
          <a:bodyPr/>
          <a:lstStyle/>
          <a:p>
            <a:r>
              <a:rPr sz="1400"/>
              <a:t>→ The I/O Dashboard</a:t>
            </a:r>
          </a:p>
          <a:p>
            <a:r>
              <a:rPr sz="1400"/>
              <a:t>Open the I/O dashboard to see all input and output signals in a single view. Key columns:</a:t>
            </a:r>
          </a:p>
          <a:p>
            <a:r>
              <a:rPr sz="1400"/>
              <a:t>• Node column: Which I/O node/module the signal is connected to. If blank, it's a global variable defined in logic.</a:t>
            </a:r>
          </a:p>
          <a:p>
            <a:r>
              <a:rPr sz="1400"/>
              <a:t>• Variable name: The tag name used in the ladder logic</a:t>
            </a:r>
          </a:p>
          <a:p>
            <a:r>
              <a:rPr sz="1400"/>
              <a:t>• Current value: Live value — TRUE/FALSE for BOOL, numeric for INT/REAL</a:t>
            </a:r>
          </a:p>
          <a:p>
            <a:r>
              <a:rPr sz="1400"/>
              <a:t>→ Live Logic Viewing</a:t>
            </a:r>
          </a:p>
          <a:p>
            <a:r>
              <a:rPr sz="1400"/>
              <a:t>• Go to the Programs tab and expand it</a:t>
            </a:r>
          </a:p>
          <a:p>
            <a:r>
              <a:rPr sz="1400"/>
              <a:t>• Double-click a program/routine to open the ladder logic editor</a:t>
            </a:r>
          </a:p>
          <a:p>
            <a:r>
              <a:rPr sz="1400"/>
              <a:t>• Click the Monitor button (or toggle to online view) to see live values</a:t>
            </a:r>
          </a:p>
          <a:p>
            <a:r>
              <a:rPr sz="1400"/>
              <a:t>• Contacts that are passing power show as highlighted/colored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Reviewing Signals — Omron (content)</a:t>
            </a:r>
          </a:p>
        </p:txBody>
      </p:sp>
      <p:sp>
        <p:nvSpPr>
          <p:cNvPr id="3" name="Content"/>
          <p:cNvSpPr>
            <a:spLocks noGrp="1"/>
          </p:cNvSpPr>
          <p:nvPr>
            <p:ph idx="1" type="body"/>
          </p:nvPr>
        </p:nvSpPr>
        <p:spPr/>
        <p:txBody>
          <a:bodyPr/>
          <a:lstStyle/>
          <a:p>
            <a:r>
              <a:rPr sz="1400"/>
              <a:t>• Contacts that are blocking power show as not highlighted</a:t>
            </a:r>
          </a:p>
          <a:p>
            <a:r>
              <a:rPr sz="1400"/>
              <a:t>• Find the rung that is not working and identify which contact is blocking power flow</a:t>
            </a:r>
          </a:p>
          <a:p>
            <a:r>
              <a:rPr sz="1400"/>
              <a:t>[TIP] Cross-Reference: Right-click any tag in Sysmac Studio and select Cross Reference to see every rung where that tag is used. Essential for understanding complex programs.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Reviewing Signals — Allen Bradley</a:t>
            </a:r>
          </a:p>
        </p:txBody>
      </p:sp>
      <p:sp>
        <p:nvSpPr>
          <p:cNvPr id="3" name="Content"/>
          <p:cNvSpPr>
            <a:spLocks noGrp="1"/>
          </p:cNvSpPr>
          <p:nvPr>
            <p:ph idx="1" type="body"/>
          </p:nvPr>
        </p:nvSpPr>
        <p:spPr/>
        <p:txBody>
          <a:bodyPr/>
          <a:lstStyle/>
          <a:p>
            <a:r>
              <a:rPr sz="1400"/>
              <a:t>Monitor Tags, Tag Browser, and ladder logic tracing in Studio 5000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Reviewing Signals — Allen Bradley (content)</a:t>
            </a:r>
          </a:p>
        </p:txBody>
      </p:sp>
      <p:sp>
        <p:nvSpPr>
          <p:cNvPr id="3" name="Content"/>
          <p:cNvSpPr>
            <a:spLocks noGrp="1"/>
          </p:cNvSpPr>
          <p:nvPr>
            <p:ph idx="1" type="body"/>
          </p:nvPr>
        </p:nvSpPr>
        <p:spPr/>
        <p:txBody>
          <a:bodyPr/>
          <a:lstStyle/>
          <a:p>
            <a:r>
              <a:rPr sz="1400"/>
              <a:t>→ I/O Configuration</a:t>
            </a:r>
          </a:p>
          <a:p>
            <a:r>
              <a:rPr sz="1400"/>
              <a:t>In the Controller Organizer (left panel), expand I/O Configuration. Click any I/O module to view tag values mapped to that module. This shows you the physical layer — what the module is actually receiving.</a:t>
            </a:r>
          </a:p>
          <a:p>
            <a:r>
              <a:rPr sz="1400"/>
              <a:t>→ Monitor Tags</a:t>
            </a:r>
          </a:p>
          <a:p>
            <a:r>
              <a:rPr sz="1400"/>
              <a:t>Go to Logic &gt; Monitor Tags (or press Ctrl+W while online). The Tag Browser shows all tags with live values. Filter by name, data type, or scope.</a:t>
            </a:r>
          </a:p>
          <a:p>
            <a:r>
              <a:rPr sz="1400"/>
              <a:t>→ Tracing Ladder Logic</a:t>
            </a:r>
          </a:p>
          <a:p>
            <a:r>
              <a:rPr sz="1400"/>
              <a:t>Open a routine and go online. Studio 5000 highlights the power flow through each rung in green. Work left to right on a rung to find which contact is blocking power (not highlighted). That contact's input condition is the one preventing the output from energizing.</a:t>
            </a:r>
          </a:p>
          <a:p>
            <a:r>
              <a:rPr sz="1400"/>
              <a:t>→ Forcing I/O</a:t>
            </a:r>
          </a:p>
          <a:p>
            <a:r>
              <a:rPr sz="1400"/>
              <a:t>Right-click a tag in Monitor Tags and select Force ON or Force OFF. Forces override the physical signal — use with extreme caution.</a:t>
            </a:r>
          </a:p>
          <a:p>
            <a:r>
              <a:rPr sz="1400"/>
              <a:t>[DANGER] Force Safety: Forcing an output ON bypasses all safety logic. Only force I/O for diagnostic purposes on a locked-out/safe machine. Always remove all forces when done — check the force indicator in the status bar. A forgotten force on a production machine can cause serious injury.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Reviewing Signals — Productivity Suite</a:t>
            </a:r>
          </a:p>
        </p:txBody>
      </p:sp>
      <p:sp>
        <p:nvSpPr>
          <p:cNvPr id="3" name="Content"/>
          <p:cNvSpPr>
            <a:spLocks noGrp="1"/>
          </p:cNvSpPr>
          <p:nvPr>
            <p:ph idx="1" type="body"/>
          </p:nvPr>
        </p:nvSpPr>
        <p:spPr/>
        <p:txBody>
          <a:bodyPr/>
          <a:lstStyle/>
          <a:p>
            <a:r>
              <a:rPr sz="1400"/>
              <a:t>Data View, live monitoring, and signal tracing in Productivity Suite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Reviewing Signals — Productivity Suite (content)</a:t>
            </a:r>
          </a:p>
        </p:txBody>
      </p:sp>
      <p:sp>
        <p:nvSpPr>
          <p:cNvPr id="3" name="Content"/>
          <p:cNvSpPr>
            <a:spLocks noGrp="1"/>
          </p:cNvSpPr>
          <p:nvPr>
            <p:ph idx="1" type="body"/>
          </p:nvPr>
        </p:nvSpPr>
        <p:spPr/>
        <p:txBody>
          <a:bodyPr/>
          <a:lstStyle/>
          <a:p>
            <a:r>
              <a:rPr sz="1400"/>
              <a:t>→ Data View</a:t>
            </a:r>
          </a:p>
          <a:p>
            <a:r>
              <a:rPr sz="1400"/>
              <a:t>Go to View &gt; Data View (or click the Data View tab at the bottom). This shows a live table of all tag values: I/O points, internal memory bits, timers, and counters. The "Current Value" column updates in real time — discrete inputs show 0 (off) or 1 (on).</a:t>
            </a:r>
          </a:p>
          <a:p>
            <a:r>
              <a:rPr sz="1400"/>
              <a:t>→ Signal Tracing</a:t>
            </a:r>
          </a:p>
          <a:p>
            <a:r>
              <a:rPr sz="1400"/>
              <a:t>Open the ladder program and go online. Like the other platforms, power flow is visually highlighted. Identify blocked rungs by finding contacts that are not passing power, then investigate the associated physical device or upstream logic.</a:t>
            </a:r>
          </a:p>
          <a:p>
            <a:r>
              <a:rPr sz="1400"/>
              <a:t>Toggle a physical device and confirm the value changes in Data View to verify signal continuity from the field through to the PLC.</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Physical Input → Software Response</a:t>
            </a:r>
          </a:p>
        </p:txBody>
      </p:sp>
      <p:sp>
        <p:nvSpPr>
          <p:cNvPr id="3" name="Content"/>
          <p:cNvSpPr>
            <a:spLocks noGrp="1"/>
          </p:cNvSpPr>
          <p:nvPr>
            <p:ph idx="1" type="body"/>
          </p:nvPr>
        </p:nvSpPr>
        <p:spPr/>
        <p:txBody>
          <a:bodyPr/>
          <a:lstStyle/>
          <a:p>
            <a:r>
              <a:rPr sz="1400"/>
              <a:t>After: Structured Troubleshooting Methodology</a:t>
            </a:r>
          </a:p>
          <a:p>
            <a:r>
              <a:rPr sz="1400"/>
              <a:t>Duration: 10 min</a:t>
            </a:r>
          </a:p>
          <a:p>
            <a:r>
              <a:rPr sz="1400"/>
              <a:t>With the I/O dashboard open on the projected screen and the bench visible, have a student activate the proximity sensor. The class watches the tag change in real time.</a:t>
            </a:r>
          </a:p>
          <a:p>
            <a:r>
              <a:rPr sz="1400"/>
              <a:t>Students take turns activating inputs while the class calls out which tag changed. Repeat with limit switch and push button. Then reverse — show an output tag and watch the physical device.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Force I/O — See It, Respect It</a:t>
            </a:r>
          </a:p>
        </p:txBody>
      </p:sp>
      <p:sp>
        <p:nvSpPr>
          <p:cNvPr id="3" name="Content"/>
          <p:cNvSpPr>
            <a:spLocks noGrp="1"/>
          </p:cNvSpPr>
          <p:nvPr>
            <p:ph idx="1" type="body"/>
          </p:nvPr>
        </p:nvSpPr>
        <p:spPr/>
        <p:txBody>
          <a:bodyPr/>
          <a:lstStyle/>
          <a:p>
            <a:r>
              <a:rPr sz="1400"/>
              <a:t>After: Reviewing Signals — Allen Bradley</a:t>
            </a:r>
          </a:p>
          <a:p>
            <a:r>
              <a:rPr sz="1400"/>
              <a:t>Duration: 10 min</a:t>
            </a:r>
          </a:p>
          <a:p>
            <a:r>
              <a:rPr sz="1400"/>
              <a:t>Force an output ON — students watch the light tower illuminate even though no logic commands it. Then force an input. Then remove forces and show normal operation.</a:t>
            </a:r>
          </a:p>
          <a:p>
            <a:r>
              <a:rPr sz="1400"/>
              <a:t>Students observe the physical result of forcing. Trainer asks: 'What could go wrong if you force an output ON and forget?' Students locate the force indicator in each platform.</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Planted Fault — Full Signal Trace</a:t>
            </a:r>
          </a:p>
        </p:txBody>
      </p:sp>
      <p:sp>
        <p:nvSpPr>
          <p:cNvPr id="3" name="Content"/>
          <p:cNvSpPr>
            <a:spLocks noGrp="1"/>
          </p:cNvSpPr>
          <p:nvPr>
            <p:ph idx="1" type="body"/>
          </p:nvPr>
        </p:nvSpPr>
        <p:spPr/>
        <p:txBody>
          <a:bodyPr/>
          <a:lstStyle/>
          <a:p>
            <a:r>
              <a:rPr sz="1400"/>
              <a:t>After: Reviewing Signals — Productivity Suite</a:t>
            </a:r>
          </a:p>
          <a:p>
            <a:r>
              <a:rPr sz="1400"/>
              <a:t>Duration: 15 min</a:t>
            </a:r>
          </a:p>
          <a:p>
            <a:r>
              <a:rPr sz="1400"/>
              <a:t>Trainer pre-plants a fault (disconnected proximity sensor wire). Walk through the 5-layer model live: check output → check logic → check input tag → check module LED → check wiring → find disconnected wire.</a:t>
            </a:r>
          </a:p>
          <a:p>
            <a:r>
              <a:rPr sz="1400"/>
              <a:t>Students follow along and call out observations at each step. Guided walkthrough before independent scenarios in Module 7.</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In the 5-layer fault isolation model, what is Layer 1?</a:t>
            </a:r>
          </a:p>
          <a:p>
            <a:r>
              <a:rPr sz="1400"/>
              <a:t>PLC Logic | Physical Device | Wiring | I/O Module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A PLC input tag shows 0, but you measure 24VDC at the I/O module terminal with a multimeter. What layer has the fault?</a:t>
            </a:r>
          </a:p>
          <a:p>
            <a:r>
              <a:rPr sz="1400"/>
              <a:t>Layer 1 — Physical Device | Layer 2 — Wiring | Layer 3 — I/O Module | Layer 4 — PLC Logic</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What does it mean when a contact is highlighted/colored in online ladder logic view?</a:t>
            </a:r>
          </a:p>
          <a:p>
            <a:r>
              <a:rPr sz="1400"/>
              <a:t>The contact has an error | The contact is forcing the output OFF | The contact is passing power (its condition is TRUE) | The contact has been modified recently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What is the danger of forgetting to remove a forced output?</a:t>
            </a:r>
          </a:p>
          <a:p>
            <a:r>
              <a:rPr sz="1400"/>
              <a:t>It wastes PLC memory | It slows down the scan cycle | The output will stay ON regardless of safety logic, potentially causing injury | It corrupts the program file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A REAL data type tag reads 72.5. What kind of value could this represent?</a:t>
            </a:r>
          </a:p>
          <a:p>
            <a:r>
              <a:rPr sz="1400"/>
              <a:t>A Boolean state (ON/OFF) | A counter value | A temperature, pressure, or other continuous measurement | An error code</a:t>
            </a:r>
          </a:p>
        </p:txBody>
      </p:sp>
    </p:spTree>
  </p:cSld>
</p:sld>
</file>