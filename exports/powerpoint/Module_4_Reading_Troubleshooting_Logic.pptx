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g" ContentType="image/jpeg"/>
  <Default Extension="jpeg" ContentType="image/jpeg"/>
  <Default Extension="gif" ContentType="image/gif"/>
  <Default Extension="webp" ContentType="image/webp"/>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9144000" cy="6858000"/>
  <p:notesSz cx="6858000" cy="9144000"/>
  <p:defaultTextStyle/>
</p:presentation>
</file>

<file path=ppt/_rels/presentation.xml.rels><?xml version="1.0" encoding="UTF-8" standalone="yes"?>
<Relationships xmlns="http://schemas.openxmlformats.org/package/2006/relationships">
<Relationship Id="rId1" Type="http://schemas.openxmlformats.org/officeDocument/2006/relationships/slideMaster" Target="slideMasters/slideMaster1.xml"/>
<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s>
</file>

<file path=ppt/slideLayouts/_rels/slideLayout1.xml.rels><?xml version="1.0" encoding="UTF-8" standalone="yes"?>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p:sp>
        <p:nvSpPr>
          <p:cNvPr id="2" name="Title Placeholder"/>
          <p:cNvSpPr>
            <a:spLocks noGrp="1"/>
          </p:cNvSpPr>
          <p:nvPr>
            <p:ph type="title"/>
          </p:nvPr>
        </p:nvSpPr>
        <p:spPr>
          <a:xfrm>
            <a:off x="457200" y="142240"/>
            <a:ext cx="8229600" cy="900000"/>
          </a:xfrm>
          <a:prstGeom prst="rect">
            <a:avLst/>
          </a:prstGeom>
        </p:spPr>
        <p:txBody>
          <a:bodyPr/>
          <a:lstStyle/>
          <a:p/>
        </p:txBody>
      </p:sp>
      <p:sp>
        <p:nvSpPr>
          <p:cNvPr id="3" name="Content Placeholder"/>
          <p:cNvSpPr>
            <a:spLocks noGrp="1"/>
          </p:cNvSpPr>
          <p:nvPr>
            <p:ph idx="1" type="body"/>
          </p:nvPr>
        </p:nvSpPr>
        <p:spPr>
          <a:xfrm>
            <a:off x="457200" y="1171780"/>
            <a:ext cx="8229600" cy="5564300"/>
          </a:xfrm>
          <a:prstGeom prst="rect">
            <a:avLst/>
          </a:prstGeom>
        </p:spPr>
        <p:txBody>
          <a:bodyPr/>
          <a:lstStyle/>
          <a:p/>
        </p:txBody>
      </p:sp>
    </p:spTree>
  </p:cSld>
</p:sldLayout>
</file>

<file path=ppt/slideMasters/_rels/slideMaster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a:lvl1pPr algn="ctr">
        <a:defRPr sz="4400" b="1">
          <a:latin typeface="Calibri"/>
        </a:defRPr>
      </a:lvl1pPr>
    </p:titleStyle>
    <p:bodyStyle>
      <a:lvl1pPr>
        <a:defRPr sz="2800">
          <a:latin typeface="Calibri"/>
        </a:defRPr>
      </a:lvl1pPr>
    </p:body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5.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6.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7.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8.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9.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30.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AccentBar"/>
          <p:cNvSpPr/>
          <p:nvPr/>
        </p:nvSpPr>
        <p:spPr>
          <a:xfrm>
            <a:off x="0" y="0"/>
            <a:ext cx="9144000" cy="50800"/>
          </a:xfrm>
          <a:prstGeom prst="rect">
            <a:avLst/>
          </a:prstGeom>
          <a:gradFill rotWithShape="0">
            <a:gsLst>
              <a:gs pos="0">
                <a:srgbClr val="1E3A5F"/>
              </a:gs>
              <a:gs pos="100000">
                <a:srgbClr val="E8A820"/>
              </a:gs>
            </a:gsLst>
            <a:lin ang="0" scaled="0" flip="none"/>
          </a:gradFill>
        </p:spPr>
        <p:txBody>
          <a:bodyPr/>
          <a:lstStyle/>
          <a:p/>
        </p:txBody>
      </p:sp>
      <p:sp>
        <p:nvSpPr>
          <p:cNvPr id="7" name="FooterStrip"/>
          <p:cNvSpPr/>
          <p:nvPr/>
        </p:nvSpPr>
        <p:spPr>
          <a:xfrm>
            <a:off x="0" y="6781800"/>
            <a:ext cx="9144000" cy="76200"/>
          </a:xfrm>
          <a:prstGeom prst="rect">
            <a:avLst/>
          </a:prstGeom>
          <a:solidFill>
            <a:srgbClr val="F1F5F9"/>
          </a:solidFill>
          <a:ln>
            <a:noFill/>
          </a:ln>
        </p:spPr>
        <p:txBody>
          <a:bodyPr/>
          <a:lstStyle/>
          <a:p/>
        </p:txBody>
      </p:sp>
      <p:sp>
        <p:nvSpPr>
          <p:cNvPr id="2" name="Title"/>
          <p:cNvSpPr>
            <a:spLocks noGrp="1"/>
          </p:cNvSpPr>
          <p:nvPr>
            <p:ph type="title"/>
          </p:nvPr>
        </p:nvSpPr>
        <p:spPr>
          <a:xfrm>
            <a:off x="457200" y="142240"/>
            <a:ext cx="8229600" cy="900000"/>
          </a:xfrm>
          <a:prstGeom prst="rect">
            <a:avLst/>
          </a:prstGeom>
        </p:spPr>
        <p:txBody>
          <a:bodyPr wrap="square" anchor="t" vert="horz"/>
          <a:lstStyle/>
          <a:p>
            <a:r>
              <a:rPr sz="2400" b="1" lang="en-US">
                <a:solidFill>
                  <a:srgbClr val="0F2440"/>
                </a:solidFill>
              </a:rPr>
              <a:t xml:space="preserve">Module 4: Reading &amp; Troubleshooting Logic</a:t>
            </a:r>
          </a:p>
        </p:txBody>
      </p:sp>
      <p:sp>
        <p:nvSpPr>
          <p:cNvPr id="6" name="HeadingUnderline"/>
          <p:cNvSpPr/>
          <p:nvPr/>
        </p:nvSpPr>
        <p:spPr>
          <a:xfrm>
            <a:off x="457200" y="1042240"/>
            <a:ext cx="8229600" cy="38100"/>
          </a:xfrm>
          <a:prstGeom prst="rect">
            <a:avLst/>
          </a:prstGeom>
          <a:solidFill>
            <a:srgbClr val="E8A820"/>
          </a:solidFill>
        </p:spPr>
        <p:txBody>
          <a:bodyPr/>
          <a:lstStyle/>
          <a:p/>
        </p:txBody>
      </p:sp>
      <p:sp>
        <p:nvSpPr>
          <p:cNvPr id="3" name="Content"/>
          <p:cNvSpPr>
            <a:spLocks noGrp="1"/>
          </p:cNvSpPr>
          <p:nvPr>
            <p:ph idx="1" type="body"/>
          </p:nvPr>
        </p:nvSpPr>
        <p:spPr>
          <a:xfrm>
            <a:off x="457200" y="1171780"/>
            <a:ext cx="8229600" cy="5564300"/>
          </a:xfrm>
          <a:prstGeom prst="rect">
            <a:avLst/>
          </a:prstGeom>
        </p:spPr>
        <p:txBody>
          <a:bodyPr wrap="square" anchor="t" vert="horz" lIns="91440" tIns="45720" rIns="91440" bIns="45720"/>
          <a:lstStyle>
            <a:lvl1pPr marL="457200" indent="-228600" algn="l">
              <a:buChar char="•"/>
              <a:defRPr sz="1200">
                <a:solidFill>
                  <a:srgbClr val="1E293B"/>
                </a:solidFill>
              </a:defRPr>
            </a:lvl1pPr>
          </a:lstStyle>
          <a:p>
            <a:pPr lvl="0" algn="l">
              <a:lnSpc>
                <a:spcPct val="112000"/>
              </a:lnSpc>
            </a:pPr>
            <a:r>
              <a:rPr sz="1200" lang="en-US">
                <a:solidFill>
                  <a:srgbClr val="1E293B"/>
                </a:solidFill>
              </a:rPr>
              <a:t xml:space="preserve">PLC Tabletop Training Program · Hands-on Lab · 3.5 h</a:t>
            </a:r>
          </a:p>
          <a:p>
            <a:pPr lvl="0" algn="l">
              <a:lnSpc>
                <a:spcPct val="112000"/>
              </a:lnSpc>
            </a:pPr>
            <a:r>
              <a:rPr sz="1200" lang="en-US">
                <a:solidFill>
                  <a:srgbClr val="1E293B"/>
                </a:solidFill>
              </a:rPr>
              <a:t xml:space="preserve">v1.0 (April 2026)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AccentBar"/>
          <p:cNvSpPr/>
          <p:nvPr/>
        </p:nvSpPr>
        <p:spPr>
          <a:xfrm>
            <a:off x="0" y="0"/>
            <a:ext cx="9144000" cy="50800"/>
          </a:xfrm>
          <a:prstGeom prst="rect">
            <a:avLst/>
          </a:prstGeom>
          <a:gradFill rotWithShape="0">
            <a:gsLst>
              <a:gs pos="0">
                <a:srgbClr val="1E3A5F"/>
              </a:gs>
              <a:gs pos="100000">
                <a:srgbClr val="E8A820"/>
              </a:gs>
            </a:gsLst>
            <a:lin ang="0" scaled="0" flip="none"/>
          </a:gradFill>
        </p:spPr>
        <p:txBody>
          <a:bodyPr/>
          <a:lstStyle/>
          <a:p/>
        </p:txBody>
      </p:sp>
      <p:sp>
        <p:nvSpPr>
          <p:cNvPr id="7" name="FooterStrip"/>
          <p:cNvSpPr/>
          <p:nvPr/>
        </p:nvSpPr>
        <p:spPr>
          <a:xfrm>
            <a:off x="0" y="6781800"/>
            <a:ext cx="9144000" cy="76200"/>
          </a:xfrm>
          <a:prstGeom prst="rect">
            <a:avLst/>
          </a:prstGeom>
          <a:solidFill>
            <a:srgbClr val="F1F5F9"/>
          </a:solidFill>
          <a:ln>
            <a:noFill/>
          </a:ln>
        </p:spPr>
        <p:txBody>
          <a:bodyPr/>
          <a:lstStyle/>
          <a:p/>
        </p:txBody>
      </p:sp>
      <p:sp>
        <p:nvSpPr>
          <p:cNvPr id="2" name="Title"/>
          <p:cNvSpPr>
            <a:spLocks noGrp="1"/>
          </p:cNvSpPr>
          <p:nvPr>
            <p:ph type="title"/>
          </p:nvPr>
        </p:nvSpPr>
        <p:spPr>
          <a:xfrm>
            <a:off x="457200" y="142240"/>
            <a:ext cx="8229600" cy="900000"/>
          </a:xfrm>
          <a:prstGeom prst="rect">
            <a:avLst/>
          </a:prstGeom>
        </p:spPr>
        <p:txBody>
          <a:bodyPr wrap="square" anchor="t" vert="horz"/>
          <a:lstStyle/>
          <a:p>
            <a:r>
              <a:rPr sz="2400" b="1" lang="en-US">
                <a:solidFill>
                  <a:srgbClr val="0F2440"/>
                </a:solidFill>
              </a:rPr>
              <a:t xml:space="preserve">Learning objectives</a:t>
            </a:r>
          </a:p>
        </p:txBody>
      </p:sp>
      <p:sp>
        <p:nvSpPr>
          <p:cNvPr id="6" name="HeadingUnderline"/>
          <p:cNvSpPr/>
          <p:nvPr/>
        </p:nvSpPr>
        <p:spPr>
          <a:xfrm>
            <a:off x="457200" y="1042240"/>
            <a:ext cx="8229600" cy="38100"/>
          </a:xfrm>
          <a:prstGeom prst="rect">
            <a:avLst/>
          </a:prstGeom>
          <a:solidFill>
            <a:srgbClr val="E8A820"/>
          </a:solidFill>
        </p:spPr>
        <p:txBody>
          <a:bodyPr/>
          <a:lstStyle/>
          <a:p/>
        </p:txBody>
      </p:sp>
      <p:sp>
        <p:nvSpPr>
          <p:cNvPr id="3" name="Content"/>
          <p:cNvSpPr>
            <a:spLocks noGrp="1"/>
          </p:cNvSpPr>
          <p:nvPr>
            <p:ph idx="1" type="body"/>
          </p:nvPr>
        </p:nvSpPr>
        <p:spPr>
          <a:xfrm>
            <a:off x="457200" y="1171780"/>
            <a:ext cx="8229600" cy="5564300"/>
          </a:xfrm>
          <a:prstGeom prst="rect">
            <a:avLst/>
          </a:prstGeom>
        </p:spPr>
        <p:txBody>
          <a:bodyPr wrap="square" anchor="t" vert="horz" lIns="91440" tIns="45720" rIns="91440" bIns="45720"/>
          <a:lstStyle>
            <a:lvl1pPr marL="457200" indent="-228600" algn="l">
              <a:buChar char="•"/>
              <a:defRPr sz="1200">
                <a:solidFill>
                  <a:srgbClr val="1E293B"/>
                </a:solidFill>
              </a:defRPr>
            </a:lvl1pPr>
          </a:lstStyle>
          <a:p>
            <a:pPr lvl="0" algn="l">
              <a:lnSpc>
                <a:spcPct val="112000"/>
              </a:lnSpc>
            </a:pPr>
            <a:r>
              <a:rPr sz="1200" lang="en-US">
                <a:solidFill>
                  <a:srgbClr val="1E293B"/>
                </a:solidFill>
              </a:rPr>
              <a:t xml:space="preserve">Apply the 5-layer fault isolation model to systematically troubleshoot PLC issues</a:t>
            </a:r>
          </a:p>
          <a:p>
            <a:pPr lvl="0" algn="l">
              <a:lnSpc>
                <a:spcPct val="112000"/>
              </a:lnSpc>
            </a:pPr>
            <a:r>
              <a:rPr sz="1200" lang="en-US">
                <a:solidFill>
                  <a:srgbClr val="1E293B"/>
                </a:solidFill>
              </a:rPr>
              <a:t xml:space="preserve">Navigate the I/O dashboard to view real-time signal status</a:t>
            </a:r>
          </a:p>
          <a:p>
            <a:pPr lvl="0" algn="l">
              <a:lnSpc>
                <a:spcPct val="112000"/>
              </a:lnSpc>
            </a:pPr>
            <a:r>
              <a:rPr sz="1200" lang="en-US">
                <a:solidFill>
                  <a:srgbClr val="1E293B"/>
                </a:solidFill>
              </a:rPr>
              <a:t xml:space="preserve">Trace a signal from physical input through ladder logic to physical output</a:t>
            </a:r>
          </a:p>
          <a:p>
            <a:pPr lvl="0" algn="l">
              <a:lnSpc>
                <a:spcPct val="112000"/>
              </a:lnSpc>
            </a:pPr>
            <a:r>
              <a:rPr sz="1200" lang="en-US">
                <a:solidFill>
                  <a:srgbClr val="1E293B"/>
                </a:solidFill>
              </a:rPr>
              <a:t xml:space="preserve">Use forcing and monitoring tools safely and effectively</a:t>
            </a:r>
          </a:p>
          <a:p>
            <a:pPr lvl="0" algn="l">
              <a:lnSpc>
                <a:spcPct val="112000"/>
              </a:lnSpc>
            </a:pPr>
            <a:r>
              <a:rPr sz="1200" lang="en-US">
                <a:solidFill>
                  <a:srgbClr val="1E293B"/>
                </a:solidFill>
              </a:rPr>
              <a:t xml:space="preserve">Understand data types, tag structure, and variable scoping</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AccentBar"/>
          <p:cNvSpPr/>
          <p:nvPr/>
        </p:nvSpPr>
        <p:spPr>
          <a:xfrm>
            <a:off x="0" y="0"/>
            <a:ext cx="9144000" cy="50800"/>
          </a:xfrm>
          <a:prstGeom prst="rect">
            <a:avLst/>
          </a:prstGeom>
          <a:gradFill rotWithShape="0">
            <a:gsLst>
              <a:gs pos="0">
                <a:srgbClr val="1E3A5F"/>
              </a:gs>
              <a:gs pos="100000">
                <a:srgbClr val="E8A820"/>
              </a:gs>
            </a:gsLst>
            <a:lin ang="0" scaled="0" flip="none"/>
          </a:gradFill>
        </p:spPr>
        <p:txBody>
          <a:bodyPr/>
          <a:lstStyle/>
          <a:p/>
        </p:txBody>
      </p:sp>
      <p:sp>
        <p:nvSpPr>
          <p:cNvPr id="7" name="FooterStrip"/>
          <p:cNvSpPr/>
          <p:nvPr/>
        </p:nvSpPr>
        <p:spPr>
          <a:xfrm>
            <a:off x="0" y="6781800"/>
            <a:ext cx="9144000" cy="76200"/>
          </a:xfrm>
          <a:prstGeom prst="rect">
            <a:avLst/>
          </a:prstGeom>
          <a:solidFill>
            <a:srgbClr val="F1F5F9"/>
          </a:solidFill>
          <a:ln>
            <a:noFill/>
          </a:ln>
        </p:spPr>
        <p:txBody>
          <a:bodyPr/>
          <a:lstStyle/>
          <a:p/>
        </p:txBody>
      </p:sp>
      <p:sp>
        <p:nvSpPr>
          <p:cNvPr id="2" name="Title"/>
          <p:cNvSpPr>
            <a:spLocks noGrp="1"/>
          </p:cNvSpPr>
          <p:nvPr>
            <p:ph type="title"/>
          </p:nvPr>
        </p:nvSpPr>
        <p:spPr>
          <a:xfrm>
            <a:off x="457200" y="142240"/>
            <a:ext cx="8229600" cy="900000"/>
          </a:xfrm>
          <a:prstGeom prst="rect">
            <a:avLst/>
          </a:prstGeom>
        </p:spPr>
        <p:txBody>
          <a:bodyPr wrap="square" anchor="t" vert="horz"/>
          <a:lstStyle/>
          <a:p>
            <a:r>
              <a:rPr sz="2400" b="1" lang="en-US">
                <a:solidFill>
                  <a:srgbClr val="0F2440"/>
                </a:solidFill>
              </a:rPr>
              <a:t xml:space="preserve">Overview</a:t>
            </a:r>
          </a:p>
        </p:txBody>
      </p:sp>
      <p:sp>
        <p:nvSpPr>
          <p:cNvPr id="6" name="HeadingUnderline"/>
          <p:cNvSpPr/>
          <p:nvPr/>
        </p:nvSpPr>
        <p:spPr>
          <a:xfrm>
            <a:off x="457200" y="1042240"/>
            <a:ext cx="8229600" cy="38100"/>
          </a:xfrm>
          <a:prstGeom prst="rect">
            <a:avLst/>
          </a:prstGeom>
          <a:solidFill>
            <a:srgbClr val="E8A820"/>
          </a:solidFill>
        </p:spPr>
        <p:txBody>
          <a:bodyPr/>
          <a:lstStyle/>
          <a:p/>
        </p:txBody>
      </p:sp>
      <p:sp>
        <p:nvSpPr>
          <p:cNvPr id="3" name="Content"/>
          <p:cNvSpPr>
            <a:spLocks noGrp="1"/>
          </p:cNvSpPr>
          <p:nvPr>
            <p:ph idx="1" type="body"/>
          </p:nvPr>
        </p:nvSpPr>
        <p:spPr>
          <a:xfrm>
            <a:off x="457200" y="1171780"/>
            <a:ext cx="8229600" cy="5564300"/>
          </a:xfrm>
          <a:prstGeom prst="rect">
            <a:avLst/>
          </a:prstGeom>
        </p:spPr>
        <p:txBody>
          <a:bodyPr wrap="square" anchor="t" vert="horz" lIns="91440" tIns="45720" rIns="91440" bIns="45720"/>
          <a:lstStyle>
            <a:lvl1pPr marL="457200" indent="-228600" algn="l">
              <a:buChar char="•"/>
              <a:defRPr sz="1200">
                <a:solidFill>
                  <a:srgbClr val="1E293B"/>
                </a:solidFill>
              </a:defRPr>
            </a:lvl1pPr>
          </a:lstStyle>
          <a:p>
            <a:pPr lvl="0" algn="l">
              <a:lnSpc>
                <a:spcPct val="112000"/>
              </a:lnSpc>
            </a:pPr>
            <a:r>
              <a:rPr sz="1200" lang="en-US">
                <a:solidFill>
                  <a:srgbClr val="1E293B"/>
                </a:solidFill>
              </a:rPr>
              <a:t xml:space="preserve">Using I/O dashboards, tag browsers, and ladder logic editors to trace signals and diagnose faults across all three platforms.</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AccentBar"/>
          <p:cNvSpPr/>
          <p:nvPr/>
        </p:nvSpPr>
        <p:spPr>
          <a:xfrm>
            <a:off x="0" y="0"/>
            <a:ext cx="9144000" cy="50800"/>
          </a:xfrm>
          <a:prstGeom prst="rect">
            <a:avLst/>
          </a:prstGeom>
          <a:gradFill rotWithShape="0">
            <a:gsLst>
              <a:gs pos="0">
                <a:srgbClr val="1E3A5F"/>
              </a:gs>
              <a:gs pos="100000">
                <a:srgbClr val="E8A820"/>
              </a:gs>
            </a:gsLst>
            <a:lin ang="0" scaled="0" flip="none"/>
          </a:gradFill>
        </p:spPr>
        <p:txBody>
          <a:bodyPr/>
          <a:lstStyle/>
          <a:p/>
        </p:txBody>
      </p:sp>
      <p:sp>
        <p:nvSpPr>
          <p:cNvPr id="7" name="FooterStrip"/>
          <p:cNvSpPr/>
          <p:nvPr/>
        </p:nvSpPr>
        <p:spPr>
          <a:xfrm>
            <a:off x="0" y="6781800"/>
            <a:ext cx="9144000" cy="76200"/>
          </a:xfrm>
          <a:prstGeom prst="rect">
            <a:avLst/>
          </a:prstGeom>
          <a:solidFill>
            <a:srgbClr val="F1F5F9"/>
          </a:solidFill>
          <a:ln>
            <a:noFill/>
          </a:ln>
        </p:spPr>
        <p:txBody>
          <a:bodyPr/>
          <a:lstStyle/>
          <a:p/>
        </p:txBody>
      </p:sp>
      <p:sp>
        <p:nvSpPr>
          <p:cNvPr id="2" name="Title"/>
          <p:cNvSpPr>
            <a:spLocks noGrp="1"/>
          </p:cNvSpPr>
          <p:nvPr>
            <p:ph type="title"/>
          </p:nvPr>
        </p:nvSpPr>
        <p:spPr>
          <a:xfrm>
            <a:off x="457200" y="142240"/>
            <a:ext cx="8229600" cy="900000"/>
          </a:xfrm>
          <a:prstGeom prst="rect">
            <a:avLst/>
          </a:prstGeom>
        </p:spPr>
        <p:txBody>
          <a:bodyPr wrap="square" anchor="t" vert="horz"/>
          <a:lstStyle/>
          <a:p>
            <a:r>
              <a:rPr sz="2400" b="1" lang="en-US">
                <a:solidFill>
                  <a:srgbClr val="0F2440"/>
                </a:solidFill>
              </a:rPr>
              <a:t xml:space="preserve">Lesson: Structured Troubleshooting Methodology</a:t>
            </a:r>
          </a:p>
        </p:txBody>
      </p:sp>
      <p:sp>
        <p:nvSpPr>
          <p:cNvPr id="6" name="HeadingUnderline"/>
          <p:cNvSpPr/>
          <p:nvPr/>
        </p:nvSpPr>
        <p:spPr>
          <a:xfrm>
            <a:off x="457200" y="1042240"/>
            <a:ext cx="8229600" cy="38100"/>
          </a:xfrm>
          <a:prstGeom prst="rect">
            <a:avLst/>
          </a:prstGeom>
          <a:solidFill>
            <a:srgbClr val="E8A820"/>
          </a:solidFill>
        </p:spPr>
        <p:txBody>
          <a:bodyPr/>
          <a:lstStyle/>
          <a:p/>
        </p:txBody>
      </p:sp>
      <p:sp>
        <p:nvSpPr>
          <p:cNvPr id="3" name="Content"/>
          <p:cNvSpPr>
            <a:spLocks noGrp="1"/>
          </p:cNvSpPr>
          <p:nvPr>
            <p:ph idx="1" type="body"/>
          </p:nvPr>
        </p:nvSpPr>
        <p:spPr>
          <a:xfrm>
            <a:off x="457200" y="1171780"/>
            <a:ext cx="8229600" cy="5564300"/>
          </a:xfrm>
          <a:prstGeom prst="rect">
            <a:avLst/>
          </a:prstGeom>
        </p:spPr>
        <p:txBody>
          <a:bodyPr wrap="square" anchor="t" vert="horz" lIns="91440" tIns="45720" rIns="91440" bIns="45720"/>
          <a:lstStyle>
            <a:lvl1pPr marL="457200" indent="-228600" algn="l">
              <a:buChar char="•"/>
              <a:defRPr sz="1200">
                <a:solidFill>
                  <a:srgbClr val="1E293B"/>
                </a:solidFill>
              </a:defRPr>
            </a:lvl1pPr>
          </a:lstStyle>
          <a:p>
            <a:pPr lvl="0" algn="l">
              <a:lnSpc>
                <a:spcPct val="112000"/>
              </a:lnSpc>
            </a:pPr>
            <a:r>
              <a:rPr sz="1200" lang="en-US">
                <a:solidFill>
                  <a:srgbClr val="1E293B"/>
                </a:solidFill>
              </a:rPr>
              <a:t xml:space="preserve">The 5-layer fault isolation model — a repeatable framework for diagnosis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AccentBar"/>
          <p:cNvSpPr/>
          <p:nvPr/>
        </p:nvSpPr>
        <p:spPr>
          <a:xfrm>
            <a:off x="0" y="0"/>
            <a:ext cx="9144000" cy="50800"/>
          </a:xfrm>
          <a:prstGeom prst="rect">
            <a:avLst/>
          </a:prstGeom>
          <a:gradFill rotWithShape="0">
            <a:gsLst>
              <a:gs pos="0">
                <a:srgbClr val="1E3A5F"/>
              </a:gs>
              <a:gs pos="100000">
                <a:srgbClr val="E8A820"/>
              </a:gs>
            </a:gsLst>
            <a:lin ang="0" scaled="0" flip="none"/>
          </a:gradFill>
        </p:spPr>
        <p:txBody>
          <a:bodyPr/>
          <a:lstStyle/>
          <a:p/>
        </p:txBody>
      </p:sp>
      <p:sp>
        <p:nvSpPr>
          <p:cNvPr id="7" name="FooterStrip"/>
          <p:cNvSpPr/>
          <p:nvPr/>
        </p:nvSpPr>
        <p:spPr>
          <a:xfrm>
            <a:off x="0" y="6781800"/>
            <a:ext cx="9144000" cy="76200"/>
          </a:xfrm>
          <a:prstGeom prst="rect">
            <a:avLst/>
          </a:prstGeom>
          <a:solidFill>
            <a:srgbClr val="F1F5F9"/>
          </a:solidFill>
          <a:ln>
            <a:noFill/>
          </a:ln>
        </p:spPr>
        <p:txBody>
          <a:bodyPr/>
          <a:lstStyle/>
          <a:p/>
        </p:txBody>
      </p:sp>
      <p:sp>
        <p:nvSpPr>
          <p:cNvPr id="2" name="Title"/>
          <p:cNvSpPr>
            <a:spLocks noGrp="1"/>
          </p:cNvSpPr>
          <p:nvPr>
            <p:ph type="title"/>
          </p:nvPr>
        </p:nvSpPr>
        <p:spPr>
          <a:xfrm>
            <a:off x="457200" y="142240"/>
            <a:ext cx="8229600" cy="900000"/>
          </a:xfrm>
          <a:prstGeom prst="rect">
            <a:avLst/>
          </a:prstGeom>
        </p:spPr>
        <p:txBody>
          <a:bodyPr wrap="square" anchor="t" vert="horz"/>
          <a:lstStyle/>
          <a:p>
            <a:r>
              <a:rPr sz="2400" b="1" lang="en-US">
                <a:solidFill>
                  <a:srgbClr val="0F2440"/>
                </a:solidFill>
              </a:rPr>
              <a:t xml:space="preserve">Structured Troubleshooting Methodology</a:t>
            </a:r>
          </a:p>
        </p:txBody>
      </p:sp>
      <p:sp>
        <p:nvSpPr>
          <p:cNvPr id="6" name="HeadingUnderline"/>
          <p:cNvSpPr/>
          <p:nvPr/>
        </p:nvSpPr>
        <p:spPr>
          <a:xfrm>
            <a:off x="457200" y="1042240"/>
            <a:ext cx="8229600" cy="38100"/>
          </a:xfrm>
          <a:prstGeom prst="rect">
            <a:avLst/>
          </a:prstGeom>
          <a:solidFill>
            <a:srgbClr val="E8A820"/>
          </a:solidFill>
        </p:spPr>
        <p:txBody>
          <a:bodyPr/>
          <a:lstStyle/>
          <a:p/>
        </p:txBody>
      </p:sp>
      <p:sp>
        <p:nvSpPr>
          <p:cNvPr id="3" name="Content"/>
          <p:cNvSpPr>
            <a:spLocks noGrp="1"/>
          </p:cNvSpPr>
          <p:nvPr>
            <p:ph idx="1" type="body"/>
          </p:nvPr>
        </p:nvSpPr>
        <p:spPr>
          <a:xfrm>
            <a:off x="457200" y="1171780"/>
            <a:ext cx="8229600" cy="5564300"/>
          </a:xfrm>
          <a:prstGeom prst="rect">
            <a:avLst/>
          </a:prstGeom>
        </p:spPr>
        <p:txBody>
          <a:bodyPr wrap="square" anchor="t" vert="horz" lIns="91440" tIns="45720" rIns="91440" bIns="45720"/>
          <a:lstStyle>
            <a:lvl1pPr marL="457200" indent="-228600" algn="l">
              <a:buChar char="•"/>
              <a:defRPr sz="1200">
                <a:solidFill>
                  <a:srgbClr val="1E293B"/>
                </a:solidFill>
              </a:defRPr>
            </a:lvl1pPr>
          </a:lstStyle>
          <a:p>
            <a:pPr lvl="0" algn="l">
              <a:lnSpc>
                <a:spcPct val="112000"/>
              </a:lnSpc>
            </a:pPr>
            <a:r>
              <a:rPr sz="1200" lang="en-US">
                <a:solidFill>
                  <a:srgbClr val="1E293B"/>
                </a:solidFill>
              </a:rPr>
              <a:t xml:space="preserve">Before diving into software tools, you need a systematic troubleshooting method. Random poking at the PLC wastes time. The 5-layer model isolates the fault location before you start fixing.</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AccentBar"/>
          <p:cNvSpPr/>
          <p:nvPr/>
        </p:nvSpPr>
        <p:spPr>
          <a:xfrm>
            <a:off x="0" y="0"/>
            <a:ext cx="9144000" cy="50800"/>
          </a:xfrm>
          <a:prstGeom prst="rect">
            <a:avLst/>
          </a:prstGeom>
          <a:gradFill rotWithShape="0">
            <a:gsLst>
              <a:gs pos="0">
                <a:srgbClr val="1E3A5F"/>
              </a:gs>
              <a:gs pos="100000">
                <a:srgbClr val="E8A820"/>
              </a:gs>
            </a:gsLst>
            <a:lin ang="0" scaled="0" flip="none"/>
          </a:gradFill>
        </p:spPr>
        <p:txBody>
          <a:bodyPr/>
          <a:lstStyle/>
          <a:p/>
        </p:txBody>
      </p:sp>
      <p:sp>
        <p:nvSpPr>
          <p:cNvPr id="7" name="FooterStrip"/>
          <p:cNvSpPr/>
          <p:nvPr/>
        </p:nvSpPr>
        <p:spPr>
          <a:xfrm>
            <a:off x="0" y="6781800"/>
            <a:ext cx="9144000" cy="76200"/>
          </a:xfrm>
          <a:prstGeom prst="rect">
            <a:avLst/>
          </a:prstGeom>
          <a:solidFill>
            <a:srgbClr val="F1F5F9"/>
          </a:solidFill>
          <a:ln>
            <a:noFill/>
          </a:ln>
        </p:spPr>
        <p:txBody>
          <a:bodyPr/>
          <a:lstStyle/>
          <a:p/>
        </p:txBody>
      </p:sp>
      <p:sp>
        <p:nvSpPr>
          <p:cNvPr id="2" name="Title"/>
          <p:cNvSpPr>
            <a:spLocks noGrp="1"/>
          </p:cNvSpPr>
          <p:nvPr>
            <p:ph type="title"/>
          </p:nvPr>
        </p:nvSpPr>
        <p:spPr>
          <a:xfrm>
            <a:off x="457200" y="142240"/>
            <a:ext cx="8229600" cy="900000"/>
          </a:xfrm>
          <a:prstGeom prst="rect">
            <a:avLst/>
          </a:prstGeom>
        </p:spPr>
        <p:txBody>
          <a:bodyPr wrap="square" anchor="t" vert="horz"/>
          <a:lstStyle/>
          <a:p>
            <a:r>
              <a:rPr sz="2400" b="1" lang="en-US">
                <a:solidFill>
                  <a:srgbClr val="0F2440"/>
                </a:solidFill>
              </a:rPr>
              <a:t xml:space="preserve">The 5-Layer Fault Isolation Model</a:t>
            </a:r>
          </a:p>
        </p:txBody>
      </p:sp>
      <p:sp>
        <p:nvSpPr>
          <p:cNvPr id="6" name="HeadingUnderline"/>
          <p:cNvSpPr/>
          <p:nvPr/>
        </p:nvSpPr>
        <p:spPr>
          <a:xfrm>
            <a:off x="457200" y="1042240"/>
            <a:ext cx="8229600" cy="38100"/>
          </a:xfrm>
          <a:prstGeom prst="rect">
            <a:avLst/>
          </a:prstGeom>
          <a:solidFill>
            <a:srgbClr val="E8A820"/>
          </a:solidFill>
        </p:spPr>
        <p:txBody>
          <a:bodyPr/>
          <a:lstStyle/>
          <a:p/>
        </p:txBody>
      </p:sp>
      <p:sp>
        <p:nvSpPr>
          <p:cNvPr id="3" name="Content"/>
          <p:cNvSpPr>
            <a:spLocks noGrp="1"/>
          </p:cNvSpPr>
          <p:nvPr>
            <p:ph idx="1" type="body"/>
          </p:nvPr>
        </p:nvSpPr>
        <p:spPr>
          <a:xfrm>
            <a:off x="457200" y="1171780"/>
            <a:ext cx="8229600" cy="5564300"/>
          </a:xfrm>
          <a:prstGeom prst="rect">
            <a:avLst/>
          </a:prstGeom>
        </p:spPr>
        <p:txBody>
          <a:bodyPr wrap="square" anchor="t" vert="horz" lIns="91440" tIns="45720" rIns="91440" bIns="45720"/>
          <a:lstStyle>
            <a:lvl1pPr marL="457200" indent="-228600" algn="l">
              <a:buChar char="•"/>
              <a:defRPr sz="1200">
                <a:solidFill>
                  <a:srgbClr val="1E293B"/>
                </a:solidFill>
              </a:defRPr>
            </a:lvl1pPr>
          </a:lstStyle>
          <a:p>
            <a:pPr lvl="0" algn="l">
              <a:lnSpc>
                <a:spcPct val="112000"/>
              </a:lnSpc>
            </a:pPr>
            <a:r>
              <a:rPr sz="1200" lang="en-US">
                <a:solidFill>
                  <a:srgbClr val="1E293B"/>
                </a:solidFill>
              </a:rPr>
              <a:t xml:space="preserve">When something isn't working, the fault exists in one of five layers. Work through them in order:</a:t>
            </a:r>
          </a:p>
          <a:p>
            <a:pPr lvl="0" algn="l">
              <a:lnSpc>
                <a:spcPct val="112000"/>
              </a:lnSpc>
            </a:pPr>
            <a:r>
              <a:rPr sz="1200" lang="en-US">
                <a:solidFill>
                  <a:srgbClr val="1E293B"/>
                </a:solidFill>
              </a:rPr>
              <a:t xml:space="preserve">Physical Device — Is the field device itself working? Check sensor LEDs, listen for relay clicks, verify mechanical operation.</a:t>
            </a:r>
          </a:p>
          <a:p>
            <a:pPr lvl="0" algn="l">
              <a:lnSpc>
                <a:spcPct val="112000"/>
              </a:lnSpc>
            </a:pPr>
            <a:r>
              <a:rPr sz="1200" lang="en-US">
                <a:solidFill>
                  <a:srgbClr val="1E293B"/>
                </a:solidFill>
              </a:rPr>
              <a:t xml:space="preserve">Wiring — Is the signal getting from the device to the PLC? Check terminal block connections, measure voltage with a multimeter, verify wire continuity.</a:t>
            </a:r>
          </a:p>
          <a:p>
            <a:pPr lvl="0" algn="l">
              <a:lnSpc>
                <a:spcPct val="112000"/>
              </a:lnSpc>
            </a:pPr>
            <a:r>
              <a:rPr sz="1200" lang="en-US">
                <a:solidFill>
                  <a:srgbClr val="1E293B"/>
                </a:solidFill>
              </a:rPr>
              <a:t xml:space="preserve">I/O Module — Is the PLC module receiving/sending the signal? Check channel LEDs on the I/O card. A lit LED means the module sees the signal.</a:t>
            </a:r>
          </a:p>
          <a:p>
            <a:pPr lvl="0" algn="l">
              <a:lnSpc>
                <a:spcPct val="112000"/>
              </a:lnSpc>
            </a:pPr>
            <a:r>
              <a:rPr sz="1200" lang="en-US">
                <a:solidFill>
                  <a:srgbClr val="1E293B"/>
                </a:solidFill>
              </a:rPr>
              <a:t xml:space="preserve">PLC Logic — Is the program processing the signal correctly? Go online and trace the ladder rung. Is a contact preventing power flow? Is a timer stuck?</a:t>
            </a:r>
          </a:p>
          <a:p>
            <a:pPr lvl="0" algn="l">
              <a:lnSpc>
                <a:spcPct val="112000"/>
              </a:lnSpc>
            </a:pPr>
            <a:r>
              <a:rPr sz="1200" lang="en-US">
                <a:solidFill>
                  <a:srgbClr val="1E293B"/>
                </a:solidFill>
              </a:rPr>
              <a:t xml:space="preserve">Network/HMI — Is the information reaching the operator? Check HMI communication, verify tag mappings, confirm alarm configuration.</a:t>
            </a:r>
          </a:p>
          <a:p>
            <a:pPr lvl="0" algn="l">
              <a:lnSpc>
                <a:spcPct val="112000"/>
              </a:lnSpc>
            </a:pPr>
            <a:r>
              <a:rPr sz="1200" lang="en-US">
                <a:solidFill>
                  <a:srgbClr val="1E293B"/>
                </a:solidFill>
              </a:rPr>
              <a:t xml:space="preserve">[INFO] Key Principle: Software tells you what the PLC thinks it sees. A multimeter tells you what's actually there. Always verify physical reality against software status. If they disagree, the truth is in the physical measurement.</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AccentBar"/>
          <p:cNvSpPr/>
          <p:nvPr/>
        </p:nvSpPr>
        <p:spPr>
          <a:xfrm>
            <a:off x="0" y="0"/>
            <a:ext cx="9144000" cy="50800"/>
          </a:xfrm>
          <a:prstGeom prst="rect">
            <a:avLst/>
          </a:prstGeom>
          <a:gradFill rotWithShape="0">
            <a:gsLst>
              <a:gs pos="0">
                <a:srgbClr val="1E3A5F"/>
              </a:gs>
              <a:gs pos="100000">
                <a:srgbClr val="E8A820"/>
              </a:gs>
            </a:gsLst>
            <a:lin ang="0" scaled="0" flip="none"/>
          </a:gradFill>
        </p:spPr>
        <p:txBody>
          <a:bodyPr/>
          <a:lstStyle/>
          <a:p/>
        </p:txBody>
      </p:sp>
      <p:sp>
        <p:nvSpPr>
          <p:cNvPr id="7" name="FooterStrip"/>
          <p:cNvSpPr/>
          <p:nvPr/>
        </p:nvSpPr>
        <p:spPr>
          <a:xfrm>
            <a:off x="0" y="6781800"/>
            <a:ext cx="9144000" cy="76200"/>
          </a:xfrm>
          <a:prstGeom prst="rect">
            <a:avLst/>
          </a:prstGeom>
          <a:solidFill>
            <a:srgbClr val="F1F5F9"/>
          </a:solidFill>
          <a:ln>
            <a:noFill/>
          </a:ln>
        </p:spPr>
        <p:txBody>
          <a:bodyPr/>
          <a:lstStyle/>
          <a:p/>
        </p:txBody>
      </p:sp>
      <p:sp>
        <p:nvSpPr>
          <p:cNvPr id="2" name="Title"/>
          <p:cNvSpPr>
            <a:spLocks noGrp="1"/>
          </p:cNvSpPr>
          <p:nvPr>
            <p:ph type="title"/>
          </p:nvPr>
        </p:nvSpPr>
        <p:spPr>
          <a:xfrm>
            <a:off x="457200" y="142240"/>
            <a:ext cx="8229600" cy="900000"/>
          </a:xfrm>
          <a:prstGeom prst="rect">
            <a:avLst/>
          </a:prstGeom>
        </p:spPr>
        <p:txBody>
          <a:bodyPr wrap="square" anchor="t" vert="horz"/>
          <a:lstStyle/>
          <a:p>
            <a:r>
              <a:rPr sz="2400" b="1" lang="en-US">
                <a:solidFill>
                  <a:srgbClr val="0F2440"/>
                </a:solidFill>
              </a:rPr>
              <a:t xml:space="preserve">Half-Split Troubleshooting</a:t>
            </a:r>
          </a:p>
        </p:txBody>
      </p:sp>
      <p:sp>
        <p:nvSpPr>
          <p:cNvPr id="6" name="HeadingUnderline"/>
          <p:cNvSpPr/>
          <p:nvPr/>
        </p:nvSpPr>
        <p:spPr>
          <a:xfrm>
            <a:off x="457200" y="1042240"/>
            <a:ext cx="8229600" cy="38100"/>
          </a:xfrm>
          <a:prstGeom prst="rect">
            <a:avLst/>
          </a:prstGeom>
          <a:solidFill>
            <a:srgbClr val="E8A820"/>
          </a:solidFill>
        </p:spPr>
        <p:txBody>
          <a:bodyPr/>
          <a:lstStyle/>
          <a:p/>
        </p:txBody>
      </p:sp>
      <p:sp>
        <p:nvSpPr>
          <p:cNvPr id="3" name="Content"/>
          <p:cNvSpPr>
            <a:spLocks noGrp="1"/>
          </p:cNvSpPr>
          <p:nvPr>
            <p:ph idx="1" type="body"/>
          </p:nvPr>
        </p:nvSpPr>
        <p:spPr>
          <a:xfrm>
            <a:off x="457200" y="1171780"/>
            <a:ext cx="8229600" cy="5564300"/>
          </a:xfrm>
          <a:prstGeom prst="rect">
            <a:avLst/>
          </a:prstGeom>
        </p:spPr>
        <p:txBody>
          <a:bodyPr wrap="square" anchor="t" vert="horz" lIns="91440" tIns="45720" rIns="91440" bIns="45720"/>
          <a:lstStyle>
            <a:lvl1pPr marL="457200" indent="-228600" algn="l">
              <a:buChar char="•"/>
              <a:defRPr sz="1200">
                <a:solidFill>
                  <a:srgbClr val="1E293B"/>
                </a:solidFill>
              </a:defRPr>
            </a:lvl1pPr>
          </a:lstStyle>
          <a:p>
            <a:pPr lvl="0" algn="l">
              <a:lnSpc>
                <a:spcPct val="112000"/>
              </a:lnSpc>
            </a:pPr>
            <a:r>
              <a:rPr sz="1200" lang="en-US">
                <a:solidFill>
                  <a:srgbClr val="1E293B"/>
                </a:solidFill>
              </a:rPr>
              <a:t xml:space="preserve">Start at the midpoint of the signal path to halve your search space. If the I/O module LED is lit (layer 3 is good), the problem is either in logic (layer 4) or HMI (layer 5) — you've eliminated layers 1–3 in one check.</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AccentBar"/>
          <p:cNvSpPr/>
          <p:nvPr/>
        </p:nvSpPr>
        <p:spPr>
          <a:xfrm>
            <a:off x="0" y="0"/>
            <a:ext cx="9144000" cy="50800"/>
          </a:xfrm>
          <a:prstGeom prst="rect">
            <a:avLst/>
          </a:prstGeom>
          <a:gradFill rotWithShape="0">
            <a:gsLst>
              <a:gs pos="0">
                <a:srgbClr val="1E3A5F"/>
              </a:gs>
              <a:gs pos="100000">
                <a:srgbClr val="E8A820"/>
              </a:gs>
            </a:gsLst>
            <a:lin ang="0" scaled="0" flip="none"/>
          </a:gradFill>
        </p:spPr>
        <p:txBody>
          <a:bodyPr/>
          <a:lstStyle/>
          <a:p/>
        </p:txBody>
      </p:sp>
      <p:sp>
        <p:nvSpPr>
          <p:cNvPr id="7" name="FooterStrip"/>
          <p:cNvSpPr/>
          <p:nvPr/>
        </p:nvSpPr>
        <p:spPr>
          <a:xfrm>
            <a:off x="0" y="6781800"/>
            <a:ext cx="9144000" cy="76200"/>
          </a:xfrm>
          <a:prstGeom prst="rect">
            <a:avLst/>
          </a:prstGeom>
          <a:solidFill>
            <a:srgbClr val="F1F5F9"/>
          </a:solidFill>
          <a:ln>
            <a:noFill/>
          </a:ln>
        </p:spPr>
        <p:txBody>
          <a:bodyPr/>
          <a:lstStyle/>
          <a:p/>
        </p:txBody>
      </p:sp>
      <p:sp>
        <p:nvSpPr>
          <p:cNvPr id="2" name="Title"/>
          <p:cNvSpPr>
            <a:spLocks noGrp="1"/>
          </p:cNvSpPr>
          <p:nvPr>
            <p:ph type="title"/>
          </p:nvPr>
        </p:nvSpPr>
        <p:spPr>
          <a:xfrm>
            <a:off x="457200" y="142240"/>
            <a:ext cx="8229600" cy="900000"/>
          </a:xfrm>
          <a:prstGeom prst="rect">
            <a:avLst/>
          </a:prstGeom>
        </p:spPr>
        <p:txBody>
          <a:bodyPr wrap="square" anchor="t" vert="horz"/>
          <a:lstStyle/>
          <a:p>
            <a:r>
              <a:rPr sz="2400" b="1" lang="en-US">
                <a:solidFill>
                  <a:srgbClr val="0F2440"/>
                </a:solidFill>
              </a:rPr>
              <a:t xml:space="preserve">Lesson: Data Types &amp; Tag Structure</a:t>
            </a:r>
          </a:p>
        </p:txBody>
      </p:sp>
      <p:sp>
        <p:nvSpPr>
          <p:cNvPr id="6" name="HeadingUnderline"/>
          <p:cNvSpPr/>
          <p:nvPr/>
        </p:nvSpPr>
        <p:spPr>
          <a:xfrm>
            <a:off x="457200" y="1042240"/>
            <a:ext cx="8229600" cy="38100"/>
          </a:xfrm>
          <a:prstGeom prst="rect">
            <a:avLst/>
          </a:prstGeom>
          <a:solidFill>
            <a:srgbClr val="E8A820"/>
          </a:solidFill>
        </p:spPr>
        <p:txBody>
          <a:bodyPr/>
          <a:lstStyle/>
          <a:p/>
        </p:txBody>
      </p:sp>
      <p:sp>
        <p:nvSpPr>
          <p:cNvPr id="3" name="Content"/>
          <p:cNvSpPr>
            <a:spLocks noGrp="1"/>
          </p:cNvSpPr>
          <p:nvPr>
            <p:ph idx="1" type="body"/>
          </p:nvPr>
        </p:nvSpPr>
        <p:spPr>
          <a:xfrm>
            <a:off x="457200" y="1171780"/>
            <a:ext cx="8229600" cy="5564300"/>
          </a:xfrm>
          <a:prstGeom prst="rect">
            <a:avLst/>
          </a:prstGeom>
        </p:spPr>
        <p:txBody>
          <a:bodyPr wrap="square" anchor="t" vert="horz" lIns="91440" tIns="45720" rIns="91440" bIns="45720"/>
          <a:lstStyle>
            <a:lvl1pPr marL="457200" indent="-228600" algn="l">
              <a:buChar char="•"/>
              <a:defRPr sz="1200">
                <a:solidFill>
                  <a:srgbClr val="1E293B"/>
                </a:solidFill>
              </a:defRPr>
            </a:lvl1pPr>
          </a:lstStyle>
          <a:p>
            <a:pPr lvl="0" algn="l">
              <a:lnSpc>
                <a:spcPct val="112000"/>
              </a:lnSpc>
            </a:pPr>
            <a:r>
              <a:rPr sz="1200" lang="en-US">
                <a:solidFill>
                  <a:srgbClr val="1E293B"/>
                </a:solidFill>
              </a:rPr>
              <a:t xml:space="preserve">Understanding BOOL, INT, REAL, and tag naming conventions</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AccentBar"/>
          <p:cNvSpPr/>
          <p:nvPr/>
        </p:nvSpPr>
        <p:spPr>
          <a:xfrm>
            <a:off x="0" y="0"/>
            <a:ext cx="9144000" cy="50800"/>
          </a:xfrm>
          <a:prstGeom prst="rect">
            <a:avLst/>
          </a:prstGeom>
          <a:gradFill rotWithShape="0">
            <a:gsLst>
              <a:gs pos="0">
                <a:srgbClr val="1E3A5F"/>
              </a:gs>
              <a:gs pos="100000">
                <a:srgbClr val="E8A820"/>
              </a:gs>
            </a:gsLst>
            <a:lin ang="0" scaled="0" flip="none"/>
          </a:gradFill>
        </p:spPr>
        <p:txBody>
          <a:bodyPr/>
          <a:lstStyle/>
          <a:p/>
        </p:txBody>
      </p:sp>
      <p:sp>
        <p:nvSpPr>
          <p:cNvPr id="7" name="FooterStrip"/>
          <p:cNvSpPr/>
          <p:nvPr/>
        </p:nvSpPr>
        <p:spPr>
          <a:xfrm>
            <a:off x="0" y="6781800"/>
            <a:ext cx="9144000" cy="76200"/>
          </a:xfrm>
          <a:prstGeom prst="rect">
            <a:avLst/>
          </a:prstGeom>
          <a:solidFill>
            <a:srgbClr val="F1F5F9"/>
          </a:solidFill>
          <a:ln>
            <a:noFill/>
          </a:ln>
        </p:spPr>
        <p:txBody>
          <a:bodyPr/>
          <a:lstStyle/>
          <a:p/>
        </p:txBody>
      </p:sp>
      <p:sp>
        <p:nvSpPr>
          <p:cNvPr id="2" name="Title"/>
          <p:cNvSpPr>
            <a:spLocks noGrp="1"/>
          </p:cNvSpPr>
          <p:nvPr>
            <p:ph type="title"/>
          </p:nvPr>
        </p:nvSpPr>
        <p:spPr>
          <a:xfrm>
            <a:off x="457200" y="142240"/>
            <a:ext cx="8229600" cy="900000"/>
          </a:xfrm>
          <a:prstGeom prst="rect">
            <a:avLst/>
          </a:prstGeom>
        </p:spPr>
        <p:txBody>
          <a:bodyPr wrap="square" anchor="t" vert="horz"/>
          <a:lstStyle/>
          <a:p>
            <a:r>
              <a:rPr sz="2400" b="1" lang="en-US">
                <a:solidFill>
                  <a:srgbClr val="0F2440"/>
                </a:solidFill>
              </a:rPr>
              <a:t xml:space="preserve">Data Types &amp; Tag Structure</a:t>
            </a:r>
          </a:p>
        </p:txBody>
      </p:sp>
      <p:sp>
        <p:nvSpPr>
          <p:cNvPr id="6" name="HeadingUnderline"/>
          <p:cNvSpPr/>
          <p:nvPr/>
        </p:nvSpPr>
        <p:spPr>
          <a:xfrm>
            <a:off x="457200" y="1042240"/>
            <a:ext cx="8229600" cy="38100"/>
          </a:xfrm>
          <a:prstGeom prst="rect">
            <a:avLst/>
          </a:prstGeom>
          <a:solidFill>
            <a:srgbClr val="E8A820"/>
          </a:solidFill>
        </p:spPr>
        <p:txBody>
          <a:bodyPr/>
          <a:lstStyle/>
          <a:p/>
        </p:txBody>
      </p:sp>
      <p:sp>
        <p:nvSpPr>
          <p:cNvPr id="3" name="Content"/>
          <p:cNvSpPr>
            <a:spLocks noGrp="1"/>
          </p:cNvSpPr>
          <p:nvPr>
            <p:ph idx="1" type="body"/>
          </p:nvPr>
        </p:nvSpPr>
        <p:spPr>
          <a:xfrm>
            <a:off x="457200" y="1171780"/>
            <a:ext cx="8229600" cy="5564300"/>
          </a:xfrm>
          <a:prstGeom prst="rect">
            <a:avLst/>
          </a:prstGeom>
        </p:spPr>
        <p:txBody>
          <a:bodyPr wrap="square" anchor="t" vert="horz" lIns="91440" tIns="45720" rIns="91440" bIns="45720"/>
          <a:lstStyle>
            <a:lvl1pPr marL="457200" indent="-228600" algn="l">
              <a:buChar char="•"/>
              <a:defRPr sz="1200">
                <a:solidFill>
                  <a:srgbClr val="1E293B"/>
                </a:solidFill>
              </a:defRPr>
            </a:lvl1pPr>
          </a:lstStyle>
          <a:p>
            <a:pPr lvl="0" algn="l">
              <a:lnSpc>
                <a:spcPct val="112000"/>
              </a:lnSpc>
            </a:pPr>
            <a:r>
              <a:rPr sz="1200" lang="en-US">
                <a:solidFill>
                  <a:srgbClr val="1E293B"/>
                </a:solidFill>
              </a:rPr>
              <a:t xml:space="preserve">Before reading tags in the I/O dashboard, you need to understand what you're looking at.</a:t>
            </a:r>
          </a:p>
          <a:p>
            <a:pPr lvl="0" algn="l">
              <a:lnSpc>
                <a:spcPct val="112000"/>
              </a:lnSpc>
            </a:pPr>
            <a:r>
              <a:rPr sz="1200" lang="en-US">
                <a:solidFill>
                  <a:srgbClr val="1E293B"/>
                </a:solidFill>
              </a:rPr>
              <a:t xml:space="preserve">Table: Data Type | Description | Example</a:t>
            </a:r>
          </a:p>
          <a:p>
            <a:pPr lvl="0" algn="l">
              <a:lnSpc>
                <a:spcPct val="112000"/>
              </a:lnSpc>
            </a:pPr>
            <a:r>
              <a:rPr sz="1200" lang="en-US">
                <a:solidFill>
                  <a:srgbClr val="1E293B"/>
                </a:solidFill>
              </a:rPr>
              <a:t xml:space="preserve">BOOL | True/False, ON/OFF, 1/0 | Proximity sensor state, push button state</a:t>
            </a:r>
          </a:p>
          <a:p>
            <a:pPr lvl="0" algn="l">
              <a:lnSpc>
                <a:spcPct val="112000"/>
              </a:lnSpc>
            </a:pPr>
            <a:r>
              <a:rPr sz="1200" lang="en-US">
                <a:solidFill>
                  <a:srgbClr val="1E293B"/>
                </a:solidFill>
              </a:rPr>
              <a:t xml:space="preserve">INT (16-bit) | Whole number -32,768 to 32,767 | Counter values, small setpoints</a:t>
            </a:r>
          </a:p>
          <a:p>
            <a:pPr lvl="0" algn="l">
              <a:lnSpc>
                <a:spcPct val="112000"/>
              </a:lnSpc>
            </a:pPr>
            <a:r>
              <a:rPr sz="1200" lang="en-US">
                <a:solidFill>
                  <a:srgbClr val="1E293B"/>
                </a:solidFill>
              </a:rPr>
              <a:t xml:space="preserve">DINT (32-bit) | Whole number ±2.1 billion | High-speed counter values, encoder counts</a:t>
            </a:r>
          </a:p>
          <a:p>
            <a:pPr lvl="0" algn="l">
              <a:lnSpc>
                <a:spcPct val="112000"/>
              </a:lnSpc>
            </a:pPr>
            <a:r>
              <a:rPr sz="1200" lang="en-US">
                <a:solidFill>
                  <a:srgbClr val="1E293B"/>
                </a:solidFill>
              </a:rPr>
              <a:t xml:space="preserve">REAL (floating point) | Decimal numbers | Temperature (72.5°F), pressure (45.3 PSI)</a:t>
            </a:r>
          </a:p>
          <a:p>
            <a:pPr lvl="0" algn="l">
              <a:lnSpc>
                <a:spcPct val="112000"/>
              </a:lnSpc>
            </a:pPr>
            <a:r>
              <a:rPr sz="1200" lang="en-US">
                <a:solidFill>
                  <a:srgbClr val="1E293B"/>
                </a:solidFill>
              </a:rPr>
              <a:t xml:space="preserve">STRING | Text | HMI messages, recipe names</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AccentBar"/>
          <p:cNvSpPr/>
          <p:nvPr/>
        </p:nvSpPr>
        <p:spPr>
          <a:xfrm>
            <a:off x="0" y="0"/>
            <a:ext cx="9144000" cy="50800"/>
          </a:xfrm>
          <a:prstGeom prst="rect">
            <a:avLst/>
          </a:prstGeom>
          <a:gradFill rotWithShape="0">
            <a:gsLst>
              <a:gs pos="0">
                <a:srgbClr val="1E3A5F"/>
              </a:gs>
              <a:gs pos="100000">
                <a:srgbClr val="E8A820"/>
              </a:gs>
            </a:gsLst>
            <a:lin ang="0" scaled="0" flip="none"/>
          </a:gradFill>
        </p:spPr>
        <p:txBody>
          <a:bodyPr/>
          <a:lstStyle/>
          <a:p/>
        </p:txBody>
      </p:sp>
      <p:sp>
        <p:nvSpPr>
          <p:cNvPr id="7" name="FooterStrip"/>
          <p:cNvSpPr/>
          <p:nvPr/>
        </p:nvSpPr>
        <p:spPr>
          <a:xfrm>
            <a:off x="0" y="6781800"/>
            <a:ext cx="9144000" cy="76200"/>
          </a:xfrm>
          <a:prstGeom prst="rect">
            <a:avLst/>
          </a:prstGeom>
          <a:solidFill>
            <a:srgbClr val="F1F5F9"/>
          </a:solidFill>
          <a:ln>
            <a:noFill/>
          </a:ln>
        </p:spPr>
        <p:txBody>
          <a:bodyPr/>
          <a:lstStyle/>
          <a:p/>
        </p:txBody>
      </p:sp>
      <p:sp>
        <p:nvSpPr>
          <p:cNvPr id="2" name="Title"/>
          <p:cNvSpPr>
            <a:spLocks noGrp="1"/>
          </p:cNvSpPr>
          <p:nvPr>
            <p:ph type="title"/>
          </p:nvPr>
        </p:nvSpPr>
        <p:spPr>
          <a:xfrm>
            <a:off x="457200" y="142240"/>
            <a:ext cx="8229600" cy="900000"/>
          </a:xfrm>
          <a:prstGeom prst="rect">
            <a:avLst/>
          </a:prstGeom>
        </p:spPr>
        <p:txBody>
          <a:bodyPr wrap="square" anchor="t" vert="horz"/>
          <a:lstStyle/>
          <a:p>
            <a:r>
              <a:rPr sz="2400" b="1" lang="en-US">
                <a:solidFill>
                  <a:srgbClr val="0F2440"/>
                </a:solidFill>
              </a:rPr>
              <a:t xml:space="preserve">Tag Naming Conventions</a:t>
            </a:r>
          </a:p>
        </p:txBody>
      </p:sp>
      <p:sp>
        <p:nvSpPr>
          <p:cNvPr id="6" name="HeadingUnderline"/>
          <p:cNvSpPr/>
          <p:nvPr/>
        </p:nvSpPr>
        <p:spPr>
          <a:xfrm>
            <a:off x="457200" y="1042240"/>
            <a:ext cx="8229600" cy="38100"/>
          </a:xfrm>
          <a:prstGeom prst="rect">
            <a:avLst/>
          </a:prstGeom>
          <a:solidFill>
            <a:srgbClr val="E8A820"/>
          </a:solidFill>
        </p:spPr>
        <p:txBody>
          <a:bodyPr/>
          <a:lstStyle/>
          <a:p/>
        </p:txBody>
      </p:sp>
      <p:sp>
        <p:nvSpPr>
          <p:cNvPr id="3" name="Content"/>
          <p:cNvSpPr>
            <a:spLocks noGrp="1"/>
          </p:cNvSpPr>
          <p:nvPr>
            <p:ph idx="1" type="body"/>
          </p:nvPr>
        </p:nvSpPr>
        <p:spPr>
          <a:xfrm>
            <a:off x="457200" y="1171780"/>
            <a:ext cx="8229600" cy="5564300"/>
          </a:xfrm>
          <a:prstGeom prst="rect">
            <a:avLst/>
          </a:prstGeom>
        </p:spPr>
        <p:txBody>
          <a:bodyPr wrap="square" anchor="t" vert="horz" lIns="91440" tIns="45720" rIns="91440" bIns="45720"/>
          <a:lstStyle>
            <a:lvl1pPr marL="457200" indent="-228600" algn="l">
              <a:buChar char="•"/>
              <a:defRPr sz="1200">
                <a:solidFill>
                  <a:srgbClr val="1E293B"/>
                </a:solidFill>
              </a:defRPr>
            </a:lvl1pPr>
          </a:lstStyle>
          <a:p>
            <a:pPr lvl="0" algn="l">
              <a:lnSpc>
                <a:spcPct val="112000"/>
              </a:lnSpc>
            </a:pPr>
            <a:r>
              <a:rPr sz="1200" lang="en-US">
                <a:solidFill>
                  <a:srgbClr val="1E293B"/>
                </a:solidFill>
              </a:rPr>
              <a:t xml:space="preserve">Good tag names follow a prefix-based convention that tells you the function area at a glance:</a:t>
            </a:r>
          </a:p>
          <a:p>
            <a:pPr lvl="0" algn="l">
              <a:lnSpc>
                <a:spcPct val="112000"/>
              </a:lnSpc>
            </a:pPr>
            <a:r>
              <a:rPr sz="1200" lang="en-US">
                <a:solidFill>
                  <a:srgbClr val="1E293B"/>
                </a:solidFill>
              </a:rPr>
              <a:t xml:space="preserve">SAFETY_EStop — safety function, E-stop circuit</a:t>
            </a:r>
          </a:p>
          <a:p>
            <a:pPr lvl="0" algn="l">
              <a:lnSpc>
                <a:spcPct val="112000"/>
              </a:lnSpc>
            </a:pPr>
            <a:r>
              <a:rPr sz="1200" lang="en-US">
                <a:solidFill>
                  <a:srgbClr val="1E293B"/>
                </a:solidFill>
              </a:rPr>
              <a:t xml:space="preserve">MOTION_AxisHome — motion control, axis home position</a:t>
            </a:r>
          </a:p>
          <a:p>
            <a:pPr lvl="0" algn="l">
              <a:lnSpc>
                <a:spcPct val="112000"/>
              </a:lnSpc>
            </a:pPr>
            <a:r>
              <a:rPr sz="1200" lang="en-US">
                <a:solidFill>
                  <a:srgbClr val="1E293B"/>
                </a:solidFill>
              </a:rPr>
              <a:t xml:space="preserve">HMI_CycleStart — HMI-triggered, cycle start command</a:t>
            </a:r>
          </a:p>
          <a:p>
            <a:pPr lvl="0" algn="l">
              <a:lnSpc>
                <a:spcPct val="112000"/>
              </a:lnSpc>
            </a:pPr>
            <a:r>
              <a:rPr sz="1200" lang="en-US">
                <a:solidFill>
                  <a:srgbClr val="1E293B"/>
                </a:solidFill>
              </a:rPr>
              <a:t xml:space="preserve">CONV_ProxSensor1 — conveyor area, proximity sensor 1</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AccentBar"/>
          <p:cNvSpPr/>
          <p:nvPr/>
        </p:nvSpPr>
        <p:spPr>
          <a:xfrm>
            <a:off x="0" y="0"/>
            <a:ext cx="9144000" cy="50800"/>
          </a:xfrm>
          <a:prstGeom prst="rect">
            <a:avLst/>
          </a:prstGeom>
          <a:gradFill rotWithShape="0">
            <a:gsLst>
              <a:gs pos="0">
                <a:srgbClr val="1E3A5F"/>
              </a:gs>
              <a:gs pos="100000">
                <a:srgbClr val="E8A820"/>
              </a:gs>
            </a:gsLst>
            <a:lin ang="0" scaled="0" flip="none"/>
          </a:gradFill>
        </p:spPr>
        <p:txBody>
          <a:bodyPr/>
          <a:lstStyle/>
          <a:p/>
        </p:txBody>
      </p:sp>
      <p:sp>
        <p:nvSpPr>
          <p:cNvPr id="7" name="FooterStrip"/>
          <p:cNvSpPr/>
          <p:nvPr/>
        </p:nvSpPr>
        <p:spPr>
          <a:xfrm>
            <a:off x="0" y="6781800"/>
            <a:ext cx="9144000" cy="76200"/>
          </a:xfrm>
          <a:prstGeom prst="rect">
            <a:avLst/>
          </a:prstGeom>
          <a:solidFill>
            <a:srgbClr val="F1F5F9"/>
          </a:solidFill>
          <a:ln>
            <a:noFill/>
          </a:ln>
        </p:spPr>
        <p:txBody>
          <a:bodyPr/>
          <a:lstStyle/>
          <a:p/>
        </p:txBody>
      </p:sp>
      <p:sp>
        <p:nvSpPr>
          <p:cNvPr id="2" name="Title"/>
          <p:cNvSpPr>
            <a:spLocks noGrp="1"/>
          </p:cNvSpPr>
          <p:nvPr>
            <p:ph type="title"/>
          </p:nvPr>
        </p:nvSpPr>
        <p:spPr>
          <a:xfrm>
            <a:off x="457200" y="142240"/>
            <a:ext cx="8229600" cy="900000"/>
          </a:xfrm>
          <a:prstGeom prst="rect">
            <a:avLst/>
          </a:prstGeom>
        </p:spPr>
        <p:txBody>
          <a:bodyPr wrap="square" anchor="t" vert="horz"/>
          <a:lstStyle/>
          <a:p>
            <a:r>
              <a:rPr sz="2400" b="1" lang="en-US">
                <a:solidFill>
                  <a:srgbClr val="0F2440"/>
                </a:solidFill>
              </a:rPr>
              <a:t xml:space="preserve">Global vs. Local Variables</a:t>
            </a:r>
          </a:p>
        </p:txBody>
      </p:sp>
      <p:sp>
        <p:nvSpPr>
          <p:cNvPr id="6" name="HeadingUnderline"/>
          <p:cNvSpPr/>
          <p:nvPr/>
        </p:nvSpPr>
        <p:spPr>
          <a:xfrm>
            <a:off x="457200" y="1042240"/>
            <a:ext cx="8229600" cy="38100"/>
          </a:xfrm>
          <a:prstGeom prst="rect">
            <a:avLst/>
          </a:prstGeom>
          <a:solidFill>
            <a:srgbClr val="E8A820"/>
          </a:solidFill>
        </p:spPr>
        <p:txBody>
          <a:bodyPr/>
          <a:lstStyle/>
          <a:p/>
        </p:txBody>
      </p:sp>
      <p:sp>
        <p:nvSpPr>
          <p:cNvPr id="3" name="Content"/>
          <p:cNvSpPr>
            <a:spLocks noGrp="1"/>
          </p:cNvSpPr>
          <p:nvPr>
            <p:ph idx="1" type="body"/>
          </p:nvPr>
        </p:nvSpPr>
        <p:spPr>
          <a:xfrm>
            <a:off x="457200" y="1171780"/>
            <a:ext cx="8229600" cy="5564300"/>
          </a:xfrm>
          <a:prstGeom prst="rect">
            <a:avLst/>
          </a:prstGeom>
        </p:spPr>
        <p:txBody>
          <a:bodyPr wrap="square" anchor="t" vert="horz" lIns="91440" tIns="45720" rIns="91440" bIns="45720"/>
          <a:lstStyle>
            <a:lvl1pPr marL="457200" indent="-228600" algn="l">
              <a:buChar char="•"/>
              <a:defRPr sz="1200">
                <a:solidFill>
                  <a:srgbClr val="1E293B"/>
                </a:solidFill>
              </a:defRPr>
            </a:lvl1pPr>
          </a:lstStyle>
          <a:p>
            <a:pPr lvl="0" algn="l">
              <a:lnSpc>
                <a:spcPct val="112000"/>
              </a:lnSpc>
            </a:pPr>
            <a:r>
              <a:rPr sz="1200" lang="en-US">
                <a:solidFill>
                  <a:srgbClr val="1E293B"/>
                </a:solidFill>
              </a:rPr>
              <a:t xml:space="preserve">A global variable is accessible from any program block in the PLC project. A local (program-scoped) variable is only visible within its own routine. Most I/O tags and inter-program signals should be global. Temporary calculation variables can be local.</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AccentBar"/>
          <p:cNvSpPr/>
          <p:nvPr/>
        </p:nvSpPr>
        <p:spPr>
          <a:xfrm>
            <a:off x="0" y="0"/>
            <a:ext cx="9144000" cy="50800"/>
          </a:xfrm>
          <a:prstGeom prst="rect">
            <a:avLst/>
          </a:prstGeom>
          <a:gradFill rotWithShape="0">
            <a:gsLst>
              <a:gs pos="0">
                <a:srgbClr val="1E3A5F"/>
              </a:gs>
              <a:gs pos="100000">
                <a:srgbClr val="E8A820"/>
              </a:gs>
            </a:gsLst>
            <a:lin ang="0" scaled="0" flip="none"/>
          </a:gradFill>
        </p:spPr>
        <p:txBody>
          <a:bodyPr/>
          <a:lstStyle/>
          <a:p/>
        </p:txBody>
      </p:sp>
      <p:sp>
        <p:nvSpPr>
          <p:cNvPr id="7" name="FooterStrip"/>
          <p:cNvSpPr/>
          <p:nvPr/>
        </p:nvSpPr>
        <p:spPr>
          <a:xfrm>
            <a:off x="0" y="6781800"/>
            <a:ext cx="9144000" cy="76200"/>
          </a:xfrm>
          <a:prstGeom prst="rect">
            <a:avLst/>
          </a:prstGeom>
          <a:solidFill>
            <a:srgbClr val="F1F5F9"/>
          </a:solidFill>
          <a:ln>
            <a:noFill/>
          </a:ln>
        </p:spPr>
        <p:txBody>
          <a:bodyPr/>
          <a:lstStyle/>
          <a:p/>
        </p:txBody>
      </p:sp>
      <p:sp>
        <p:nvSpPr>
          <p:cNvPr id="2" name="Title"/>
          <p:cNvSpPr>
            <a:spLocks noGrp="1"/>
          </p:cNvSpPr>
          <p:nvPr>
            <p:ph type="title"/>
          </p:nvPr>
        </p:nvSpPr>
        <p:spPr>
          <a:xfrm>
            <a:off x="457200" y="142240"/>
            <a:ext cx="8229600" cy="900000"/>
          </a:xfrm>
          <a:prstGeom prst="rect">
            <a:avLst/>
          </a:prstGeom>
        </p:spPr>
        <p:txBody>
          <a:bodyPr wrap="square" anchor="t" vert="horz"/>
          <a:lstStyle/>
          <a:p>
            <a:r>
              <a:rPr sz="2400" b="1" lang="en-US">
                <a:solidFill>
                  <a:srgbClr val="0F2440"/>
                </a:solidFill>
              </a:rPr>
              <a:t xml:space="preserve">Lesson: Reviewing Signals — Omron</a:t>
            </a:r>
          </a:p>
        </p:txBody>
      </p:sp>
      <p:sp>
        <p:nvSpPr>
          <p:cNvPr id="6" name="HeadingUnderline"/>
          <p:cNvSpPr/>
          <p:nvPr/>
        </p:nvSpPr>
        <p:spPr>
          <a:xfrm>
            <a:off x="457200" y="1042240"/>
            <a:ext cx="8229600" cy="38100"/>
          </a:xfrm>
          <a:prstGeom prst="rect">
            <a:avLst/>
          </a:prstGeom>
          <a:solidFill>
            <a:srgbClr val="E8A820"/>
          </a:solidFill>
        </p:spPr>
        <p:txBody>
          <a:bodyPr/>
          <a:lstStyle/>
          <a:p/>
        </p:txBody>
      </p:sp>
      <p:sp>
        <p:nvSpPr>
          <p:cNvPr id="3" name="Content"/>
          <p:cNvSpPr>
            <a:spLocks noGrp="1"/>
          </p:cNvSpPr>
          <p:nvPr>
            <p:ph idx="1" type="body"/>
          </p:nvPr>
        </p:nvSpPr>
        <p:spPr>
          <a:xfrm>
            <a:off x="457200" y="1171780"/>
            <a:ext cx="8229600" cy="5564300"/>
          </a:xfrm>
          <a:prstGeom prst="rect">
            <a:avLst/>
          </a:prstGeom>
        </p:spPr>
        <p:txBody>
          <a:bodyPr wrap="square" anchor="t" vert="horz" lIns="91440" tIns="45720" rIns="91440" bIns="45720"/>
          <a:lstStyle>
            <a:lvl1pPr marL="457200" indent="-228600" algn="l">
              <a:buChar char="•"/>
              <a:defRPr sz="1200">
                <a:solidFill>
                  <a:srgbClr val="1E293B"/>
                </a:solidFill>
              </a:defRPr>
            </a:lvl1pPr>
          </a:lstStyle>
          <a:p>
            <a:pPr lvl="0" algn="l">
              <a:lnSpc>
                <a:spcPct val="112000"/>
              </a:lnSpc>
            </a:pPr>
            <a:r>
              <a:rPr sz="1200" lang="en-US">
                <a:solidFill>
                  <a:srgbClr val="1E293B"/>
                </a:solidFill>
              </a:rPr>
              <a:t xml:space="preserve">I/O dashboard, variable monitoring, and live logic viewing in Sysmac Studio</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AccentBar"/>
          <p:cNvSpPr/>
          <p:nvPr/>
        </p:nvSpPr>
        <p:spPr>
          <a:xfrm>
            <a:off x="0" y="0"/>
            <a:ext cx="9144000" cy="50800"/>
          </a:xfrm>
          <a:prstGeom prst="rect">
            <a:avLst/>
          </a:prstGeom>
          <a:gradFill rotWithShape="0">
            <a:gsLst>
              <a:gs pos="0">
                <a:srgbClr val="1E3A5F"/>
              </a:gs>
              <a:gs pos="100000">
                <a:srgbClr val="E8A820"/>
              </a:gs>
            </a:gsLst>
            <a:lin ang="0" scaled="0" flip="none"/>
          </a:gradFill>
        </p:spPr>
        <p:txBody>
          <a:bodyPr/>
          <a:lstStyle/>
          <a:p/>
        </p:txBody>
      </p:sp>
      <p:sp>
        <p:nvSpPr>
          <p:cNvPr id="7" name="FooterStrip"/>
          <p:cNvSpPr/>
          <p:nvPr/>
        </p:nvSpPr>
        <p:spPr>
          <a:xfrm>
            <a:off x="0" y="6781800"/>
            <a:ext cx="9144000" cy="76200"/>
          </a:xfrm>
          <a:prstGeom prst="rect">
            <a:avLst/>
          </a:prstGeom>
          <a:solidFill>
            <a:srgbClr val="F1F5F9"/>
          </a:solidFill>
          <a:ln>
            <a:noFill/>
          </a:ln>
        </p:spPr>
        <p:txBody>
          <a:bodyPr/>
          <a:lstStyle/>
          <a:p/>
        </p:txBody>
      </p:sp>
      <p:sp>
        <p:nvSpPr>
          <p:cNvPr id="2" name="Title"/>
          <p:cNvSpPr>
            <a:spLocks noGrp="1"/>
          </p:cNvSpPr>
          <p:nvPr>
            <p:ph type="title"/>
          </p:nvPr>
        </p:nvSpPr>
        <p:spPr>
          <a:xfrm>
            <a:off x="457200" y="142240"/>
            <a:ext cx="8229600" cy="900000"/>
          </a:xfrm>
          <a:prstGeom prst="rect">
            <a:avLst/>
          </a:prstGeom>
        </p:spPr>
        <p:txBody>
          <a:bodyPr wrap="square" anchor="t" vert="horz"/>
          <a:lstStyle/>
          <a:p>
            <a:r>
              <a:rPr sz="2400" b="1" lang="en-US">
                <a:solidFill>
                  <a:srgbClr val="0F2440"/>
                </a:solidFill>
              </a:rPr>
              <a:t xml:space="preserve">The I/O Dashboard</a:t>
            </a:r>
          </a:p>
        </p:txBody>
      </p:sp>
      <p:sp>
        <p:nvSpPr>
          <p:cNvPr id="6" name="HeadingUnderline"/>
          <p:cNvSpPr/>
          <p:nvPr/>
        </p:nvSpPr>
        <p:spPr>
          <a:xfrm>
            <a:off x="457200" y="1042240"/>
            <a:ext cx="8229600" cy="38100"/>
          </a:xfrm>
          <a:prstGeom prst="rect">
            <a:avLst/>
          </a:prstGeom>
          <a:solidFill>
            <a:srgbClr val="E8A820"/>
          </a:solidFill>
        </p:spPr>
        <p:txBody>
          <a:bodyPr/>
          <a:lstStyle/>
          <a:p/>
        </p:txBody>
      </p:sp>
      <p:sp>
        <p:nvSpPr>
          <p:cNvPr id="3" name="Content"/>
          <p:cNvSpPr>
            <a:spLocks noGrp="1"/>
          </p:cNvSpPr>
          <p:nvPr>
            <p:ph idx="1" type="body"/>
          </p:nvPr>
        </p:nvSpPr>
        <p:spPr>
          <a:xfrm>
            <a:off x="457200" y="1171780"/>
            <a:ext cx="8229600" cy="5564300"/>
          </a:xfrm>
          <a:prstGeom prst="rect">
            <a:avLst/>
          </a:prstGeom>
        </p:spPr>
        <p:txBody>
          <a:bodyPr wrap="square" anchor="t" vert="horz" lIns="91440" tIns="45720" rIns="91440" bIns="45720"/>
          <a:lstStyle>
            <a:lvl1pPr marL="457200" indent="-228600" algn="l">
              <a:buChar char="•"/>
              <a:defRPr sz="1200">
                <a:solidFill>
                  <a:srgbClr val="1E293B"/>
                </a:solidFill>
              </a:defRPr>
            </a:lvl1pPr>
          </a:lstStyle>
          <a:p>
            <a:pPr lvl="0" algn="l">
              <a:lnSpc>
                <a:spcPct val="112000"/>
              </a:lnSpc>
            </a:pPr>
            <a:r>
              <a:rPr sz="1200" lang="en-US">
                <a:solidFill>
                  <a:srgbClr val="1E293B"/>
                </a:solidFill>
              </a:rPr>
              <a:t xml:space="preserve">Open the I/O dashboard to see all input and output signals in a single view. Key columns:</a:t>
            </a:r>
          </a:p>
          <a:p>
            <a:pPr lvl="0" algn="l">
              <a:lnSpc>
                <a:spcPct val="112000"/>
              </a:lnSpc>
            </a:pPr>
            <a:r>
              <a:rPr sz="1200" lang="en-US">
                <a:solidFill>
                  <a:srgbClr val="1E293B"/>
                </a:solidFill>
              </a:rPr>
              <a:t xml:space="preserve">Node column: Which I/O node/module the signal is connected to. If blank, it's a global variable defined in logic.</a:t>
            </a:r>
          </a:p>
          <a:p>
            <a:pPr lvl="0" algn="l">
              <a:lnSpc>
                <a:spcPct val="112000"/>
              </a:lnSpc>
            </a:pPr>
            <a:r>
              <a:rPr sz="1200" lang="en-US">
                <a:solidFill>
                  <a:srgbClr val="1E293B"/>
                </a:solidFill>
              </a:rPr>
              <a:t xml:space="preserve">Variable name: The tag name used in the ladder logic</a:t>
            </a:r>
          </a:p>
          <a:p>
            <a:pPr lvl="0" algn="l">
              <a:lnSpc>
                <a:spcPct val="112000"/>
              </a:lnSpc>
            </a:pPr>
            <a:r>
              <a:rPr sz="1200" lang="en-US">
                <a:solidFill>
                  <a:srgbClr val="1E293B"/>
                </a:solidFill>
              </a:rPr>
              <a:t xml:space="preserve">Current value: Live value — TRUE/FALSE for BOOL, numeric for INT/REAL</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AccentBar"/>
          <p:cNvSpPr/>
          <p:nvPr/>
        </p:nvSpPr>
        <p:spPr>
          <a:xfrm>
            <a:off x="0" y="0"/>
            <a:ext cx="9144000" cy="50800"/>
          </a:xfrm>
          <a:prstGeom prst="rect">
            <a:avLst/>
          </a:prstGeom>
          <a:gradFill rotWithShape="0">
            <a:gsLst>
              <a:gs pos="0">
                <a:srgbClr val="1E3A5F"/>
              </a:gs>
              <a:gs pos="100000">
                <a:srgbClr val="E8A820"/>
              </a:gs>
            </a:gsLst>
            <a:lin ang="0" scaled="0" flip="none"/>
          </a:gradFill>
        </p:spPr>
        <p:txBody>
          <a:bodyPr/>
          <a:lstStyle/>
          <a:p/>
        </p:txBody>
      </p:sp>
      <p:sp>
        <p:nvSpPr>
          <p:cNvPr id="7" name="FooterStrip"/>
          <p:cNvSpPr/>
          <p:nvPr/>
        </p:nvSpPr>
        <p:spPr>
          <a:xfrm>
            <a:off x="0" y="6781800"/>
            <a:ext cx="9144000" cy="76200"/>
          </a:xfrm>
          <a:prstGeom prst="rect">
            <a:avLst/>
          </a:prstGeom>
          <a:solidFill>
            <a:srgbClr val="F1F5F9"/>
          </a:solidFill>
          <a:ln>
            <a:noFill/>
          </a:ln>
        </p:spPr>
        <p:txBody>
          <a:bodyPr/>
          <a:lstStyle/>
          <a:p/>
        </p:txBody>
      </p:sp>
      <p:sp>
        <p:nvSpPr>
          <p:cNvPr id="2" name="Title"/>
          <p:cNvSpPr>
            <a:spLocks noGrp="1"/>
          </p:cNvSpPr>
          <p:nvPr>
            <p:ph type="title"/>
          </p:nvPr>
        </p:nvSpPr>
        <p:spPr>
          <a:xfrm>
            <a:off x="457200" y="142240"/>
            <a:ext cx="8229600" cy="900000"/>
          </a:xfrm>
          <a:prstGeom prst="rect">
            <a:avLst/>
          </a:prstGeom>
        </p:spPr>
        <p:txBody>
          <a:bodyPr wrap="square" anchor="t" vert="horz"/>
          <a:lstStyle/>
          <a:p>
            <a:r>
              <a:rPr sz="2400" b="1" lang="en-US">
                <a:solidFill>
                  <a:srgbClr val="0F2440"/>
                </a:solidFill>
              </a:rPr>
              <a:t xml:space="preserve">Live Logic Viewing</a:t>
            </a:r>
          </a:p>
        </p:txBody>
      </p:sp>
      <p:sp>
        <p:nvSpPr>
          <p:cNvPr id="6" name="HeadingUnderline"/>
          <p:cNvSpPr/>
          <p:nvPr/>
        </p:nvSpPr>
        <p:spPr>
          <a:xfrm>
            <a:off x="457200" y="1042240"/>
            <a:ext cx="8229600" cy="38100"/>
          </a:xfrm>
          <a:prstGeom prst="rect">
            <a:avLst/>
          </a:prstGeom>
          <a:solidFill>
            <a:srgbClr val="E8A820"/>
          </a:solidFill>
        </p:spPr>
        <p:txBody>
          <a:bodyPr/>
          <a:lstStyle/>
          <a:p/>
        </p:txBody>
      </p:sp>
      <p:sp>
        <p:nvSpPr>
          <p:cNvPr id="3" name="Content"/>
          <p:cNvSpPr>
            <a:spLocks noGrp="1"/>
          </p:cNvSpPr>
          <p:nvPr>
            <p:ph idx="1" type="body"/>
          </p:nvPr>
        </p:nvSpPr>
        <p:spPr>
          <a:xfrm>
            <a:off x="457200" y="1171780"/>
            <a:ext cx="8229600" cy="5564300"/>
          </a:xfrm>
          <a:prstGeom prst="rect">
            <a:avLst/>
          </a:prstGeom>
        </p:spPr>
        <p:txBody>
          <a:bodyPr wrap="square" anchor="t" vert="horz" lIns="91440" tIns="45720" rIns="91440" bIns="45720"/>
          <a:lstStyle>
            <a:lvl1pPr marL="457200" indent="-228600" algn="l">
              <a:buChar char="•"/>
              <a:defRPr sz="1200">
                <a:solidFill>
                  <a:srgbClr val="1E293B"/>
                </a:solidFill>
              </a:defRPr>
            </a:lvl1pPr>
          </a:lstStyle>
          <a:p>
            <a:pPr lvl="0" algn="l">
              <a:lnSpc>
                <a:spcPct val="112000"/>
              </a:lnSpc>
            </a:pPr>
            <a:r>
              <a:rPr sz="1200" lang="en-US">
                <a:solidFill>
                  <a:srgbClr val="1E293B"/>
                </a:solidFill>
              </a:rPr>
              <a:t xml:space="preserve">Go to the Programs tab and expand it</a:t>
            </a:r>
          </a:p>
          <a:p>
            <a:pPr lvl="0" algn="l">
              <a:lnSpc>
                <a:spcPct val="112000"/>
              </a:lnSpc>
            </a:pPr>
            <a:r>
              <a:rPr sz="1200" lang="en-US">
                <a:solidFill>
                  <a:srgbClr val="1E293B"/>
                </a:solidFill>
              </a:rPr>
              <a:t xml:space="preserve">Double-click a program/routine to open the ladder logic editor</a:t>
            </a:r>
          </a:p>
          <a:p>
            <a:pPr lvl="0" algn="l">
              <a:lnSpc>
                <a:spcPct val="112000"/>
              </a:lnSpc>
            </a:pPr>
            <a:r>
              <a:rPr sz="1200" lang="en-US">
                <a:solidFill>
                  <a:srgbClr val="1E293B"/>
                </a:solidFill>
              </a:rPr>
              <a:t xml:space="preserve">Click the Monitor button (or toggle to online view) to see live values</a:t>
            </a:r>
          </a:p>
          <a:p>
            <a:pPr lvl="0" algn="l">
              <a:lnSpc>
                <a:spcPct val="112000"/>
              </a:lnSpc>
            </a:pPr>
            <a:r>
              <a:rPr sz="1200" lang="en-US">
                <a:solidFill>
                  <a:srgbClr val="1E293B"/>
                </a:solidFill>
              </a:rPr>
              <a:t xml:space="preserve">Contacts that are passing power show as highlighted/colored</a:t>
            </a:r>
          </a:p>
          <a:p>
            <a:pPr lvl="0" algn="l">
              <a:lnSpc>
                <a:spcPct val="112000"/>
              </a:lnSpc>
            </a:pPr>
            <a:r>
              <a:rPr sz="1200" lang="en-US">
                <a:solidFill>
                  <a:srgbClr val="1E293B"/>
                </a:solidFill>
              </a:rPr>
              <a:t xml:space="preserve">Contacts that are blocking power show as not highlighted</a:t>
            </a:r>
          </a:p>
          <a:p>
            <a:pPr lvl="0" algn="l">
              <a:lnSpc>
                <a:spcPct val="112000"/>
              </a:lnSpc>
            </a:pPr>
            <a:r>
              <a:rPr sz="1200" lang="en-US">
                <a:solidFill>
                  <a:srgbClr val="1E293B"/>
                </a:solidFill>
              </a:rPr>
              <a:t xml:space="preserve">Find the rung that is not working and identify which contact is blocking power flow</a:t>
            </a:r>
          </a:p>
          <a:p>
            <a:pPr lvl="0" algn="l">
              <a:lnSpc>
                <a:spcPct val="112000"/>
              </a:lnSpc>
            </a:pPr>
            <a:r>
              <a:rPr sz="1200" lang="en-US">
                <a:solidFill>
                  <a:srgbClr val="1E293B"/>
                </a:solidFill>
              </a:rPr>
              <a:t xml:space="preserve">[TIP] Cross-Reference: Right-click any tag in Sysmac Studio and select Cross Reference to see every rung where that tag is used. Essential for understanding complex programs.</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AccentBar"/>
          <p:cNvSpPr/>
          <p:nvPr/>
        </p:nvSpPr>
        <p:spPr>
          <a:xfrm>
            <a:off x="0" y="0"/>
            <a:ext cx="9144000" cy="50800"/>
          </a:xfrm>
          <a:prstGeom prst="rect">
            <a:avLst/>
          </a:prstGeom>
          <a:gradFill rotWithShape="0">
            <a:gsLst>
              <a:gs pos="0">
                <a:srgbClr val="1E3A5F"/>
              </a:gs>
              <a:gs pos="100000">
                <a:srgbClr val="E8A820"/>
              </a:gs>
            </a:gsLst>
            <a:lin ang="0" scaled="0" flip="none"/>
          </a:gradFill>
        </p:spPr>
        <p:txBody>
          <a:bodyPr/>
          <a:lstStyle/>
          <a:p/>
        </p:txBody>
      </p:sp>
      <p:sp>
        <p:nvSpPr>
          <p:cNvPr id="7" name="FooterStrip"/>
          <p:cNvSpPr/>
          <p:nvPr/>
        </p:nvSpPr>
        <p:spPr>
          <a:xfrm>
            <a:off x="0" y="6781800"/>
            <a:ext cx="9144000" cy="76200"/>
          </a:xfrm>
          <a:prstGeom prst="rect">
            <a:avLst/>
          </a:prstGeom>
          <a:solidFill>
            <a:srgbClr val="F1F5F9"/>
          </a:solidFill>
          <a:ln>
            <a:noFill/>
          </a:ln>
        </p:spPr>
        <p:txBody>
          <a:bodyPr/>
          <a:lstStyle/>
          <a:p/>
        </p:txBody>
      </p:sp>
      <p:sp>
        <p:nvSpPr>
          <p:cNvPr id="2" name="Title"/>
          <p:cNvSpPr>
            <a:spLocks noGrp="1"/>
          </p:cNvSpPr>
          <p:nvPr>
            <p:ph type="title"/>
          </p:nvPr>
        </p:nvSpPr>
        <p:spPr>
          <a:xfrm>
            <a:off x="457200" y="142240"/>
            <a:ext cx="8229600" cy="900000"/>
          </a:xfrm>
          <a:prstGeom prst="rect">
            <a:avLst/>
          </a:prstGeom>
        </p:spPr>
        <p:txBody>
          <a:bodyPr wrap="square" anchor="t" vert="horz"/>
          <a:lstStyle/>
          <a:p>
            <a:r>
              <a:rPr sz="2400" b="1" lang="en-US">
                <a:solidFill>
                  <a:srgbClr val="0F2440"/>
                </a:solidFill>
              </a:rPr>
              <a:t xml:space="preserve">Lesson: Reviewing Signals — Allen Bradley</a:t>
            </a:r>
          </a:p>
        </p:txBody>
      </p:sp>
      <p:sp>
        <p:nvSpPr>
          <p:cNvPr id="6" name="HeadingUnderline"/>
          <p:cNvSpPr/>
          <p:nvPr/>
        </p:nvSpPr>
        <p:spPr>
          <a:xfrm>
            <a:off x="457200" y="1042240"/>
            <a:ext cx="8229600" cy="38100"/>
          </a:xfrm>
          <a:prstGeom prst="rect">
            <a:avLst/>
          </a:prstGeom>
          <a:solidFill>
            <a:srgbClr val="E8A820"/>
          </a:solidFill>
        </p:spPr>
        <p:txBody>
          <a:bodyPr/>
          <a:lstStyle/>
          <a:p/>
        </p:txBody>
      </p:sp>
      <p:sp>
        <p:nvSpPr>
          <p:cNvPr id="3" name="Content"/>
          <p:cNvSpPr>
            <a:spLocks noGrp="1"/>
          </p:cNvSpPr>
          <p:nvPr>
            <p:ph idx="1" type="body"/>
          </p:nvPr>
        </p:nvSpPr>
        <p:spPr>
          <a:xfrm>
            <a:off x="457200" y="1171780"/>
            <a:ext cx="8229600" cy="5564300"/>
          </a:xfrm>
          <a:prstGeom prst="rect">
            <a:avLst/>
          </a:prstGeom>
        </p:spPr>
        <p:txBody>
          <a:bodyPr wrap="square" anchor="t" vert="horz" lIns="91440" tIns="45720" rIns="91440" bIns="45720"/>
          <a:lstStyle>
            <a:lvl1pPr marL="457200" indent="-228600" algn="l">
              <a:buChar char="•"/>
              <a:defRPr sz="1200">
                <a:solidFill>
                  <a:srgbClr val="1E293B"/>
                </a:solidFill>
              </a:defRPr>
            </a:lvl1pPr>
          </a:lstStyle>
          <a:p>
            <a:pPr lvl="0" algn="l">
              <a:lnSpc>
                <a:spcPct val="112000"/>
              </a:lnSpc>
            </a:pPr>
            <a:r>
              <a:rPr sz="1200" lang="en-US">
                <a:solidFill>
                  <a:srgbClr val="1E293B"/>
                </a:solidFill>
              </a:rPr>
              <a:t xml:space="preserve">Monitor Tags, Tag Browser, and ladder logic tracing in Studio 5000</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AccentBar"/>
          <p:cNvSpPr/>
          <p:nvPr/>
        </p:nvSpPr>
        <p:spPr>
          <a:xfrm>
            <a:off x="0" y="0"/>
            <a:ext cx="9144000" cy="50800"/>
          </a:xfrm>
          <a:prstGeom prst="rect">
            <a:avLst/>
          </a:prstGeom>
          <a:gradFill rotWithShape="0">
            <a:gsLst>
              <a:gs pos="0">
                <a:srgbClr val="1E3A5F"/>
              </a:gs>
              <a:gs pos="100000">
                <a:srgbClr val="E8A820"/>
              </a:gs>
            </a:gsLst>
            <a:lin ang="0" scaled="0" flip="none"/>
          </a:gradFill>
        </p:spPr>
        <p:txBody>
          <a:bodyPr/>
          <a:lstStyle/>
          <a:p/>
        </p:txBody>
      </p:sp>
      <p:sp>
        <p:nvSpPr>
          <p:cNvPr id="7" name="FooterStrip"/>
          <p:cNvSpPr/>
          <p:nvPr/>
        </p:nvSpPr>
        <p:spPr>
          <a:xfrm>
            <a:off x="0" y="6781800"/>
            <a:ext cx="9144000" cy="76200"/>
          </a:xfrm>
          <a:prstGeom prst="rect">
            <a:avLst/>
          </a:prstGeom>
          <a:solidFill>
            <a:srgbClr val="F1F5F9"/>
          </a:solidFill>
          <a:ln>
            <a:noFill/>
          </a:ln>
        </p:spPr>
        <p:txBody>
          <a:bodyPr/>
          <a:lstStyle/>
          <a:p/>
        </p:txBody>
      </p:sp>
      <p:sp>
        <p:nvSpPr>
          <p:cNvPr id="2" name="Title"/>
          <p:cNvSpPr>
            <a:spLocks noGrp="1"/>
          </p:cNvSpPr>
          <p:nvPr>
            <p:ph type="title"/>
          </p:nvPr>
        </p:nvSpPr>
        <p:spPr>
          <a:xfrm>
            <a:off x="457200" y="142240"/>
            <a:ext cx="8229600" cy="900000"/>
          </a:xfrm>
          <a:prstGeom prst="rect">
            <a:avLst/>
          </a:prstGeom>
        </p:spPr>
        <p:txBody>
          <a:bodyPr wrap="square" anchor="t" vert="horz"/>
          <a:lstStyle/>
          <a:p>
            <a:r>
              <a:rPr sz="2400" b="1" lang="en-US">
                <a:solidFill>
                  <a:srgbClr val="0F2440"/>
                </a:solidFill>
              </a:rPr>
              <a:t xml:space="preserve">I/O Configuration</a:t>
            </a:r>
          </a:p>
        </p:txBody>
      </p:sp>
      <p:sp>
        <p:nvSpPr>
          <p:cNvPr id="6" name="HeadingUnderline"/>
          <p:cNvSpPr/>
          <p:nvPr/>
        </p:nvSpPr>
        <p:spPr>
          <a:xfrm>
            <a:off x="457200" y="1042240"/>
            <a:ext cx="8229600" cy="38100"/>
          </a:xfrm>
          <a:prstGeom prst="rect">
            <a:avLst/>
          </a:prstGeom>
          <a:solidFill>
            <a:srgbClr val="E8A820"/>
          </a:solidFill>
        </p:spPr>
        <p:txBody>
          <a:bodyPr/>
          <a:lstStyle/>
          <a:p/>
        </p:txBody>
      </p:sp>
      <p:sp>
        <p:nvSpPr>
          <p:cNvPr id="3" name="Content"/>
          <p:cNvSpPr>
            <a:spLocks noGrp="1"/>
          </p:cNvSpPr>
          <p:nvPr>
            <p:ph idx="1" type="body"/>
          </p:nvPr>
        </p:nvSpPr>
        <p:spPr>
          <a:xfrm>
            <a:off x="457200" y="1171780"/>
            <a:ext cx="8229600" cy="5564300"/>
          </a:xfrm>
          <a:prstGeom prst="rect">
            <a:avLst/>
          </a:prstGeom>
        </p:spPr>
        <p:txBody>
          <a:bodyPr wrap="square" anchor="t" vert="horz" lIns="91440" tIns="45720" rIns="91440" bIns="45720"/>
          <a:lstStyle>
            <a:lvl1pPr marL="457200" indent="-228600" algn="l">
              <a:buChar char="•"/>
              <a:defRPr sz="1200">
                <a:solidFill>
                  <a:srgbClr val="1E293B"/>
                </a:solidFill>
              </a:defRPr>
            </a:lvl1pPr>
          </a:lstStyle>
          <a:p>
            <a:pPr lvl="0" algn="l">
              <a:lnSpc>
                <a:spcPct val="112000"/>
              </a:lnSpc>
            </a:pPr>
            <a:r>
              <a:rPr sz="1200" lang="en-US">
                <a:solidFill>
                  <a:srgbClr val="1E293B"/>
                </a:solidFill>
              </a:rPr>
              <a:t xml:space="preserve">In the Controller Organizer (left panel), expand I/O Configuration. Click any I/O module to view tag values mapped to that module. This shows you the physical layer — what the module is actually receiving.</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AccentBar"/>
          <p:cNvSpPr/>
          <p:nvPr/>
        </p:nvSpPr>
        <p:spPr>
          <a:xfrm>
            <a:off x="0" y="0"/>
            <a:ext cx="9144000" cy="50800"/>
          </a:xfrm>
          <a:prstGeom prst="rect">
            <a:avLst/>
          </a:prstGeom>
          <a:gradFill rotWithShape="0">
            <a:gsLst>
              <a:gs pos="0">
                <a:srgbClr val="1E3A5F"/>
              </a:gs>
              <a:gs pos="100000">
                <a:srgbClr val="E8A820"/>
              </a:gs>
            </a:gsLst>
            <a:lin ang="0" scaled="0" flip="none"/>
          </a:gradFill>
        </p:spPr>
        <p:txBody>
          <a:bodyPr/>
          <a:lstStyle/>
          <a:p/>
        </p:txBody>
      </p:sp>
      <p:sp>
        <p:nvSpPr>
          <p:cNvPr id="7" name="FooterStrip"/>
          <p:cNvSpPr/>
          <p:nvPr/>
        </p:nvSpPr>
        <p:spPr>
          <a:xfrm>
            <a:off x="0" y="6781800"/>
            <a:ext cx="9144000" cy="76200"/>
          </a:xfrm>
          <a:prstGeom prst="rect">
            <a:avLst/>
          </a:prstGeom>
          <a:solidFill>
            <a:srgbClr val="F1F5F9"/>
          </a:solidFill>
          <a:ln>
            <a:noFill/>
          </a:ln>
        </p:spPr>
        <p:txBody>
          <a:bodyPr/>
          <a:lstStyle/>
          <a:p/>
        </p:txBody>
      </p:sp>
      <p:sp>
        <p:nvSpPr>
          <p:cNvPr id="2" name="Title"/>
          <p:cNvSpPr>
            <a:spLocks noGrp="1"/>
          </p:cNvSpPr>
          <p:nvPr>
            <p:ph type="title"/>
          </p:nvPr>
        </p:nvSpPr>
        <p:spPr>
          <a:xfrm>
            <a:off x="457200" y="142240"/>
            <a:ext cx="8229600" cy="900000"/>
          </a:xfrm>
          <a:prstGeom prst="rect">
            <a:avLst/>
          </a:prstGeom>
        </p:spPr>
        <p:txBody>
          <a:bodyPr wrap="square" anchor="t" vert="horz"/>
          <a:lstStyle/>
          <a:p>
            <a:r>
              <a:rPr sz="2400" b="1" lang="en-US">
                <a:solidFill>
                  <a:srgbClr val="0F2440"/>
                </a:solidFill>
              </a:rPr>
              <a:t xml:space="preserve">Monitor Tags</a:t>
            </a:r>
          </a:p>
        </p:txBody>
      </p:sp>
      <p:sp>
        <p:nvSpPr>
          <p:cNvPr id="6" name="HeadingUnderline"/>
          <p:cNvSpPr/>
          <p:nvPr/>
        </p:nvSpPr>
        <p:spPr>
          <a:xfrm>
            <a:off x="457200" y="1042240"/>
            <a:ext cx="8229600" cy="38100"/>
          </a:xfrm>
          <a:prstGeom prst="rect">
            <a:avLst/>
          </a:prstGeom>
          <a:solidFill>
            <a:srgbClr val="E8A820"/>
          </a:solidFill>
        </p:spPr>
        <p:txBody>
          <a:bodyPr/>
          <a:lstStyle/>
          <a:p/>
        </p:txBody>
      </p:sp>
      <p:sp>
        <p:nvSpPr>
          <p:cNvPr id="3" name="Content"/>
          <p:cNvSpPr>
            <a:spLocks noGrp="1"/>
          </p:cNvSpPr>
          <p:nvPr>
            <p:ph idx="1" type="body"/>
          </p:nvPr>
        </p:nvSpPr>
        <p:spPr>
          <a:xfrm>
            <a:off x="457200" y="1171780"/>
            <a:ext cx="8229600" cy="5564300"/>
          </a:xfrm>
          <a:prstGeom prst="rect">
            <a:avLst/>
          </a:prstGeom>
        </p:spPr>
        <p:txBody>
          <a:bodyPr wrap="square" anchor="t" vert="horz" lIns="91440" tIns="45720" rIns="91440" bIns="45720"/>
          <a:lstStyle>
            <a:lvl1pPr marL="457200" indent="-228600" algn="l">
              <a:buChar char="•"/>
              <a:defRPr sz="1200">
                <a:solidFill>
                  <a:srgbClr val="1E293B"/>
                </a:solidFill>
              </a:defRPr>
            </a:lvl1pPr>
          </a:lstStyle>
          <a:p>
            <a:pPr lvl="0" algn="l">
              <a:lnSpc>
                <a:spcPct val="112000"/>
              </a:lnSpc>
            </a:pPr>
            <a:r>
              <a:rPr sz="1200" lang="en-US">
                <a:solidFill>
                  <a:srgbClr val="1E293B"/>
                </a:solidFill>
              </a:rPr>
              <a:t xml:space="preserve">Go to Logic &gt; Monitor Tags (or press Ctrl+W while online). The Tag Browser shows all tags with live values. Filter by name, data type, or scope.</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AccentBar"/>
          <p:cNvSpPr/>
          <p:nvPr/>
        </p:nvSpPr>
        <p:spPr>
          <a:xfrm>
            <a:off x="0" y="0"/>
            <a:ext cx="9144000" cy="50800"/>
          </a:xfrm>
          <a:prstGeom prst="rect">
            <a:avLst/>
          </a:prstGeom>
          <a:gradFill rotWithShape="0">
            <a:gsLst>
              <a:gs pos="0">
                <a:srgbClr val="1E3A5F"/>
              </a:gs>
              <a:gs pos="100000">
                <a:srgbClr val="E8A820"/>
              </a:gs>
            </a:gsLst>
            <a:lin ang="0" scaled="0" flip="none"/>
          </a:gradFill>
        </p:spPr>
        <p:txBody>
          <a:bodyPr/>
          <a:lstStyle/>
          <a:p/>
        </p:txBody>
      </p:sp>
      <p:sp>
        <p:nvSpPr>
          <p:cNvPr id="7" name="FooterStrip"/>
          <p:cNvSpPr/>
          <p:nvPr/>
        </p:nvSpPr>
        <p:spPr>
          <a:xfrm>
            <a:off x="0" y="6781800"/>
            <a:ext cx="9144000" cy="76200"/>
          </a:xfrm>
          <a:prstGeom prst="rect">
            <a:avLst/>
          </a:prstGeom>
          <a:solidFill>
            <a:srgbClr val="F1F5F9"/>
          </a:solidFill>
          <a:ln>
            <a:noFill/>
          </a:ln>
        </p:spPr>
        <p:txBody>
          <a:bodyPr/>
          <a:lstStyle/>
          <a:p/>
        </p:txBody>
      </p:sp>
      <p:sp>
        <p:nvSpPr>
          <p:cNvPr id="2" name="Title"/>
          <p:cNvSpPr>
            <a:spLocks noGrp="1"/>
          </p:cNvSpPr>
          <p:nvPr>
            <p:ph type="title"/>
          </p:nvPr>
        </p:nvSpPr>
        <p:spPr>
          <a:xfrm>
            <a:off x="457200" y="142240"/>
            <a:ext cx="8229600" cy="900000"/>
          </a:xfrm>
          <a:prstGeom prst="rect">
            <a:avLst/>
          </a:prstGeom>
        </p:spPr>
        <p:txBody>
          <a:bodyPr wrap="square" anchor="t" vert="horz"/>
          <a:lstStyle/>
          <a:p>
            <a:r>
              <a:rPr sz="2400" b="1" lang="en-US">
                <a:solidFill>
                  <a:srgbClr val="0F2440"/>
                </a:solidFill>
              </a:rPr>
              <a:t xml:space="preserve">Tracing Ladder Logic</a:t>
            </a:r>
          </a:p>
        </p:txBody>
      </p:sp>
      <p:sp>
        <p:nvSpPr>
          <p:cNvPr id="6" name="HeadingUnderline"/>
          <p:cNvSpPr/>
          <p:nvPr/>
        </p:nvSpPr>
        <p:spPr>
          <a:xfrm>
            <a:off x="457200" y="1042240"/>
            <a:ext cx="8229600" cy="38100"/>
          </a:xfrm>
          <a:prstGeom prst="rect">
            <a:avLst/>
          </a:prstGeom>
          <a:solidFill>
            <a:srgbClr val="E8A820"/>
          </a:solidFill>
        </p:spPr>
        <p:txBody>
          <a:bodyPr/>
          <a:lstStyle/>
          <a:p/>
        </p:txBody>
      </p:sp>
      <p:sp>
        <p:nvSpPr>
          <p:cNvPr id="3" name="Content"/>
          <p:cNvSpPr>
            <a:spLocks noGrp="1"/>
          </p:cNvSpPr>
          <p:nvPr>
            <p:ph idx="1" type="body"/>
          </p:nvPr>
        </p:nvSpPr>
        <p:spPr>
          <a:xfrm>
            <a:off x="457200" y="1171780"/>
            <a:ext cx="8229600" cy="5564300"/>
          </a:xfrm>
          <a:prstGeom prst="rect">
            <a:avLst/>
          </a:prstGeom>
        </p:spPr>
        <p:txBody>
          <a:bodyPr wrap="square" anchor="t" vert="horz" lIns="91440" tIns="45720" rIns="91440" bIns="45720"/>
          <a:lstStyle>
            <a:lvl1pPr marL="457200" indent="-228600" algn="l">
              <a:buChar char="•"/>
              <a:defRPr sz="1200">
                <a:solidFill>
                  <a:srgbClr val="1E293B"/>
                </a:solidFill>
              </a:defRPr>
            </a:lvl1pPr>
          </a:lstStyle>
          <a:p>
            <a:pPr lvl="0" algn="l">
              <a:lnSpc>
                <a:spcPct val="112000"/>
              </a:lnSpc>
            </a:pPr>
            <a:r>
              <a:rPr sz="1200" lang="en-US">
                <a:solidFill>
                  <a:srgbClr val="1E293B"/>
                </a:solidFill>
              </a:rPr>
              <a:t xml:space="preserve">Open a routine and go online. Studio 5000 highlights the power flow through each rung in green. Work left to right on a rung to find which contact is blocking power (not highlighted). That contact's input condition is the one preventing the output from energizing.</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AccentBar"/>
          <p:cNvSpPr/>
          <p:nvPr/>
        </p:nvSpPr>
        <p:spPr>
          <a:xfrm>
            <a:off x="0" y="0"/>
            <a:ext cx="9144000" cy="50800"/>
          </a:xfrm>
          <a:prstGeom prst="rect">
            <a:avLst/>
          </a:prstGeom>
          <a:gradFill rotWithShape="0">
            <a:gsLst>
              <a:gs pos="0">
                <a:srgbClr val="1E3A5F"/>
              </a:gs>
              <a:gs pos="100000">
                <a:srgbClr val="E8A820"/>
              </a:gs>
            </a:gsLst>
            <a:lin ang="0" scaled="0" flip="none"/>
          </a:gradFill>
        </p:spPr>
        <p:txBody>
          <a:bodyPr/>
          <a:lstStyle/>
          <a:p/>
        </p:txBody>
      </p:sp>
      <p:sp>
        <p:nvSpPr>
          <p:cNvPr id="7" name="FooterStrip"/>
          <p:cNvSpPr/>
          <p:nvPr/>
        </p:nvSpPr>
        <p:spPr>
          <a:xfrm>
            <a:off x="0" y="6781800"/>
            <a:ext cx="9144000" cy="76200"/>
          </a:xfrm>
          <a:prstGeom prst="rect">
            <a:avLst/>
          </a:prstGeom>
          <a:solidFill>
            <a:srgbClr val="F1F5F9"/>
          </a:solidFill>
          <a:ln>
            <a:noFill/>
          </a:ln>
        </p:spPr>
        <p:txBody>
          <a:bodyPr/>
          <a:lstStyle/>
          <a:p/>
        </p:txBody>
      </p:sp>
      <p:sp>
        <p:nvSpPr>
          <p:cNvPr id="2" name="Title"/>
          <p:cNvSpPr>
            <a:spLocks noGrp="1"/>
          </p:cNvSpPr>
          <p:nvPr>
            <p:ph type="title"/>
          </p:nvPr>
        </p:nvSpPr>
        <p:spPr>
          <a:xfrm>
            <a:off x="457200" y="142240"/>
            <a:ext cx="8229600" cy="900000"/>
          </a:xfrm>
          <a:prstGeom prst="rect">
            <a:avLst/>
          </a:prstGeom>
        </p:spPr>
        <p:txBody>
          <a:bodyPr wrap="square" anchor="t" vert="horz"/>
          <a:lstStyle/>
          <a:p>
            <a:r>
              <a:rPr sz="2400" b="1" lang="en-US">
                <a:solidFill>
                  <a:srgbClr val="0F2440"/>
                </a:solidFill>
              </a:rPr>
              <a:t xml:space="preserve">Forcing I/O</a:t>
            </a:r>
          </a:p>
        </p:txBody>
      </p:sp>
      <p:sp>
        <p:nvSpPr>
          <p:cNvPr id="6" name="HeadingUnderline"/>
          <p:cNvSpPr/>
          <p:nvPr/>
        </p:nvSpPr>
        <p:spPr>
          <a:xfrm>
            <a:off x="457200" y="1042240"/>
            <a:ext cx="8229600" cy="38100"/>
          </a:xfrm>
          <a:prstGeom prst="rect">
            <a:avLst/>
          </a:prstGeom>
          <a:solidFill>
            <a:srgbClr val="E8A820"/>
          </a:solidFill>
        </p:spPr>
        <p:txBody>
          <a:bodyPr/>
          <a:lstStyle/>
          <a:p/>
        </p:txBody>
      </p:sp>
      <p:sp>
        <p:nvSpPr>
          <p:cNvPr id="3" name="Content"/>
          <p:cNvSpPr>
            <a:spLocks noGrp="1"/>
          </p:cNvSpPr>
          <p:nvPr>
            <p:ph idx="1" type="body"/>
          </p:nvPr>
        </p:nvSpPr>
        <p:spPr>
          <a:xfrm>
            <a:off x="457200" y="1171780"/>
            <a:ext cx="8229600" cy="5564300"/>
          </a:xfrm>
          <a:prstGeom prst="rect">
            <a:avLst/>
          </a:prstGeom>
        </p:spPr>
        <p:txBody>
          <a:bodyPr wrap="square" anchor="t" vert="horz" lIns="91440" tIns="45720" rIns="91440" bIns="45720"/>
          <a:lstStyle>
            <a:lvl1pPr marL="457200" indent="-228600" algn="l">
              <a:buChar char="•"/>
              <a:defRPr sz="1200">
                <a:solidFill>
                  <a:srgbClr val="1E293B"/>
                </a:solidFill>
              </a:defRPr>
            </a:lvl1pPr>
          </a:lstStyle>
          <a:p>
            <a:pPr lvl="0" algn="l">
              <a:lnSpc>
                <a:spcPct val="112000"/>
              </a:lnSpc>
            </a:pPr>
            <a:r>
              <a:rPr sz="1200" lang="en-US">
                <a:solidFill>
                  <a:srgbClr val="1E293B"/>
                </a:solidFill>
              </a:rPr>
              <a:t xml:space="preserve">Right-click a tag in Monitor Tags and select Force ON or Force OFF. Forces override the physical signal — use with extreme caution.</a:t>
            </a:r>
          </a:p>
          <a:p>
            <a:pPr lvl="0" algn="l">
              <a:lnSpc>
                <a:spcPct val="112000"/>
              </a:lnSpc>
            </a:pPr>
            <a:r>
              <a:rPr sz="1200" lang="en-US">
                <a:solidFill>
                  <a:srgbClr val="1E293B"/>
                </a:solidFill>
              </a:rPr>
              <a:t xml:space="preserve">[DANGER] Force Safety: Forcing an output ON bypasses all safety logic. Only force I/O for diagnostic purposes on a locked-out/safe machine. Always remove all forces when done — check the force indicator in the status bar. A forgotten force on a production machine can cause serious injury.</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AccentBar"/>
          <p:cNvSpPr/>
          <p:nvPr/>
        </p:nvSpPr>
        <p:spPr>
          <a:xfrm>
            <a:off x="0" y="0"/>
            <a:ext cx="9144000" cy="50800"/>
          </a:xfrm>
          <a:prstGeom prst="rect">
            <a:avLst/>
          </a:prstGeom>
          <a:gradFill rotWithShape="0">
            <a:gsLst>
              <a:gs pos="0">
                <a:srgbClr val="1E3A5F"/>
              </a:gs>
              <a:gs pos="100000">
                <a:srgbClr val="E8A820"/>
              </a:gs>
            </a:gsLst>
            <a:lin ang="0" scaled="0" flip="none"/>
          </a:gradFill>
        </p:spPr>
        <p:txBody>
          <a:bodyPr/>
          <a:lstStyle/>
          <a:p/>
        </p:txBody>
      </p:sp>
      <p:sp>
        <p:nvSpPr>
          <p:cNvPr id="7" name="FooterStrip"/>
          <p:cNvSpPr/>
          <p:nvPr/>
        </p:nvSpPr>
        <p:spPr>
          <a:xfrm>
            <a:off x="0" y="6781800"/>
            <a:ext cx="9144000" cy="76200"/>
          </a:xfrm>
          <a:prstGeom prst="rect">
            <a:avLst/>
          </a:prstGeom>
          <a:solidFill>
            <a:srgbClr val="F1F5F9"/>
          </a:solidFill>
          <a:ln>
            <a:noFill/>
          </a:ln>
        </p:spPr>
        <p:txBody>
          <a:bodyPr/>
          <a:lstStyle/>
          <a:p/>
        </p:txBody>
      </p:sp>
      <p:sp>
        <p:nvSpPr>
          <p:cNvPr id="2" name="Title"/>
          <p:cNvSpPr>
            <a:spLocks noGrp="1"/>
          </p:cNvSpPr>
          <p:nvPr>
            <p:ph type="title"/>
          </p:nvPr>
        </p:nvSpPr>
        <p:spPr>
          <a:xfrm>
            <a:off x="457200" y="142240"/>
            <a:ext cx="8229600" cy="900000"/>
          </a:xfrm>
          <a:prstGeom prst="rect">
            <a:avLst/>
          </a:prstGeom>
        </p:spPr>
        <p:txBody>
          <a:bodyPr wrap="square" anchor="t" vert="horz"/>
          <a:lstStyle/>
          <a:p>
            <a:r>
              <a:rPr sz="2400" b="1" lang="en-US">
                <a:solidFill>
                  <a:srgbClr val="0F2440"/>
                </a:solidFill>
              </a:rPr>
              <a:t xml:space="preserve">Lesson: Reviewing Signals — Productivity Suite</a:t>
            </a:r>
          </a:p>
        </p:txBody>
      </p:sp>
      <p:sp>
        <p:nvSpPr>
          <p:cNvPr id="6" name="HeadingUnderline"/>
          <p:cNvSpPr/>
          <p:nvPr/>
        </p:nvSpPr>
        <p:spPr>
          <a:xfrm>
            <a:off x="457200" y="1042240"/>
            <a:ext cx="8229600" cy="38100"/>
          </a:xfrm>
          <a:prstGeom prst="rect">
            <a:avLst/>
          </a:prstGeom>
          <a:solidFill>
            <a:srgbClr val="E8A820"/>
          </a:solidFill>
        </p:spPr>
        <p:txBody>
          <a:bodyPr/>
          <a:lstStyle/>
          <a:p/>
        </p:txBody>
      </p:sp>
      <p:sp>
        <p:nvSpPr>
          <p:cNvPr id="3" name="Content"/>
          <p:cNvSpPr>
            <a:spLocks noGrp="1"/>
          </p:cNvSpPr>
          <p:nvPr>
            <p:ph idx="1" type="body"/>
          </p:nvPr>
        </p:nvSpPr>
        <p:spPr>
          <a:xfrm>
            <a:off x="457200" y="1171780"/>
            <a:ext cx="8229600" cy="5564300"/>
          </a:xfrm>
          <a:prstGeom prst="rect">
            <a:avLst/>
          </a:prstGeom>
        </p:spPr>
        <p:txBody>
          <a:bodyPr wrap="square" anchor="t" vert="horz" lIns="91440" tIns="45720" rIns="91440" bIns="45720"/>
          <a:lstStyle>
            <a:lvl1pPr marL="457200" indent="-228600" algn="l">
              <a:buChar char="•"/>
              <a:defRPr sz="1200">
                <a:solidFill>
                  <a:srgbClr val="1E293B"/>
                </a:solidFill>
              </a:defRPr>
            </a:lvl1pPr>
          </a:lstStyle>
          <a:p>
            <a:pPr lvl="0" algn="l">
              <a:lnSpc>
                <a:spcPct val="112000"/>
              </a:lnSpc>
            </a:pPr>
            <a:r>
              <a:rPr sz="1200" lang="en-US">
                <a:solidFill>
                  <a:srgbClr val="1E293B"/>
                </a:solidFill>
              </a:rPr>
              <a:t xml:space="preserve">Data View, live monitoring, and signal tracing in Productivity Suite</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AccentBar"/>
          <p:cNvSpPr/>
          <p:nvPr/>
        </p:nvSpPr>
        <p:spPr>
          <a:xfrm>
            <a:off x="0" y="0"/>
            <a:ext cx="9144000" cy="50800"/>
          </a:xfrm>
          <a:prstGeom prst="rect">
            <a:avLst/>
          </a:prstGeom>
          <a:gradFill rotWithShape="0">
            <a:gsLst>
              <a:gs pos="0">
                <a:srgbClr val="1E3A5F"/>
              </a:gs>
              <a:gs pos="100000">
                <a:srgbClr val="E8A820"/>
              </a:gs>
            </a:gsLst>
            <a:lin ang="0" scaled="0" flip="none"/>
          </a:gradFill>
        </p:spPr>
        <p:txBody>
          <a:bodyPr/>
          <a:lstStyle/>
          <a:p/>
        </p:txBody>
      </p:sp>
      <p:sp>
        <p:nvSpPr>
          <p:cNvPr id="7" name="FooterStrip"/>
          <p:cNvSpPr/>
          <p:nvPr/>
        </p:nvSpPr>
        <p:spPr>
          <a:xfrm>
            <a:off x="0" y="6781800"/>
            <a:ext cx="9144000" cy="76200"/>
          </a:xfrm>
          <a:prstGeom prst="rect">
            <a:avLst/>
          </a:prstGeom>
          <a:solidFill>
            <a:srgbClr val="F1F5F9"/>
          </a:solidFill>
          <a:ln>
            <a:noFill/>
          </a:ln>
        </p:spPr>
        <p:txBody>
          <a:bodyPr/>
          <a:lstStyle/>
          <a:p/>
        </p:txBody>
      </p:sp>
      <p:sp>
        <p:nvSpPr>
          <p:cNvPr id="2" name="Title"/>
          <p:cNvSpPr>
            <a:spLocks noGrp="1"/>
          </p:cNvSpPr>
          <p:nvPr>
            <p:ph type="title"/>
          </p:nvPr>
        </p:nvSpPr>
        <p:spPr>
          <a:xfrm>
            <a:off x="457200" y="142240"/>
            <a:ext cx="8229600" cy="900000"/>
          </a:xfrm>
          <a:prstGeom prst="rect">
            <a:avLst/>
          </a:prstGeom>
        </p:spPr>
        <p:txBody>
          <a:bodyPr wrap="square" anchor="t" vert="horz"/>
          <a:lstStyle/>
          <a:p>
            <a:r>
              <a:rPr sz="2400" b="1" lang="en-US">
                <a:solidFill>
                  <a:srgbClr val="0F2440"/>
                </a:solidFill>
              </a:rPr>
              <a:t xml:space="preserve">Data View</a:t>
            </a:r>
          </a:p>
        </p:txBody>
      </p:sp>
      <p:sp>
        <p:nvSpPr>
          <p:cNvPr id="6" name="HeadingUnderline"/>
          <p:cNvSpPr/>
          <p:nvPr/>
        </p:nvSpPr>
        <p:spPr>
          <a:xfrm>
            <a:off x="457200" y="1042240"/>
            <a:ext cx="8229600" cy="38100"/>
          </a:xfrm>
          <a:prstGeom prst="rect">
            <a:avLst/>
          </a:prstGeom>
          <a:solidFill>
            <a:srgbClr val="E8A820"/>
          </a:solidFill>
        </p:spPr>
        <p:txBody>
          <a:bodyPr/>
          <a:lstStyle/>
          <a:p/>
        </p:txBody>
      </p:sp>
      <p:sp>
        <p:nvSpPr>
          <p:cNvPr id="3" name="Content"/>
          <p:cNvSpPr>
            <a:spLocks noGrp="1"/>
          </p:cNvSpPr>
          <p:nvPr>
            <p:ph idx="1" type="body"/>
          </p:nvPr>
        </p:nvSpPr>
        <p:spPr>
          <a:xfrm>
            <a:off x="457200" y="1171780"/>
            <a:ext cx="8229600" cy="5564300"/>
          </a:xfrm>
          <a:prstGeom prst="rect">
            <a:avLst/>
          </a:prstGeom>
        </p:spPr>
        <p:txBody>
          <a:bodyPr wrap="square" anchor="t" vert="horz" lIns="91440" tIns="45720" rIns="91440" bIns="45720"/>
          <a:lstStyle>
            <a:lvl1pPr marL="457200" indent="-228600" algn="l">
              <a:buChar char="•"/>
              <a:defRPr sz="1200">
                <a:solidFill>
                  <a:srgbClr val="1E293B"/>
                </a:solidFill>
              </a:defRPr>
            </a:lvl1pPr>
          </a:lstStyle>
          <a:p>
            <a:pPr lvl="0" algn="l">
              <a:lnSpc>
                <a:spcPct val="112000"/>
              </a:lnSpc>
            </a:pPr>
            <a:r>
              <a:rPr sz="1200" lang="en-US">
                <a:solidFill>
                  <a:srgbClr val="1E293B"/>
                </a:solidFill>
              </a:rPr>
              <a:t xml:space="preserve">Go to View &gt; Data View (or click the Data View tab at the bottom). This shows a live table of all tag values: I/O points, internal memory bits, timers, and counters. The "Current Value" column updates in real time — discrete inputs show 0 (off) or 1 (on).</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AccentBar"/>
          <p:cNvSpPr/>
          <p:nvPr/>
        </p:nvSpPr>
        <p:spPr>
          <a:xfrm>
            <a:off x="0" y="0"/>
            <a:ext cx="9144000" cy="50800"/>
          </a:xfrm>
          <a:prstGeom prst="rect">
            <a:avLst/>
          </a:prstGeom>
          <a:gradFill rotWithShape="0">
            <a:gsLst>
              <a:gs pos="0">
                <a:srgbClr val="1E3A5F"/>
              </a:gs>
              <a:gs pos="100000">
                <a:srgbClr val="E8A820"/>
              </a:gs>
            </a:gsLst>
            <a:lin ang="0" scaled="0" flip="none"/>
          </a:gradFill>
        </p:spPr>
        <p:txBody>
          <a:bodyPr/>
          <a:lstStyle/>
          <a:p/>
        </p:txBody>
      </p:sp>
      <p:sp>
        <p:nvSpPr>
          <p:cNvPr id="7" name="FooterStrip"/>
          <p:cNvSpPr/>
          <p:nvPr/>
        </p:nvSpPr>
        <p:spPr>
          <a:xfrm>
            <a:off x="0" y="6781800"/>
            <a:ext cx="9144000" cy="76200"/>
          </a:xfrm>
          <a:prstGeom prst="rect">
            <a:avLst/>
          </a:prstGeom>
          <a:solidFill>
            <a:srgbClr val="F1F5F9"/>
          </a:solidFill>
          <a:ln>
            <a:noFill/>
          </a:ln>
        </p:spPr>
        <p:txBody>
          <a:bodyPr/>
          <a:lstStyle/>
          <a:p/>
        </p:txBody>
      </p:sp>
      <p:sp>
        <p:nvSpPr>
          <p:cNvPr id="2" name="Title"/>
          <p:cNvSpPr>
            <a:spLocks noGrp="1"/>
          </p:cNvSpPr>
          <p:nvPr>
            <p:ph type="title"/>
          </p:nvPr>
        </p:nvSpPr>
        <p:spPr>
          <a:xfrm>
            <a:off x="457200" y="142240"/>
            <a:ext cx="8229600" cy="900000"/>
          </a:xfrm>
          <a:prstGeom prst="rect">
            <a:avLst/>
          </a:prstGeom>
        </p:spPr>
        <p:txBody>
          <a:bodyPr wrap="square" anchor="t" vert="horz"/>
          <a:lstStyle/>
          <a:p>
            <a:r>
              <a:rPr sz="2400" b="1" lang="en-US">
                <a:solidFill>
                  <a:srgbClr val="0F2440"/>
                </a:solidFill>
              </a:rPr>
              <a:t xml:space="preserve">Signal Tracing</a:t>
            </a:r>
          </a:p>
        </p:txBody>
      </p:sp>
      <p:sp>
        <p:nvSpPr>
          <p:cNvPr id="6" name="HeadingUnderline"/>
          <p:cNvSpPr/>
          <p:nvPr/>
        </p:nvSpPr>
        <p:spPr>
          <a:xfrm>
            <a:off x="457200" y="1042240"/>
            <a:ext cx="8229600" cy="38100"/>
          </a:xfrm>
          <a:prstGeom prst="rect">
            <a:avLst/>
          </a:prstGeom>
          <a:solidFill>
            <a:srgbClr val="E8A820"/>
          </a:solidFill>
        </p:spPr>
        <p:txBody>
          <a:bodyPr/>
          <a:lstStyle/>
          <a:p/>
        </p:txBody>
      </p:sp>
      <p:sp>
        <p:nvSpPr>
          <p:cNvPr id="3" name="Content"/>
          <p:cNvSpPr>
            <a:spLocks noGrp="1"/>
          </p:cNvSpPr>
          <p:nvPr>
            <p:ph idx="1" type="body"/>
          </p:nvPr>
        </p:nvSpPr>
        <p:spPr>
          <a:xfrm>
            <a:off x="457200" y="1171780"/>
            <a:ext cx="8229600" cy="5564300"/>
          </a:xfrm>
          <a:prstGeom prst="rect">
            <a:avLst/>
          </a:prstGeom>
        </p:spPr>
        <p:txBody>
          <a:bodyPr wrap="square" anchor="t" vert="horz" lIns="91440" tIns="45720" rIns="91440" bIns="45720"/>
          <a:lstStyle>
            <a:lvl1pPr marL="457200" indent="-228600" algn="l">
              <a:buChar char="•"/>
              <a:defRPr sz="1200">
                <a:solidFill>
                  <a:srgbClr val="1E293B"/>
                </a:solidFill>
              </a:defRPr>
            </a:lvl1pPr>
          </a:lstStyle>
          <a:p>
            <a:pPr lvl="0" algn="l">
              <a:lnSpc>
                <a:spcPct val="112000"/>
              </a:lnSpc>
            </a:pPr>
            <a:r>
              <a:rPr sz="1200" lang="en-US">
                <a:solidFill>
                  <a:srgbClr val="1E293B"/>
                </a:solidFill>
              </a:rPr>
              <a:t xml:space="preserve">Open the ladder program and go online. Like the other platforms, power flow is visually highlighted. Identify blocked rungs by finding contacts that are not passing power, then investigate the associated physical device or upstream logic.</a:t>
            </a:r>
          </a:p>
          <a:p>
            <a:pPr lvl="0" algn="l">
              <a:lnSpc>
                <a:spcPct val="112000"/>
              </a:lnSpc>
            </a:pPr>
            <a:r>
              <a:rPr sz="1200" lang="en-US">
                <a:solidFill>
                  <a:srgbClr val="1E293B"/>
                </a:solidFill>
              </a:rPr>
              <a:t xml:space="preserve">Toggle a physical device and confirm the value changes in Data View to verify signal continuity from the field through to the PLC.</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AccentBar"/>
          <p:cNvSpPr/>
          <p:nvPr/>
        </p:nvSpPr>
        <p:spPr>
          <a:xfrm>
            <a:off x="0" y="0"/>
            <a:ext cx="9144000" cy="50800"/>
          </a:xfrm>
          <a:prstGeom prst="rect">
            <a:avLst/>
          </a:prstGeom>
          <a:gradFill rotWithShape="0">
            <a:gsLst>
              <a:gs pos="0">
                <a:srgbClr val="1E3A5F"/>
              </a:gs>
              <a:gs pos="100000">
                <a:srgbClr val="E8A820"/>
              </a:gs>
            </a:gsLst>
            <a:lin ang="0" scaled="0" flip="none"/>
          </a:gradFill>
        </p:spPr>
        <p:txBody>
          <a:bodyPr/>
          <a:lstStyle/>
          <a:p/>
        </p:txBody>
      </p:sp>
      <p:sp>
        <p:nvSpPr>
          <p:cNvPr id="7" name="FooterStrip"/>
          <p:cNvSpPr/>
          <p:nvPr/>
        </p:nvSpPr>
        <p:spPr>
          <a:xfrm>
            <a:off x="0" y="6781800"/>
            <a:ext cx="9144000" cy="76200"/>
          </a:xfrm>
          <a:prstGeom prst="rect">
            <a:avLst/>
          </a:prstGeom>
          <a:solidFill>
            <a:srgbClr val="F1F5F9"/>
          </a:solidFill>
          <a:ln>
            <a:noFill/>
          </a:ln>
        </p:spPr>
        <p:txBody>
          <a:bodyPr/>
          <a:lstStyle/>
          <a:p/>
        </p:txBody>
      </p:sp>
      <p:sp>
        <p:nvSpPr>
          <p:cNvPr id="2" name="Title"/>
          <p:cNvSpPr>
            <a:spLocks noGrp="1"/>
          </p:cNvSpPr>
          <p:nvPr>
            <p:ph type="title"/>
          </p:nvPr>
        </p:nvSpPr>
        <p:spPr>
          <a:xfrm>
            <a:off x="457200" y="142240"/>
            <a:ext cx="8229600" cy="900000"/>
          </a:xfrm>
          <a:prstGeom prst="rect">
            <a:avLst/>
          </a:prstGeom>
        </p:spPr>
        <p:txBody>
          <a:bodyPr wrap="square" anchor="t" vert="horz"/>
          <a:lstStyle/>
          <a:p>
            <a:r>
              <a:rPr sz="2400" b="1" lang="en-US">
                <a:solidFill>
                  <a:srgbClr val="0F2440"/>
                </a:solidFill>
              </a:rPr>
              <a:t xml:space="preserve">Lab: Physical Input → Software Response</a:t>
            </a:r>
          </a:p>
        </p:txBody>
      </p:sp>
      <p:sp>
        <p:nvSpPr>
          <p:cNvPr id="6" name="HeadingUnderline"/>
          <p:cNvSpPr/>
          <p:nvPr/>
        </p:nvSpPr>
        <p:spPr>
          <a:xfrm>
            <a:off x="457200" y="1042240"/>
            <a:ext cx="8229600" cy="38100"/>
          </a:xfrm>
          <a:prstGeom prst="rect">
            <a:avLst/>
          </a:prstGeom>
          <a:solidFill>
            <a:srgbClr val="E8A820"/>
          </a:solidFill>
        </p:spPr>
        <p:txBody>
          <a:bodyPr/>
          <a:lstStyle/>
          <a:p/>
        </p:txBody>
      </p:sp>
      <p:sp>
        <p:nvSpPr>
          <p:cNvPr id="3" name="Content"/>
          <p:cNvSpPr>
            <a:spLocks noGrp="1"/>
          </p:cNvSpPr>
          <p:nvPr>
            <p:ph idx="1" type="body"/>
          </p:nvPr>
        </p:nvSpPr>
        <p:spPr>
          <a:xfrm>
            <a:off x="457200" y="1171780"/>
            <a:ext cx="8229600" cy="5564300"/>
          </a:xfrm>
          <a:prstGeom prst="rect">
            <a:avLst/>
          </a:prstGeom>
        </p:spPr>
        <p:txBody>
          <a:bodyPr wrap="square" anchor="t" vert="horz" lIns="91440" tIns="45720" rIns="91440" bIns="45720"/>
          <a:lstStyle>
            <a:lvl1pPr marL="457200" indent="-228600" algn="l">
              <a:buChar char="•"/>
              <a:defRPr sz="1200">
                <a:solidFill>
                  <a:srgbClr val="1E293B"/>
                </a:solidFill>
              </a:defRPr>
            </a:lvl1pPr>
          </a:lstStyle>
          <a:p>
            <a:pPr lvl="0" algn="l">
              <a:lnSpc>
                <a:spcPct val="112000"/>
              </a:lnSpc>
            </a:pPr>
            <a:r>
              <a:rPr sz="1200" lang="en-US">
                <a:solidFill>
                  <a:srgbClr val="1E293B"/>
                </a:solidFill>
              </a:rPr>
              <a:t xml:space="preserve">After: Structured Troubleshooting Methodology</a:t>
            </a:r>
          </a:p>
          <a:p>
            <a:pPr lvl="0" algn="l">
              <a:lnSpc>
                <a:spcPct val="112000"/>
              </a:lnSpc>
            </a:pPr>
            <a:r>
              <a:rPr sz="1200" lang="en-US">
                <a:solidFill>
                  <a:srgbClr val="1E293B"/>
                </a:solidFill>
              </a:rPr>
              <a:t xml:space="preserve">Duration: 10 min</a:t>
            </a:r>
          </a:p>
          <a:p>
            <a:pPr lvl="0" algn="l">
              <a:lnSpc>
                <a:spcPct val="112000"/>
              </a:lnSpc>
            </a:pPr>
            <a:r>
              <a:rPr sz="1200" lang="en-US">
                <a:solidFill>
                  <a:srgbClr val="1E293B"/>
                </a:solidFill>
              </a:rPr>
              <a:t xml:space="preserve">With the I/O dashboard open on the projected screen and the bench visible, have a student activate the proximity sensor. The class watches the tag change in real time.</a:t>
            </a:r>
          </a:p>
          <a:p>
            <a:pPr lvl="0" algn="l">
              <a:lnSpc>
                <a:spcPct val="112000"/>
              </a:lnSpc>
            </a:pPr>
            <a:r>
              <a:rPr sz="1200" lang="en-US">
                <a:solidFill>
                  <a:srgbClr val="1E293B"/>
                </a:solidFill>
              </a:rPr>
              <a:t xml:space="preserve">Students take turns activating inputs while the class calls out which tag changed. Repeat with limit switch and push button. Then reverse — show an output tag and watch the physical device.</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AccentBar"/>
          <p:cNvSpPr/>
          <p:nvPr/>
        </p:nvSpPr>
        <p:spPr>
          <a:xfrm>
            <a:off x="0" y="0"/>
            <a:ext cx="9144000" cy="50800"/>
          </a:xfrm>
          <a:prstGeom prst="rect">
            <a:avLst/>
          </a:prstGeom>
          <a:gradFill rotWithShape="0">
            <a:gsLst>
              <a:gs pos="0">
                <a:srgbClr val="1E3A5F"/>
              </a:gs>
              <a:gs pos="100000">
                <a:srgbClr val="E8A820"/>
              </a:gs>
            </a:gsLst>
            <a:lin ang="0" scaled="0" flip="none"/>
          </a:gradFill>
        </p:spPr>
        <p:txBody>
          <a:bodyPr/>
          <a:lstStyle/>
          <a:p/>
        </p:txBody>
      </p:sp>
      <p:sp>
        <p:nvSpPr>
          <p:cNvPr id="7" name="FooterStrip"/>
          <p:cNvSpPr/>
          <p:nvPr/>
        </p:nvSpPr>
        <p:spPr>
          <a:xfrm>
            <a:off x="0" y="6781800"/>
            <a:ext cx="9144000" cy="76200"/>
          </a:xfrm>
          <a:prstGeom prst="rect">
            <a:avLst/>
          </a:prstGeom>
          <a:solidFill>
            <a:srgbClr val="F1F5F9"/>
          </a:solidFill>
          <a:ln>
            <a:noFill/>
          </a:ln>
        </p:spPr>
        <p:txBody>
          <a:bodyPr/>
          <a:lstStyle/>
          <a:p/>
        </p:txBody>
      </p:sp>
      <p:sp>
        <p:nvSpPr>
          <p:cNvPr id="2" name="Title"/>
          <p:cNvSpPr>
            <a:spLocks noGrp="1"/>
          </p:cNvSpPr>
          <p:nvPr>
            <p:ph type="title"/>
          </p:nvPr>
        </p:nvSpPr>
        <p:spPr>
          <a:xfrm>
            <a:off x="457200" y="142240"/>
            <a:ext cx="8229600" cy="900000"/>
          </a:xfrm>
          <a:prstGeom prst="rect">
            <a:avLst/>
          </a:prstGeom>
        </p:spPr>
        <p:txBody>
          <a:bodyPr wrap="square" anchor="t" vert="horz"/>
          <a:lstStyle/>
          <a:p>
            <a:r>
              <a:rPr sz="2400" b="1" lang="en-US">
                <a:solidFill>
                  <a:srgbClr val="0F2440"/>
                </a:solidFill>
              </a:rPr>
              <a:t xml:space="preserve">Lab: Force I/O — See It, Respect It</a:t>
            </a:r>
          </a:p>
        </p:txBody>
      </p:sp>
      <p:sp>
        <p:nvSpPr>
          <p:cNvPr id="6" name="HeadingUnderline"/>
          <p:cNvSpPr/>
          <p:nvPr/>
        </p:nvSpPr>
        <p:spPr>
          <a:xfrm>
            <a:off x="457200" y="1042240"/>
            <a:ext cx="8229600" cy="38100"/>
          </a:xfrm>
          <a:prstGeom prst="rect">
            <a:avLst/>
          </a:prstGeom>
          <a:solidFill>
            <a:srgbClr val="E8A820"/>
          </a:solidFill>
        </p:spPr>
        <p:txBody>
          <a:bodyPr/>
          <a:lstStyle/>
          <a:p/>
        </p:txBody>
      </p:sp>
      <p:sp>
        <p:nvSpPr>
          <p:cNvPr id="3" name="Content"/>
          <p:cNvSpPr>
            <a:spLocks noGrp="1"/>
          </p:cNvSpPr>
          <p:nvPr>
            <p:ph idx="1" type="body"/>
          </p:nvPr>
        </p:nvSpPr>
        <p:spPr>
          <a:xfrm>
            <a:off x="457200" y="1171780"/>
            <a:ext cx="8229600" cy="5564300"/>
          </a:xfrm>
          <a:prstGeom prst="rect">
            <a:avLst/>
          </a:prstGeom>
        </p:spPr>
        <p:txBody>
          <a:bodyPr wrap="square" anchor="t" vert="horz" lIns="91440" tIns="45720" rIns="91440" bIns="45720"/>
          <a:lstStyle>
            <a:lvl1pPr marL="457200" indent="-228600" algn="l">
              <a:buChar char="•"/>
              <a:defRPr sz="1200">
                <a:solidFill>
                  <a:srgbClr val="1E293B"/>
                </a:solidFill>
              </a:defRPr>
            </a:lvl1pPr>
          </a:lstStyle>
          <a:p>
            <a:pPr lvl="0" algn="l">
              <a:lnSpc>
                <a:spcPct val="112000"/>
              </a:lnSpc>
            </a:pPr>
            <a:r>
              <a:rPr sz="1200" lang="en-US">
                <a:solidFill>
                  <a:srgbClr val="1E293B"/>
                </a:solidFill>
              </a:rPr>
              <a:t xml:space="preserve">After: Reviewing Signals — Allen Bradley</a:t>
            </a:r>
          </a:p>
          <a:p>
            <a:pPr lvl="0" algn="l">
              <a:lnSpc>
                <a:spcPct val="112000"/>
              </a:lnSpc>
            </a:pPr>
            <a:r>
              <a:rPr sz="1200" lang="en-US">
                <a:solidFill>
                  <a:srgbClr val="1E293B"/>
                </a:solidFill>
              </a:rPr>
              <a:t xml:space="preserve">Duration: 10 min</a:t>
            </a:r>
          </a:p>
          <a:p>
            <a:pPr lvl="0" algn="l">
              <a:lnSpc>
                <a:spcPct val="112000"/>
              </a:lnSpc>
            </a:pPr>
            <a:r>
              <a:rPr sz="1200" lang="en-US">
                <a:solidFill>
                  <a:srgbClr val="1E293B"/>
                </a:solidFill>
              </a:rPr>
              <a:t xml:space="preserve">Force an output ON — students watch the light tower illuminate even though no logic commands it. Then force an input. Then remove forces and show normal operation.</a:t>
            </a:r>
          </a:p>
          <a:p>
            <a:pPr lvl="0" algn="l">
              <a:lnSpc>
                <a:spcPct val="112000"/>
              </a:lnSpc>
            </a:pPr>
            <a:r>
              <a:rPr sz="1200" lang="en-US">
                <a:solidFill>
                  <a:srgbClr val="1E293B"/>
                </a:solidFill>
              </a:rPr>
              <a:t xml:space="preserve">Students observe the physical result of forcing. Trainer asks: 'What could go wrong if you force an output ON and forget?' Students locate the force indicator in each platform.</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AccentBar"/>
          <p:cNvSpPr/>
          <p:nvPr/>
        </p:nvSpPr>
        <p:spPr>
          <a:xfrm>
            <a:off x="0" y="0"/>
            <a:ext cx="9144000" cy="50800"/>
          </a:xfrm>
          <a:prstGeom prst="rect">
            <a:avLst/>
          </a:prstGeom>
          <a:gradFill rotWithShape="0">
            <a:gsLst>
              <a:gs pos="0">
                <a:srgbClr val="1E3A5F"/>
              </a:gs>
              <a:gs pos="100000">
                <a:srgbClr val="E8A820"/>
              </a:gs>
            </a:gsLst>
            <a:lin ang="0" scaled="0" flip="none"/>
          </a:gradFill>
        </p:spPr>
        <p:txBody>
          <a:bodyPr/>
          <a:lstStyle/>
          <a:p/>
        </p:txBody>
      </p:sp>
      <p:sp>
        <p:nvSpPr>
          <p:cNvPr id="7" name="FooterStrip"/>
          <p:cNvSpPr/>
          <p:nvPr/>
        </p:nvSpPr>
        <p:spPr>
          <a:xfrm>
            <a:off x="0" y="6781800"/>
            <a:ext cx="9144000" cy="76200"/>
          </a:xfrm>
          <a:prstGeom prst="rect">
            <a:avLst/>
          </a:prstGeom>
          <a:solidFill>
            <a:srgbClr val="F1F5F9"/>
          </a:solidFill>
          <a:ln>
            <a:noFill/>
          </a:ln>
        </p:spPr>
        <p:txBody>
          <a:bodyPr/>
          <a:lstStyle/>
          <a:p/>
        </p:txBody>
      </p:sp>
      <p:sp>
        <p:nvSpPr>
          <p:cNvPr id="2" name="Title"/>
          <p:cNvSpPr>
            <a:spLocks noGrp="1"/>
          </p:cNvSpPr>
          <p:nvPr>
            <p:ph type="title"/>
          </p:nvPr>
        </p:nvSpPr>
        <p:spPr>
          <a:xfrm>
            <a:off x="457200" y="142240"/>
            <a:ext cx="8229600" cy="900000"/>
          </a:xfrm>
          <a:prstGeom prst="rect">
            <a:avLst/>
          </a:prstGeom>
        </p:spPr>
        <p:txBody>
          <a:bodyPr wrap="square" anchor="t" vert="horz"/>
          <a:lstStyle/>
          <a:p>
            <a:r>
              <a:rPr sz="2400" b="1" lang="en-US">
                <a:solidFill>
                  <a:srgbClr val="0F2440"/>
                </a:solidFill>
              </a:rPr>
              <a:t xml:space="preserve">Lab: Planted Fault — Full Signal Trace</a:t>
            </a:r>
          </a:p>
        </p:txBody>
      </p:sp>
      <p:sp>
        <p:nvSpPr>
          <p:cNvPr id="6" name="HeadingUnderline"/>
          <p:cNvSpPr/>
          <p:nvPr/>
        </p:nvSpPr>
        <p:spPr>
          <a:xfrm>
            <a:off x="457200" y="1042240"/>
            <a:ext cx="8229600" cy="38100"/>
          </a:xfrm>
          <a:prstGeom prst="rect">
            <a:avLst/>
          </a:prstGeom>
          <a:solidFill>
            <a:srgbClr val="E8A820"/>
          </a:solidFill>
        </p:spPr>
        <p:txBody>
          <a:bodyPr/>
          <a:lstStyle/>
          <a:p/>
        </p:txBody>
      </p:sp>
      <p:sp>
        <p:nvSpPr>
          <p:cNvPr id="3" name="Content"/>
          <p:cNvSpPr>
            <a:spLocks noGrp="1"/>
          </p:cNvSpPr>
          <p:nvPr>
            <p:ph idx="1" type="body"/>
          </p:nvPr>
        </p:nvSpPr>
        <p:spPr>
          <a:xfrm>
            <a:off x="457200" y="1171780"/>
            <a:ext cx="8229600" cy="5564300"/>
          </a:xfrm>
          <a:prstGeom prst="rect">
            <a:avLst/>
          </a:prstGeom>
        </p:spPr>
        <p:txBody>
          <a:bodyPr wrap="square" anchor="t" vert="horz" lIns="91440" tIns="45720" rIns="91440" bIns="45720"/>
          <a:lstStyle>
            <a:lvl1pPr marL="457200" indent="-228600" algn="l">
              <a:buChar char="•"/>
              <a:defRPr sz="1200">
                <a:solidFill>
                  <a:srgbClr val="1E293B"/>
                </a:solidFill>
              </a:defRPr>
            </a:lvl1pPr>
          </a:lstStyle>
          <a:p>
            <a:pPr lvl="0" algn="l">
              <a:lnSpc>
                <a:spcPct val="112000"/>
              </a:lnSpc>
            </a:pPr>
            <a:r>
              <a:rPr sz="1200" lang="en-US">
                <a:solidFill>
                  <a:srgbClr val="1E293B"/>
                </a:solidFill>
              </a:rPr>
              <a:t xml:space="preserve">After: Reviewing Signals — Productivity Suite</a:t>
            </a:r>
          </a:p>
          <a:p>
            <a:pPr lvl="0" algn="l">
              <a:lnSpc>
                <a:spcPct val="112000"/>
              </a:lnSpc>
            </a:pPr>
            <a:r>
              <a:rPr sz="1200" lang="en-US">
                <a:solidFill>
                  <a:srgbClr val="1E293B"/>
                </a:solidFill>
              </a:rPr>
              <a:t xml:space="preserve">Duration: 15 min</a:t>
            </a:r>
          </a:p>
          <a:p>
            <a:pPr lvl="0" algn="l">
              <a:lnSpc>
                <a:spcPct val="112000"/>
              </a:lnSpc>
            </a:pPr>
            <a:r>
              <a:rPr sz="1200" lang="en-US">
                <a:solidFill>
                  <a:srgbClr val="1E293B"/>
                </a:solidFill>
              </a:rPr>
              <a:t xml:space="preserve">Trainer pre-plants a fault (disconnected proximity sensor wire). Walk through the 5-layer model live: check output → check logic → check input tag → check module LED → check wiring → find disconnected wire.</a:t>
            </a:r>
          </a:p>
          <a:p>
            <a:pPr lvl="0" algn="l">
              <a:lnSpc>
                <a:spcPct val="112000"/>
              </a:lnSpc>
            </a:pPr>
            <a:r>
              <a:rPr sz="1200" lang="en-US">
                <a:solidFill>
                  <a:srgbClr val="1E293B"/>
                </a:solidFill>
              </a:rPr>
              <a:t xml:space="preserve">Students follow along and call out observations at each step. Guided walkthrough before independent scenarios in Module 7.</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AccentBar"/>
          <p:cNvSpPr/>
          <p:nvPr/>
        </p:nvSpPr>
        <p:spPr>
          <a:xfrm>
            <a:off x="0" y="0"/>
            <a:ext cx="9144000" cy="50800"/>
          </a:xfrm>
          <a:prstGeom prst="rect">
            <a:avLst/>
          </a:prstGeom>
          <a:gradFill rotWithShape="0">
            <a:gsLst>
              <a:gs pos="0">
                <a:srgbClr val="1E3A5F"/>
              </a:gs>
              <a:gs pos="100000">
                <a:srgbClr val="E8A820"/>
              </a:gs>
            </a:gsLst>
            <a:lin ang="0" scaled="0" flip="none"/>
          </a:gradFill>
        </p:spPr>
        <p:txBody>
          <a:bodyPr/>
          <a:lstStyle/>
          <a:p/>
        </p:txBody>
      </p:sp>
      <p:sp>
        <p:nvSpPr>
          <p:cNvPr id="7" name="FooterStrip"/>
          <p:cNvSpPr/>
          <p:nvPr/>
        </p:nvSpPr>
        <p:spPr>
          <a:xfrm>
            <a:off x="0" y="6781800"/>
            <a:ext cx="9144000" cy="76200"/>
          </a:xfrm>
          <a:prstGeom prst="rect">
            <a:avLst/>
          </a:prstGeom>
          <a:solidFill>
            <a:srgbClr val="F1F5F9"/>
          </a:solidFill>
          <a:ln>
            <a:noFill/>
          </a:ln>
        </p:spPr>
        <p:txBody>
          <a:bodyPr/>
          <a:lstStyle/>
          <a:p/>
        </p:txBody>
      </p:sp>
      <p:sp>
        <p:nvSpPr>
          <p:cNvPr id="2" name="Title"/>
          <p:cNvSpPr>
            <a:spLocks noGrp="1"/>
          </p:cNvSpPr>
          <p:nvPr>
            <p:ph type="title"/>
          </p:nvPr>
        </p:nvSpPr>
        <p:spPr>
          <a:xfrm>
            <a:off x="457200" y="142240"/>
            <a:ext cx="8229600" cy="900000"/>
          </a:xfrm>
          <a:prstGeom prst="rect">
            <a:avLst/>
          </a:prstGeom>
        </p:spPr>
        <p:txBody>
          <a:bodyPr wrap="square" anchor="t" vert="horz"/>
          <a:lstStyle/>
          <a:p>
            <a:r>
              <a:rPr sz="2400" b="1" lang="en-US">
                <a:solidFill>
                  <a:srgbClr val="0F2440"/>
                </a:solidFill>
              </a:rPr>
              <a:t xml:space="preserve">Quiz</a:t>
            </a:r>
          </a:p>
        </p:txBody>
      </p:sp>
      <p:sp>
        <p:nvSpPr>
          <p:cNvPr id="6" name="HeadingUnderline"/>
          <p:cNvSpPr/>
          <p:nvPr/>
        </p:nvSpPr>
        <p:spPr>
          <a:xfrm>
            <a:off x="457200" y="1042240"/>
            <a:ext cx="8229600" cy="38100"/>
          </a:xfrm>
          <a:prstGeom prst="rect">
            <a:avLst/>
          </a:prstGeom>
          <a:solidFill>
            <a:srgbClr val="E8A820"/>
          </a:solidFill>
        </p:spPr>
        <p:txBody>
          <a:bodyPr/>
          <a:lstStyle/>
          <a:p/>
        </p:txBody>
      </p:sp>
      <p:sp>
        <p:nvSpPr>
          <p:cNvPr id="3" name="Content"/>
          <p:cNvSpPr>
            <a:spLocks noGrp="1"/>
          </p:cNvSpPr>
          <p:nvPr>
            <p:ph idx="1" type="body"/>
          </p:nvPr>
        </p:nvSpPr>
        <p:spPr>
          <a:xfrm>
            <a:off x="457200" y="1171780"/>
            <a:ext cx="8229600" cy="5564300"/>
          </a:xfrm>
          <a:prstGeom prst="rect">
            <a:avLst/>
          </a:prstGeom>
        </p:spPr>
        <p:txBody>
          <a:bodyPr wrap="square" anchor="t" vert="horz" lIns="91440" tIns="45720" rIns="91440" bIns="45720"/>
          <a:lstStyle>
            <a:lvl1pPr marL="457200" indent="-228600" algn="l">
              <a:buChar char="•"/>
              <a:defRPr sz="1200">
                <a:solidFill>
                  <a:srgbClr val="1E293B"/>
                </a:solidFill>
              </a:defRPr>
            </a:lvl1pPr>
          </a:lstStyle>
          <a:p>
            <a:pPr lvl="0" algn="l">
              <a:lnSpc>
                <a:spcPct val="112000"/>
              </a:lnSpc>
            </a:pPr>
            <a:r>
              <a:rPr sz="1200" lang="en-US">
                <a:solidFill>
                  <a:srgbClr val="1E293B"/>
                </a:solidFill>
              </a:rPr>
              <a:t xml:space="preserve">In the 5-layer fault isolation model, what is Layer 1?</a:t>
            </a:r>
          </a:p>
          <a:p>
            <a:pPr lvl="0" algn="l">
              <a:lnSpc>
                <a:spcPct val="112000"/>
              </a:lnSpc>
            </a:pPr>
            <a:r>
              <a:rPr sz="1200" lang="en-US">
                <a:solidFill>
                  <a:srgbClr val="1E293B"/>
                </a:solidFill>
              </a:rPr>
              <a:t xml:space="preserve">PLC Logic | Physical Device | Wiring | I/O Module</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AccentBar"/>
          <p:cNvSpPr/>
          <p:nvPr/>
        </p:nvSpPr>
        <p:spPr>
          <a:xfrm>
            <a:off x="0" y="0"/>
            <a:ext cx="9144000" cy="50800"/>
          </a:xfrm>
          <a:prstGeom prst="rect">
            <a:avLst/>
          </a:prstGeom>
          <a:gradFill rotWithShape="0">
            <a:gsLst>
              <a:gs pos="0">
                <a:srgbClr val="1E3A5F"/>
              </a:gs>
              <a:gs pos="100000">
                <a:srgbClr val="E8A820"/>
              </a:gs>
            </a:gsLst>
            <a:lin ang="0" scaled="0" flip="none"/>
          </a:gradFill>
        </p:spPr>
        <p:txBody>
          <a:bodyPr/>
          <a:lstStyle/>
          <a:p/>
        </p:txBody>
      </p:sp>
      <p:sp>
        <p:nvSpPr>
          <p:cNvPr id="7" name="FooterStrip"/>
          <p:cNvSpPr/>
          <p:nvPr/>
        </p:nvSpPr>
        <p:spPr>
          <a:xfrm>
            <a:off x="0" y="6781800"/>
            <a:ext cx="9144000" cy="76200"/>
          </a:xfrm>
          <a:prstGeom prst="rect">
            <a:avLst/>
          </a:prstGeom>
          <a:solidFill>
            <a:srgbClr val="F1F5F9"/>
          </a:solidFill>
          <a:ln>
            <a:noFill/>
          </a:ln>
        </p:spPr>
        <p:txBody>
          <a:bodyPr/>
          <a:lstStyle/>
          <a:p/>
        </p:txBody>
      </p:sp>
      <p:sp>
        <p:nvSpPr>
          <p:cNvPr id="2" name="Title"/>
          <p:cNvSpPr>
            <a:spLocks noGrp="1"/>
          </p:cNvSpPr>
          <p:nvPr>
            <p:ph type="title"/>
          </p:nvPr>
        </p:nvSpPr>
        <p:spPr>
          <a:xfrm>
            <a:off x="457200" y="142240"/>
            <a:ext cx="8229600" cy="900000"/>
          </a:xfrm>
          <a:prstGeom prst="rect">
            <a:avLst/>
          </a:prstGeom>
        </p:spPr>
        <p:txBody>
          <a:bodyPr wrap="square" anchor="t" vert="horz"/>
          <a:lstStyle/>
          <a:p>
            <a:r>
              <a:rPr sz="2400" b="1" lang="en-US">
                <a:solidFill>
                  <a:srgbClr val="0F2440"/>
                </a:solidFill>
              </a:rPr>
              <a:t xml:space="preserve">Quiz</a:t>
            </a:r>
          </a:p>
        </p:txBody>
      </p:sp>
      <p:sp>
        <p:nvSpPr>
          <p:cNvPr id="6" name="HeadingUnderline"/>
          <p:cNvSpPr/>
          <p:nvPr/>
        </p:nvSpPr>
        <p:spPr>
          <a:xfrm>
            <a:off x="457200" y="1042240"/>
            <a:ext cx="8229600" cy="38100"/>
          </a:xfrm>
          <a:prstGeom prst="rect">
            <a:avLst/>
          </a:prstGeom>
          <a:solidFill>
            <a:srgbClr val="E8A820"/>
          </a:solidFill>
        </p:spPr>
        <p:txBody>
          <a:bodyPr/>
          <a:lstStyle/>
          <a:p/>
        </p:txBody>
      </p:sp>
      <p:sp>
        <p:nvSpPr>
          <p:cNvPr id="3" name="Content"/>
          <p:cNvSpPr>
            <a:spLocks noGrp="1"/>
          </p:cNvSpPr>
          <p:nvPr>
            <p:ph idx="1" type="body"/>
          </p:nvPr>
        </p:nvSpPr>
        <p:spPr>
          <a:xfrm>
            <a:off x="457200" y="1171780"/>
            <a:ext cx="8229600" cy="5564300"/>
          </a:xfrm>
          <a:prstGeom prst="rect">
            <a:avLst/>
          </a:prstGeom>
        </p:spPr>
        <p:txBody>
          <a:bodyPr wrap="square" anchor="t" vert="horz" lIns="91440" tIns="45720" rIns="91440" bIns="45720"/>
          <a:lstStyle>
            <a:lvl1pPr marL="457200" indent="-228600" algn="l">
              <a:buChar char="•"/>
              <a:defRPr sz="1200">
                <a:solidFill>
                  <a:srgbClr val="1E293B"/>
                </a:solidFill>
              </a:defRPr>
            </a:lvl1pPr>
          </a:lstStyle>
          <a:p>
            <a:pPr lvl="0" algn="l">
              <a:lnSpc>
                <a:spcPct val="112000"/>
              </a:lnSpc>
            </a:pPr>
            <a:r>
              <a:rPr sz="1200" lang="en-US">
                <a:solidFill>
                  <a:srgbClr val="1E293B"/>
                </a:solidFill>
              </a:rPr>
              <a:t xml:space="preserve">A PLC input tag shows 0, but you measure 24VDC at the I/O module terminal with a multimeter. What layer has the fault?</a:t>
            </a:r>
          </a:p>
          <a:p>
            <a:pPr lvl="0" algn="l">
              <a:lnSpc>
                <a:spcPct val="112000"/>
              </a:lnSpc>
            </a:pPr>
            <a:r>
              <a:rPr sz="1200" lang="en-US">
                <a:solidFill>
                  <a:srgbClr val="1E293B"/>
                </a:solidFill>
              </a:rPr>
              <a:t xml:space="preserve">Layer 1 — Physical Device | Layer 2 — Wiring | Layer 3 — I/O Module | Layer 4 — PLC Logic</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AccentBar"/>
          <p:cNvSpPr/>
          <p:nvPr/>
        </p:nvSpPr>
        <p:spPr>
          <a:xfrm>
            <a:off x="0" y="0"/>
            <a:ext cx="9144000" cy="50800"/>
          </a:xfrm>
          <a:prstGeom prst="rect">
            <a:avLst/>
          </a:prstGeom>
          <a:gradFill rotWithShape="0">
            <a:gsLst>
              <a:gs pos="0">
                <a:srgbClr val="1E3A5F"/>
              </a:gs>
              <a:gs pos="100000">
                <a:srgbClr val="E8A820"/>
              </a:gs>
            </a:gsLst>
            <a:lin ang="0" scaled="0" flip="none"/>
          </a:gradFill>
        </p:spPr>
        <p:txBody>
          <a:bodyPr/>
          <a:lstStyle/>
          <a:p/>
        </p:txBody>
      </p:sp>
      <p:sp>
        <p:nvSpPr>
          <p:cNvPr id="7" name="FooterStrip"/>
          <p:cNvSpPr/>
          <p:nvPr/>
        </p:nvSpPr>
        <p:spPr>
          <a:xfrm>
            <a:off x="0" y="6781800"/>
            <a:ext cx="9144000" cy="76200"/>
          </a:xfrm>
          <a:prstGeom prst="rect">
            <a:avLst/>
          </a:prstGeom>
          <a:solidFill>
            <a:srgbClr val="F1F5F9"/>
          </a:solidFill>
          <a:ln>
            <a:noFill/>
          </a:ln>
        </p:spPr>
        <p:txBody>
          <a:bodyPr/>
          <a:lstStyle/>
          <a:p/>
        </p:txBody>
      </p:sp>
      <p:sp>
        <p:nvSpPr>
          <p:cNvPr id="2" name="Title"/>
          <p:cNvSpPr>
            <a:spLocks noGrp="1"/>
          </p:cNvSpPr>
          <p:nvPr>
            <p:ph type="title"/>
          </p:nvPr>
        </p:nvSpPr>
        <p:spPr>
          <a:xfrm>
            <a:off x="457200" y="142240"/>
            <a:ext cx="8229600" cy="900000"/>
          </a:xfrm>
          <a:prstGeom prst="rect">
            <a:avLst/>
          </a:prstGeom>
        </p:spPr>
        <p:txBody>
          <a:bodyPr wrap="square" anchor="t" vert="horz"/>
          <a:lstStyle/>
          <a:p>
            <a:r>
              <a:rPr sz="2400" b="1" lang="en-US">
                <a:solidFill>
                  <a:srgbClr val="0F2440"/>
                </a:solidFill>
              </a:rPr>
              <a:t xml:space="preserve">Quiz</a:t>
            </a:r>
          </a:p>
        </p:txBody>
      </p:sp>
      <p:sp>
        <p:nvSpPr>
          <p:cNvPr id="6" name="HeadingUnderline"/>
          <p:cNvSpPr/>
          <p:nvPr/>
        </p:nvSpPr>
        <p:spPr>
          <a:xfrm>
            <a:off x="457200" y="1042240"/>
            <a:ext cx="8229600" cy="38100"/>
          </a:xfrm>
          <a:prstGeom prst="rect">
            <a:avLst/>
          </a:prstGeom>
          <a:solidFill>
            <a:srgbClr val="E8A820"/>
          </a:solidFill>
        </p:spPr>
        <p:txBody>
          <a:bodyPr/>
          <a:lstStyle/>
          <a:p/>
        </p:txBody>
      </p:sp>
      <p:sp>
        <p:nvSpPr>
          <p:cNvPr id="3" name="Content"/>
          <p:cNvSpPr>
            <a:spLocks noGrp="1"/>
          </p:cNvSpPr>
          <p:nvPr>
            <p:ph idx="1" type="body"/>
          </p:nvPr>
        </p:nvSpPr>
        <p:spPr>
          <a:xfrm>
            <a:off x="457200" y="1171780"/>
            <a:ext cx="8229600" cy="5564300"/>
          </a:xfrm>
          <a:prstGeom prst="rect">
            <a:avLst/>
          </a:prstGeom>
        </p:spPr>
        <p:txBody>
          <a:bodyPr wrap="square" anchor="t" vert="horz" lIns="91440" tIns="45720" rIns="91440" bIns="45720"/>
          <a:lstStyle>
            <a:lvl1pPr marL="457200" indent="-228600" algn="l">
              <a:buChar char="•"/>
              <a:defRPr sz="1200">
                <a:solidFill>
                  <a:srgbClr val="1E293B"/>
                </a:solidFill>
              </a:defRPr>
            </a:lvl1pPr>
          </a:lstStyle>
          <a:p>
            <a:pPr lvl="0" algn="l">
              <a:lnSpc>
                <a:spcPct val="112000"/>
              </a:lnSpc>
            </a:pPr>
            <a:r>
              <a:rPr sz="1200" lang="en-US">
                <a:solidFill>
                  <a:srgbClr val="1E293B"/>
                </a:solidFill>
              </a:rPr>
              <a:t xml:space="preserve">What does it mean when a contact is highlighted/colored in online ladder logic view?</a:t>
            </a:r>
          </a:p>
          <a:p>
            <a:pPr lvl="0" algn="l">
              <a:lnSpc>
                <a:spcPct val="112000"/>
              </a:lnSpc>
            </a:pPr>
            <a:r>
              <a:rPr sz="1200" lang="en-US">
                <a:solidFill>
                  <a:srgbClr val="1E293B"/>
                </a:solidFill>
              </a:rPr>
              <a:t xml:space="preserve">The contact has an error | The contact is forcing the output OFF | The contact is passing power (its condition is TRUE) | The contact has been modified recently</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AccentBar"/>
          <p:cNvSpPr/>
          <p:nvPr/>
        </p:nvSpPr>
        <p:spPr>
          <a:xfrm>
            <a:off x="0" y="0"/>
            <a:ext cx="9144000" cy="50800"/>
          </a:xfrm>
          <a:prstGeom prst="rect">
            <a:avLst/>
          </a:prstGeom>
          <a:gradFill rotWithShape="0">
            <a:gsLst>
              <a:gs pos="0">
                <a:srgbClr val="1E3A5F"/>
              </a:gs>
              <a:gs pos="100000">
                <a:srgbClr val="E8A820"/>
              </a:gs>
            </a:gsLst>
            <a:lin ang="0" scaled="0" flip="none"/>
          </a:gradFill>
        </p:spPr>
        <p:txBody>
          <a:bodyPr/>
          <a:lstStyle/>
          <a:p/>
        </p:txBody>
      </p:sp>
      <p:sp>
        <p:nvSpPr>
          <p:cNvPr id="7" name="FooterStrip"/>
          <p:cNvSpPr/>
          <p:nvPr/>
        </p:nvSpPr>
        <p:spPr>
          <a:xfrm>
            <a:off x="0" y="6781800"/>
            <a:ext cx="9144000" cy="76200"/>
          </a:xfrm>
          <a:prstGeom prst="rect">
            <a:avLst/>
          </a:prstGeom>
          <a:solidFill>
            <a:srgbClr val="F1F5F9"/>
          </a:solidFill>
          <a:ln>
            <a:noFill/>
          </a:ln>
        </p:spPr>
        <p:txBody>
          <a:bodyPr/>
          <a:lstStyle/>
          <a:p/>
        </p:txBody>
      </p:sp>
      <p:sp>
        <p:nvSpPr>
          <p:cNvPr id="2" name="Title"/>
          <p:cNvSpPr>
            <a:spLocks noGrp="1"/>
          </p:cNvSpPr>
          <p:nvPr>
            <p:ph type="title"/>
          </p:nvPr>
        </p:nvSpPr>
        <p:spPr>
          <a:xfrm>
            <a:off x="457200" y="142240"/>
            <a:ext cx="8229600" cy="900000"/>
          </a:xfrm>
          <a:prstGeom prst="rect">
            <a:avLst/>
          </a:prstGeom>
        </p:spPr>
        <p:txBody>
          <a:bodyPr wrap="square" anchor="t" vert="horz"/>
          <a:lstStyle/>
          <a:p>
            <a:r>
              <a:rPr sz="2400" b="1" lang="en-US">
                <a:solidFill>
                  <a:srgbClr val="0F2440"/>
                </a:solidFill>
              </a:rPr>
              <a:t xml:space="preserve">Quiz</a:t>
            </a:r>
          </a:p>
        </p:txBody>
      </p:sp>
      <p:sp>
        <p:nvSpPr>
          <p:cNvPr id="6" name="HeadingUnderline"/>
          <p:cNvSpPr/>
          <p:nvPr/>
        </p:nvSpPr>
        <p:spPr>
          <a:xfrm>
            <a:off x="457200" y="1042240"/>
            <a:ext cx="8229600" cy="38100"/>
          </a:xfrm>
          <a:prstGeom prst="rect">
            <a:avLst/>
          </a:prstGeom>
          <a:solidFill>
            <a:srgbClr val="E8A820"/>
          </a:solidFill>
        </p:spPr>
        <p:txBody>
          <a:bodyPr/>
          <a:lstStyle/>
          <a:p/>
        </p:txBody>
      </p:sp>
      <p:sp>
        <p:nvSpPr>
          <p:cNvPr id="3" name="Content"/>
          <p:cNvSpPr>
            <a:spLocks noGrp="1"/>
          </p:cNvSpPr>
          <p:nvPr>
            <p:ph idx="1" type="body"/>
          </p:nvPr>
        </p:nvSpPr>
        <p:spPr>
          <a:xfrm>
            <a:off x="457200" y="1171780"/>
            <a:ext cx="8229600" cy="5564300"/>
          </a:xfrm>
          <a:prstGeom prst="rect">
            <a:avLst/>
          </a:prstGeom>
        </p:spPr>
        <p:txBody>
          <a:bodyPr wrap="square" anchor="t" vert="horz" lIns="91440" tIns="45720" rIns="91440" bIns="45720"/>
          <a:lstStyle>
            <a:lvl1pPr marL="457200" indent="-228600" algn="l">
              <a:buChar char="•"/>
              <a:defRPr sz="1200">
                <a:solidFill>
                  <a:srgbClr val="1E293B"/>
                </a:solidFill>
              </a:defRPr>
            </a:lvl1pPr>
          </a:lstStyle>
          <a:p>
            <a:pPr lvl="0" algn="l">
              <a:lnSpc>
                <a:spcPct val="112000"/>
              </a:lnSpc>
            </a:pPr>
            <a:r>
              <a:rPr sz="1200" lang="en-US">
                <a:solidFill>
                  <a:srgbClr val="1E293B"/>
                </a:solidFill>
              </a:rPr>
              <a:t xml:space="preserve">What is the danger of forgetting to remove a forced output?</a:t>
            </a:r>
          </a:p>
          <a:p>
            <a:pPr lvl="0" algn="l">
              <a:lnSpc>
                <a:spcPct val="112000"/>
              </a:lnSpc>
            </a:pPr>
            <a:r>
              <a:rPr sz="1200" lang="en-US">
                <a:solidFill>
                  <a:srgbClr val="1E293B"/>
                </a:solidFill>
              </a:rPr>
              <a:t xml:space="preserve">It wastes PLC memory | It slows down the scan cycle | The output will stay ON regardless of safety logic, potentially causing injury | It corrupts the program file</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AccentBar"/>
          <p:cNvSpPr/>
          <p:nvPr/>
        </p:nvSpPr>
        <p:spPr>
          <a:xfrm>
            <a:off x="0" y="0"/>
            <a:ext cx="9144000" cy="50800"/>
          </a:xfrm>
          <a:prstGeom prst="rect">
            <a:avLst/>
          </a:prstGeom>
          <a:gradFill rotWithShape="0">
            <a:gsLst>
              <a:gs pos="0">
                <a:srgbClr val="1E3A5F"/>
              </a:gs>
              <a:gs pos="100000">
                <a:srgbClr val="E8A820"/>
              </a:gs>
            </a:gsLst>
            <a:lin ang="0" scaled="0" flip="none"/>
          </a:gradFill>
        </p:spPr>
        <p:txBody>
          <a:bodyPr/>
          <a:lstStyle/>
          <a:p/>
        </p:txBody>
      </p:sp>
      <p:sp>
        <p:nvSpPr>
          <p:cNvPr id="7" name="FooterStrip"/>
          <p:cNvSpPr/>
          <p:nvPr/>
        </p:nvSpPr>
        <p:spPr>
          <a:xfrm>
            <a:off x="0" y="6781800"/>
            <a:ext cx="9144000" cy="76200"/>
          </a:xfrm>
          <a:prstGeom prst="rect">
            <a:avLst/>
          </a:prstGeom>
          <a:solidFill>
            <a:srgbClr val="F1F5F9"/>
          </a:solidFill>
          <a:ln>
            <a:noFill/>
          </a:ln>
        </p:spPr>
        <p:txBody>
          <a:bodyPr/>
          <a:lstStyle/>
          <a:p/>
        </p:txBody>
      </p:sp>
      <p:sp>
        <p:nvSpPr>
          <p:cNvPr id="2" name="Title"/>
          <p:cNvSpPr>
            <a:spLocks noGrp="1"/>
          </p:cNvSpPr>
          <p:nvPr>
            <p:ph type="title"/>
          </p:nvPr>
        </p:nvSpPr>
        <p:spPr>
          <a:xfrm>
            <a:off x="457200" y="142240"/>
            <a:ext cx="8229600" cy="900000"/>
          </a:xfrm>
          <a:prstGeom prst="rect">
            <a:avLst/>
          </a:prstGeom>
        </p:spPr>
        <p:txBody>
          <a:bodyPr wrap="square" anchor="t" vert="horz"/>
          <a:lstStyle/>
          <a:p>
            <a:r>
              <a:rPr sz="2400" b="1" lang="en-US">
                <a:solidFill>
                  <a:srgbClr val="0F2440"/>
                </a:solidFill>
              </a:rPr>
              <a:t xml:space="preserve">Quiz</a:t>
            </a:r>
          </a:p>
        </p:txBody>
      </p:sp>
      <p:sp>
        <p:nvSpPr>
          <p:cNvPr id="6" name="HeadingUnderline"/>
          <p:cNvSpPr/>
          <p:nvPr/>
        </p:nvSpPr>
        <p:spPr>
          <a:xfrm>
            <a:off x="457200" y="1042240"/>
            <a:ext cx="8229600" cy="38100"/>
          </a:xfrm>
          <a:prstGeom prst="rect">
            <a:avLst/>
          </a:prstGeom>
          <a:solidFill>
            <a:srgbClr val="E8A820"/>
          </a:solidFill>
        </p:spPr>
        <p:txBody>
          <a:bodyPr/>
          <a:lstStyle/>
          <a:p/>
        </p:txBody>
      </p:sp>
      <p:sp>
        <p:nvSpPr>
          <p:cNvPr id="3" name="Content"/>
          <p:cNvSpPr>
            <a:spLocks noGrp="1"/>
          </p:cNvSpPr>
          <p:nvPr>
            <p:ph idx="1" type="body"/>
          </p:nvPr>
        </p:nvSpPr>
        <p:spPr>
          <a:xfrm>
            <a:off x="457200" y="1171780"/>
            <a:ext cx="8229600" cy="5564300"/>
          </a:xfrm>
          <a:prstGeom prst="rect">
            <a:avLst/>
          </a:prstGeom>
        </p:spPr>
        <p:txBody>
          <a:bodyPr wrap="square" anchor="t" vert="horz" lIns="91440" tIns="45720" rIns="91440" bIns="45720"/>
          <a:lstStyle>
            <a:lvl1pPr marL="457200" indent="-228600" algn="l">
              <a:buChar char="•"/>
              <a:defRPr sz="1200">
                <a:solidFill>
                  <a:srgbClr val="1E293B"/>
                </a:solidFill>
              </a:defRPr>
            </a:lvl1pPr>
          </a:lstStyle>
          <a:p>
            <a:pPr lvl="0" algn="l">
              <a:lnSpc>
                <a:spcPct val="112000"/>
              </a:lnSpc>
            </a:pPr>
            <a:r>
              <a:rPr sz="1200" lang="en-US">
                <a:solidFill>
                  <a:srgbClr val="1E293B"/>
                </a:solidFill>
              </a:rPr>
              <a:t xml:space="preserve">A REAL data type tag reads 72.5. What kind of value could this represent?</a:t>
            </a:r>
          </a:p>
          <a:p>
            <a:pPr lvl="0" algn="l">
              <a:lnSpc>
                <a:spcPct val="112000"/>
              </a:lnSpc>
            </a:pPr>
            <a:r>
              <a:rPr sz="1200" lang="en-US">
                <a:solidFill>
                  <a:srgbClr val="1E293B"/>
                </a:solidFill>
              </a:rPr>
              <a:t xml:space="preserve">A Boolean state (ON/OFF) | A counter value | A temperature, pressure, or other continuous measurement | An error code</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name="Office">
      <a:fillStyleLst>
        <a:solidFill>
          <a:schemeClr val="phClr"/>
        </a:solidFill>
      </a:fillStyleLst>
      <a:lnStyleLst>
        <a:ln w="9525">
          <a:solidFill>
            <a:schemeClr val="phClr"/>
          </a:solidFill>
        </a:ln>
      </a:lnStyleLst>
      <a:effectStyleLst>
        <a:effectStyle>
          <a:effectLst/>
        </a:effectStyle>
      </a:effectStyleLst>
      <a:bgFillStyleLst>
        <a:solidFill>
          <a:schemeClr val="phClr"/>
        </a:solidFill>
      </a:bgFillStyleLst>
    </a:fmtScheme>
  </a:themeElements>
  <a:objectDefaults/>
  <a:extraClrSchemeLst/>
</a:theme>
</file>

<file path=docProps/app.xml><?xml version="1.0" encoding="utf-8"?>
<Properties xmlns="http://schemas.openxmlformats.org/officeDocument/2006/extended-properties">
  <Application>plc-training</Application>
  <Slides>30</Slides>
</Properties>
</file>

<file path=docProps/core.xml><?xml version="1.0" encoding="utf-8"?>
<cp:coreProperties xmlns:cp="http://schemas.openxmlformats.org/package/2006/metadata/core-properties" xmlns:dc="http://purl.org/dc/elements/1.1/">
  <dc:title>PLC Tabletop Training</dc:title>
  <dc:creator>plc-training export</dc:creator>
</cp:coreProperties>
</file>