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webp" ContentType="image/webp"/>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media/image0.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p:notesSz cx="6858000" cy="9144000"/>
  <p:defaultTextStyle/>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Placeholder"/>
          <p:cNvSpPr>
            <a:spLocks noGrp="1"/>
          </p:cNvSpPr>
          <p:nvPr>
            <p:ph type="title"/>
          </p:nvPr>
        </p:nvSpPr>
        <p:spPr>
          <a:xfrm>
            <a:off x="457200" y="142240"/>
            <a:ext cx="8229600" cy="900000"/>
          </a:xfrm>
          <a:prstGeom prst="rect">
            <a:avLst/>
          </a:prstGeom>
        </p:spPr>
        <p:txBody>
          <a:bodyPr/>
          <a:lstStyle/>
          <a:p/>
        </p:txBody>
      </p:sp>
      <p:sp>
        <p:nvSpPr>
          <p:cNvPr id="3" name="Content Placeholder"/>
          <p:cNvSpPr>
            <a:spLocks noGrp="1"/>
          </p:cNvSpPr>
          <p:nvPr>
            <p:ph idx="1" type="body"/>
          </p:nvPr>
        </p:nvSpPr>
        <p:spPr>
          <a:xfrm>
            <a:off x="457200" y="1171780"/>
            <a:ext cx="8229600" cy="5564300"/>
          </a:xfrm>
          <a:prstGeom prst="rect">
            <a:avLst/>
          </a:prstGeom>
        </p:spPr>
        <p:txBody>
          <a:bodyPr/>
          <a:lstStyle/>
          <a:p/>
        </p:txBody>
      </p:sp>
    </p:spTree>
  </p:cSld>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ctr">
        <a:defRPr sz="4400" b="1">
          <a:latin typeface="Calibri"/>
        </a:defRPr>
      </a:lvl1pPr>
    </p:titleStyle>
    <p:bodyStyle>
      <a:lvl1pPr>
        <a:defRPr sz="2800">
          <a:latin typeface="Calibri"/>
        </a:defRPr>
      </a:lvl1pPr>
    </p:body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0.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0.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0.png"/>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Module 2: Safety &amp; Input/Output Devices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PLC Tabletop Training Program · Lecture + Lab · 2.5 h</a:t>
            </a:r>
          </a:p>
          <a:p>
            <a:pPr lvl="0" algn="l">
              <a:lnSpc>
                <a:spcPct val="112000"/>
              </a:lnSpc>
            </a:pPr>
            <a:r>
              <a:rPr sz="1200" lang="en-US">
                <a:solidFill>
                  <a:srgbClr val="1E293B"/>
                </a:solidFill>
              </a:rPr>
              <a:t xml:space="preserve">v1.0 (April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Learning objectives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Identify the main input device types and describe the signal each sends to the PLC</a:t>
            </a:r>
          </a:p>
          <a:p>
            <a:pPr lvl="0" algn="l">
              <a:lnSpc>
                <a:spcPct val="112000"/>
              </a:lnSpc>
            </a:pPr>
            <a:r>
              <a:rPr sz="1200" lang="en-US">
                <a:solidFill>
                  <a:srgbClr val="1E293B"/>
                </a:solidFill>
              </a:rPr>
              <a:t xml:space="preserve">Identify the main output device types and describe how the PLC drives each</a:t>
            </a:r>
          </a:p>
          <a:p>
            <a:pPr lvl="0" algn="l">
              <a:lnSpc>
                <a:spcPct val="112000"/>
              </a:lnSpc>
            </a:pPr>
            <a:r>
              <a:rPr sz="1200" lang="en-US">
                <a:solidFill>
                  <a:srgbClr val="1E293B"/>
                </a:solidFill>
              </a:rPr>
              <a:t xml:space="preserve">Understand the difference between standard I/O and safety I/O (dual-channel, OSSD)</a:t>
            </a:r>
          </a:p>
          <a:p>
            <a:pPr lvl="0" algn="l">
              <a:lnSpc>
                <a:spcPct val="112000"/>
              </a:lnSpc>
            </a:pPr>
            <a:r>
              <a:rPr sz="1200" lang="en-US">
                <a:solidFill>
                  <a:srgbClr val="1E293B"/>
                </a:solidFill>
              </a:rPr>
              <a:t xml:space="preserve">Recognize additional field devices: photoelectric sensors, encoders, solenoid valves, VFDs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Overview</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Input devices (sensors, switches, safety devices) and output devices (motors, relays, valves) — how they work and how they connect to the PLC.</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Input Devices — Sensors &amp; Switches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Proximity sensors, limit switches, photoelectric sensors, push buttons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Proximity Sensors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An inductive proximity sensor detects metal objects without physical contact. It sends a 24VDC signal to the PLC digital input when a metal target enters its sensing range. Available in NPN (sinking) and PNP (sourcing) output types.</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Limit Switches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 limit switch is a mechanical contact sensor that triggers when an actuator (lever, roller, plunger) reaches its end-of-travel position. Provides either Normally Open (N/O) or Normally Closed (N/C) dry contacts.</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Photoelectric Sensors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Photoelectric sensors use light beams for detection. Three main types are used in manufacturing:</a:t>
            </a:r>
          </a:p>
          <a:p>
            <a:pPr lvl="0" algn="l">
              <a:lnSpc>
                <a:spcPct val="112000"/>
              </a:lnSpc>
            </a:pPr>
            <a:r>
              <a:rPr sz="1200" lang="en-US">
                <a:solidFill>
                  <a:srgbClr val="1E293B"/>
                </a:solidFill>
              </a:rPr>
              <a:t xml:space="preserve">Table: Type | Configuration | Range | Best For</a:t>
            </a:r>
          </a:p>
          <a:p>
            <a:pPr lvl="0" algn="l">
              <a:lnSpc>
                <a:spcPct val="112000"/>
              </a:lnSpc>
            </a:pPr>
            <a:r>
              <a:rPr sz="1200" lang="en-US">
                <a:solidFill>
                  <a:srgbClr val="1E293B"/>
                </a:solidFill>
              </a:rPr>
              <a:t xml:space="preserve">Through-beam | Separate emitter + receiver | Longest (up to 30m) | Part counting, conveyor jam detection — most reliable</a:t>
            </a:r>
          </a:p>
          <a:p>
            <a:pPr lvl="0" algn="l">
              <a:lnSpc>
                <a:spcPct val="112000"/>
              </a:lnSpc>
            </a:pPr>
            <a:r>
              <a:rPr sz="1200" lang="en-US">
                <a:solidFill>
                  <a:srgbClr val="1E293B"/>
                </a:solidFill>
              </a:rPr>
              <a:t xml:space="preserve">Retroreflective | Emitter/receiver in one housing + reflector | Medium (up to 10m) | Presence detection where mounting space is limited on one side</a:t>
            </a:r>
          </a:p>
          <a:p>
            <a:pPr lvl="0" algn="l">
              <a:lnSpc>
                <a:spcPct val="112000"/>
              </a:lnSpc>
            </a:pPr>
            <a:r>
              <a:rPr sz="1200" lang="en-US">
                <a:solidFill>
                  <a:srgbClr val="1E293B"/>
                </a:solidFill>
              </a:rPr>
              <a:t xml:space="preserve">Diffuse | Emitter/receiver in one housing, detects object directly | Short (up to 1m) | Close-range part detection, color/contrast sensing</a:t>
            </a:r>
          </a:p>
          <a:p>
            <a:pPr lvl="0" algn="l">
              <a:lnSpc>
                <a:spcPct val="112000"/>
              </a:lnSpc>
            </a:pPr>
            <a:r>
              <a:rPr sz="1200" lang="en-US">
                <a:solidFill>
                  <a:srgbClr val="1E293B"/>
                </a:solidFill>
              </a:rPr>
              <a:t xml:space="preserve">[TIP] Maintenance Tip: Dirty lenses are the #1 cause of photoelectric sensor failures. Regular cleaning with a lint-free cloth can prevent most false triggers and missed detections.</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Push Buttons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Push buttons provide operator input to the PLC. Can be N/O (closes when pressed) or N/C (opens when pressed), momentary (spring-return) or maintained (latching). E-stop buttons are always N/C — they open the safety circuit when pressed and must be physically reset.</a:t>
            </a:r>
          </a:p>
          <a:p>
            <a:pPr lvl="0" algn="l">
              <a:lnSpc>
                <a:spcPct val="112000"/>
              </a:lnSpc>
            </a:pPr>
            <a:r>
              <a:rPr sz="1200" lang="en-US">
                <a:solidFill>
                  <a:srgbClr val="1E293B"/>
                </a:solidFill>
              </a:rPr>
              <a:t xml:space="preserve">[Figure] Emergency stop — wired as normally closed (N/C) in the safety circuit</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Safety Devices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Area scanners, light curtains, safety relays, and OSSD concepts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Area Scanners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An area scanner uses a rotating laser to scan a defined area of space. If it detects a person or obstruction within its configured safety zone, it sends a signal to the PLC to stop or de-energize connected equipment.</a:t>
            </a:r>
          </a:p>
          <a:p>
            <a:pPr lvl="0" algn="l">
              <a:lnSpc>
                <a:spcPct val="112000"/>
              </a:lnSpc>
            </a:pPr>
            <a:r>
              <a:rPr sz="1200" lang="en-US">
                <a:solidFill>
                  <a:srgbClr val="1E293B"/>
                </a:solidFill>
              </a:rPr>
              <a:t xml:space="preserve">Configurable warning and protective fields</a:t>
            </a:r>
          </a:p>
          <a:p>
            <a:pPr lvl="0" algn="l">
              <a:lnSpc>
                <a:spcPct val="112000"/>
              </a:lnSpc>
            </a:pPr>
            <a:r>
              <a:rPr sz="1200" lang="en-US">
                <a:solidFill>
                  <a:srgbClr val="1E293B"/>
                </a:solidFill>
              </a:rPr>
              <a:t xml:space="preserve">OSSD (Output Signal Switching Device) safety outputs to PLC</a:t>
            </a:r>
          </a:p>
          <a:p>
            <a:pPr lvl="0" algn="l">
              <a:lnSpc>
                <a:spcPct val="112000"/>
              </a:lnSpc>
            </a:pPr>
            <a:r>
              <a:rPr sz="1200" lang="en-US">
                <a:solidFill>
                  <a:srgbClr val="1E293B"/>
                </a:solidFill>
              </a:rPr>
              <a:t xml:space="preserve">Common brands: SICK S300/S3000, Omron OS32C</a:t>
            </a:r>
          </a:p>
          <a:p>
            <a:pPr lvl="0" algn="l">
              <a:lnSpc>
                <a:spcPct val="112000"/>
              </a:lnSpc>
            </a:pPr>
            <a:r>
              <a:rPr sz="1200" lang="en-US">
                <a:solidFill>
                  <a:srgbClr val="1E293B"/>
                </a:solidFill>
              </a:rPr>
              <a:t xml:space="preserve">Programmed via USB using manufacturer software</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Light Curtains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 light curtain is an infrared safety barrier consisting of an emitter and receiver pair. If any beam is broken (e.g., a hand reaches through), the OSSD outputs drop and the machine stops. Used to guard press brakes, palletizers, and robotic cells.</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Safety Relays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Safety relays monitor safety circuits using dual-channel inputs with forced-guided contacts. They verify that both OSSD channels from a safety device agree before allowing machine operation. If the channels disagree (indicating a fault), the relay locks out and requires manual reset.</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What is OSSD?</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[INFO] OSSD — Output Signal Switching Device: Safety-rated devices use two independent output channels (OSSD1 and OSSD2). Both must be ON for the machine to run. This dual-channel design means a single component failure cannot defeat the safety function. Standard single-channel sensors cannot be used for safety-rated applications.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Lesson: Output Devices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Light towers, motors, drives, relays, solenoid valves, and VFDs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Light Tower (Stack Light)</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Stack lights indicate machine status: Green = running, Red = fault/stopped, Amber = warning/attention needed, Blue = operator call. Each color is driven by a separate PLC digital output.</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Servo Motors &amp; Drives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Servo motors provide precise position, speed, and torque control. The servo drive receives commands from the PLC (typically via EtherCAT or EtherNet/IP) and controls the motor accordingly. Used for CNC positioning, robotic joints, and precise material handling.</a:t>
            </a:r>
          </a:p>
          <a:p>
            <a:pPr lvl="0" algn="l">
              <a:lnSpc>
                <a:spcPct val="112000"/>
              </a:lnSpc>
            </a:pPr>
            <a:r>
              <a:rPr sz="1200" lang="en-US">
                <a:solidFill>
                  <a:srgbClr val="1E293B"/>
                </a:solidFill>
              </a:rPr>
              <a:t xml:space="preserve">[Figure] Servo drive (amplifier) — executes motion commands from the PLC over the fieldbus</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Stepper Motors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Stepper motors provide open-loop position control using discrete step pulses. Simpler and less expensive than servos but limited in torque and speed. Used for lower-precision positioning applications.</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Relays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Relays are electrically-operated switches that isolate PLC outputs from high-voltage or high-current loads. The PLC energizes the relay coil (24VDC), and the relay contacts switch the load circuit (which may be 120VAC, 240VAC, or higher).</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Solenoid Valves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Solenoid valves control pneumatic or hydraulic flow. The PLC digital output energizes the solenoid coil, which shifts a spool to direct air or fluid to cylinders, actuators, or clamps.</a:t>
            </a:r>
          </a:p>
          <a:p>
            <a:pPr lvl="0" algn="l">
              <a:lnSpc>
                <a:spcPct val="112000"/>
              </a:lnSpc>
            </a:pPr>
            <a:r>
              <a:rPr sz="1200" lang="en-US">
                <a:solidFill>
                  <a:srgbClr val="1E293B"/>
                </a:solidFill>
              </a:rPr>
              <a:t xml:space="preserve">Table: Type | Action | Application</a:t>
            </a:r>
          </a:p>
          <a:p>
            <a:pPr lvl="0" algn="l">
              <a:lnSpc>
                <a:spcPct val="112000"/>
              </a:lnSpc>
            </a:pPr>
            <a:r>
              <a:rPr sz="1200" lang="en-US">
                <a:solidFill>
                  <a:srgbClr val="1E293B"/>
                </a:solidFill>
              </a:rPr>
              <a:t xml:space="preserve">5/2 single-solenoid | Spring return — de-energize returns to home | Single-acting cylinders, simple extend/retract</a:t>
            </a:r>
          </a:p>
          <a:p>
            <a:pPr lvl="0" algn="l">
              <a:lnSpc>
                <a:spcPct val="112000"/>
              </a:lnSpc>
            </a:pPr>
            <a:r>
              <a:rPr sz="1200" lang="en-US">
                <a:solidFill>
                  <a:srgbClr val="1E293B"/>
                </a:solidFill>
              </a:rPr>
              <a:t xml:space="preserve">5/2 double-solenoid | Detented — stays in last position | Double-acting cylinders where position must hold on power loss</a:t>
            </a:r>
          </a:p>
          <a:p>
            <a:pPr lvl="0" algn="l">
              <a:lnSpc>
                <a:spcPct val="112000"/>
              </a:lnSpc>
            </a:pPr>
            <a:r>
              <a:rPr sz="1200" lang="en-US">
                <a:solidFill>
                  <a:srgbClr val="1E293B"/>
                </a:solidFill>
              </a:rPr>
              <a:t xml:space="preserve">5/3 center-closed | Center position blocks all ports | Holding position under load with no air flow</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Variable Frequency Drives (VFDs)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VFDs control AC motor speed by varying output frequency and voltage. Found on conveyors, pumps, fans, and mixers. Control methods:</a:t>
            </a:r>
          </a:p>
          <a:p>
            <a:pPr lvl="0" algn="l">
              <a:lnSpc>
                <a:spcPct val="112000"/>
              </a:lnSpc>
            </a:pPr>
            <a:r>
              <a:rPr sz="1200" lang="en-US">
                <a:solidFill>
                  <a:srgbClr val="1E293B"/>
                </a:solidFill>
              </a:rPr>
              <a:t xml:space="preserve">Hardwired: PLC digital output for run/stop, analog output (4–20mA) for speed reference</a:t>
            </a:r>
          </a:p>
          <a:p>
            <a:pPr lvl="0" algn="l">
              <a:lnSpc>
                <a:spcPct val="112000"/>
              </a:lnSpc>
            </a:pPr>
            <a:r>
              <a:rPr sz="1200" lang="en-US">
                <a:solidFill>
                  <a:srgbClr val="1E293B"/>
                </a:solidFill>
              </a:rPr>
              <a:t xml:space="preserve">Network: PLC sends commands and reads feedback over EtherNet/IP, EtherCAT, or Modbus — start/stop, speed setpoint, actual speed, current draw, and fault codes all in one connection</a:t>
            </a:r>
          </a:p>
          <a:p>
            <a:pPr lvl="0" algn="l">
              <a:lnSpc>
                <a:spcPct val="112000"/>
              </a:lnSpc>
            </a:pPr>
            <a:r>
              <a:rPr sz="1200" lang="en-US">
                <a:solidFill>
                  <a:srgbClr val="1E293B"/>
                </a:solidFill>
              </a:rPr>
              <a:t xml:space="preserve">[WARNING] VFD Safety Note: VFD DC bus capacitors retain dangerous voltage (up to 800VDC) after the drive is powered off. Wait for the DC bus voltage to decay to zero (check the drive display or measure with a meter) before working on VFD wiring.</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Motor Contactors &amp; Starters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For motors without VFDs, contactors switch motor power on/off. A motor starter = contactor + overload relay. The PLC energizes the contactor coil (usually through an interposing relay), and the overload relay's auxiliary contacts feed back to a PLC input for trip monitoring.</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Encoders</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36000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Encoders provide position and speed feedback. Incremental encoders output A/B pulses proportional to rotation (connect to PLC high-speed counter inputs). Absolute encoders output a unique position value even after power loss (connect via SSI, BiSS, or EtherCAT).</a:t>
            </a:r>
          </a:p>
        </p:txBody>
      </p:sp>
      <p:pic>
        <p:nvPicPr>
          <p:cNvPr id="4" name="Figure" descr=""/>
          <p:cNvPicPr>
            <a:picLocks noChangeAspect="1"/>
          </p:cNvPicPr>
          <p:nvPr/>
        </p:nvPicPr>
        <p:blipFill>
          <a:blip r:embed="rId2"/>
          <a:stretch>
            <a:fillRect/>
          </a:stretch>
        </p:blipFill>
        <p:spPr>
          <a:xfrm>
            <a:off x="4158800" y="1171780"/>
            <a:ext cx="4528000" cy="5400000"/>
          </a:xfrm>
          <a:prstGeom prst="rect">
            <a:avLst/>
          </a:prstGeom>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Lab: Input Device Activation</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After: Input Devices — Sensors &amp; Switches</a:t>
            </a:r>
          </a:p>
          <a:p>
            <a:pPr lvl="0" algn="l">
              <a:lnSpc>
                <a:spcPct val="112000"/>
              </a:lnSpc>
            </a:pPr>
            <a:r>
              <a:rPr sz="1200" lang="en-US">
                <a:solidFill>
                  <a:srgbClr val="1E293B"/>
                </a:solidFill>
              </a:rPr>
              <a:t xml:space="preserve">Duration: 10 min</a:t>
            </a:r>
          </a:p>
          <a:p>
            <a:pPr lvl="0" algn="l">
              <a:lnSpc>
                <a:spcPct val="112000"/>
              </a:lnSpc>
            </a:pPr>
            <a:r>
              <a:rPr sz="1200" lang="en-US">
                <a:solidFill>
                  <a:srgbClr val="1E293B"/>
                </a:solidFill>
              </a:rPr>
              <a:t xml:space="preserve">At the bench, activate each input device: trigger the proximity sensor with a metal target, actuate the limit switch, press push buttons.</a:t>
            </a:r>
          </a:p>
          <a:p>
            <a:pPr lvl="0" algn="l">
              <a:lnSpc>
                <a:spcPct val="112000"/>
              </a:lnSpc>
            </a:pPr>
            <a:r>
              <a:rPr sz="1200" lang="en-US">
                <a:solidFill>
                  <a:srgbClr val="1E293B"/>
                </a:solidFill>
              </a:rPr>
              <a:t xml:space="preserve">Each student activates each input device and observes both the device's own LED and the I/O module channel LED light up. First time seeing the full input signal chain.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Lab: Output Device Observation</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After: Output Devices</a:t>
            </a:r>
          </a:p>
          <a:p>
            <a:pPr lvl="0" algn="l">
              <a:lnSpc>
                <a:spcPct val="112000"/>
              </a:lnSpc>
            </a:pPr>
            <a:r>
              <a:rPr sz="1200" lang="en-US">
                <a:solidFill>
                  <a:srgbClr val="1E293B"/>
                </a:solidFill>
              </a:rPr>
              <a:t xml:space="preserve">Duration: 10 min</a:t>
            </a:r>
          </a:p>
          <a:p>
            <a:pPr lvl="0" algn="l">
              <a:lnSpc>
                <a:spcPct val="112000"/>
              </a:lnSpc>
            </a:pPr>
            <a:r>
              <a:rPr sz="1200" lang="en-US">
                <a:solidFill>
                  <a:srgbClr val="1E293B"/>
                </a:solidFill>
              </a:rPr>
              <a:t xml:space="preserve">Force outputs to energize the light tower (cycle colors), click the relay, and command a servo motor move. Point out I/O module output LEDs.</a:t>
            </a:r>
          </a:p>
          <a:p>
            <a:pPr lvl="0" algn="l">
              <a:lnSpc>
                <a:spcPct val="112000"/>
              </a:lnSpc>
            </a:pPr>
            <a:r>
              <a:rPr sz="1200" lang="en-US">
                <a:solidFill>
                  <a:srgbClr val="1E293B"/>
                </a:solidFill>
              </a:rPr>
              <a:t xml:space="preserve">Students observe outputs and match each physical action to its module LED. Listen for the relay click, watch the servo shaft move, see the light tower cycle.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Lab: Area Scanner OSSD Demo</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After: Safety Devices</a:t>
            </a:r>
          </a:p>
          <a:p>
            <a:pPr lvl="0" algn="l">
              <a:lnSpc>
                <a:spcPct val="112000"/>
              </a:lnSpc>
            </a:pPr>
            <a:r>
              <a:rPr sz="1200" lang="en-US">
                <a:solidFill>
                  <a:srgbClr val="1E293B"/>
                </a:solidFill>
              </a:rPr>
              <a:t xml:space="preserve">Duration: 10 min</a:t>
            </a:r>
          </a:p>
          <a:p>
            <a:pPr lvl="0" algn="l">
              <a:lnSpc>
                <a:spcPct val="112000"/>
              </a:lnSpc>
            </a:pPr>
            <a:r>
              <a:rPr sz="1200" lang="en-US">
                <a:solidFill>
                  <a:srgbClr val="1E293B"/>
                </a:solidFill>
              </a:rPr>
              <a:t xml:space="preserve">Show the OS32C area scanner. Have someone walk into the detection zone. Show the scanner LED change, OSSD drop, and downstream effect.</a:t>
            </a:r>
          </a:p>
          <a:p>
            <a:pPr lvl="0" algn="l">
              <a:lnSpc>
                <a:spcPct val="112000"/>
              </a:lnSpc>
            </a:pPr>
            <a:r>
              <a:rPr sz="1200" lang="en-US">
                <a:solidFill>
                  <a:srgbClr val="1E293B"/>
                </a:solidFill>
              </a:rPr>
              <a:t xml:space="preserve">Students observe the full safety chain: intrusion → scanner response → OSSD state change → device de-energization. Ask: 'What just stopped and why?'</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What are the three types of photoelectric sensors?</a:t>
            </a:r>
          </a:p>
          <a:p>
            <a:pPr lvl="0" algn="l">
              <a:lnSpc>
                <a:spcPct val="112000"/>
              </a:lnSpc>
            </a:pPr>
            <a:r>
              <a:rPr sz="1200" lang="en-US">
                <a:solidFill>
                  <a:srgbClr val="1E293B"/>
                </a:solidFill>
              </a:rPr>
              <a:t xml:space="preserve">Inductive, capacitive, ultrasonic | Through-beam, retroreflective, diffuse | NPN, PNP, relay output | Analog, digital, safety</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 proximity sensor has its LED lit but the PLC doesn't see the signal. The I/O module channel LED is also dark. What is the most likely cause?</a:t>
            </a:r>
          </a:p>
          <a:p>
            <a:pPr lvl="0" algn="l">
              <a:lnSpc>
                <a:spcPct val="112000"/>
              </a:lnSpc>
            </a:pPr>
            <a:r>
              <a:rPr sz="1200" lang="en-US">
                <a:solidFill>
                  <a:srgbClr val="1E293B"/>
                </a:solidFill>
              </a:rPr>
              <a:t xml:space="preserve">The sensor is broken | Bad wiring between the sensor and the I/O module | The PLC program has a bug | The HMI is misconfigured</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Why do safety devices use two OSSD channels instead of one?</a:t>
            </a:r>
          </a:p>
          <a:p>
            <a:pPr lvl="0" algn="l">
              <a:lnSpc>
                <a:spcPct val="112000"/>
              </a:lnSpc>
            </a:pPr>
            <a:r>
              <a:rPr sz="1200" lang="en-US">
                <a:solidFill>
                  <a:srgbClr val="1E293B"/>
                </a:solidFill>
              </a:rPr>
              <a:t xml:space="preserve">To double the signal strength | To provide redundancy — a single component failure cannot defeat the safety function | To allow two machines to share one sensor | To reduce wiring costs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A VFD has been powered off. Is it immediately safe to touch the wiring?</a:t>
            </a:r>
          </a:p>
          <a:p>
            <a:pPr lvl="0" algn="l">
              <a:lnSpc>
                <a:spcPct val="112000"/>
              </a:lnSpc>
            </a:pPr>
            <a:r>
              <a:rPr sz="1200" lang="en-US">
                <a:solidFill>
                  <a:srgbClr val="1E293B"/>
                </a:solidFill>
              </a:rPr>
              <a:t xml:space="preserve">Yes — power is off | No — DC bus capacitors can retain dangerous voltage | Only if you wait 30 seconds | Only if the motor has stopped spinning</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AccentBar"/>
          <p:cNvSpPr/>
          <p:nvPr/>
        </p:nvSpPr>
        <p:spPr>
          <a:xfrm>
            <a:off x="0" y="0"/>
            <a:ext cx="9144000" cy="50800"/>
          </a:xfrm>
          <a:prstGeom prst="rect">
            <a:avLst/>
          </a:prstGeom>
          <a:gradFill rotWithShape="0">
            <a:gsLst>
              <a:gs pos="0">
                <a:srgbClr val="1E3A5F"/>
              </a:gs>
              <a:gs pos="100000">
                <a:srgbClr val="E8A820"/>
              </a:gs>
            </a:gsLst>
            <a:lin ang="0" scaled="0" flip="none"/>
          </a:gradFill>
        </p:spPr>
        <p:txBody>
          <a:bodyPr/>
          <a:lstStyle/>
          <a:p/>
        </p:txBody>
      </p:sp>
      <p:sp>
        <p:nvSpPr>
          <p:cNvPr id="7" name="FooterStrip"/>
          <p:cNvSpPr/>
          <p:nvPr/>
        </p:nvSpPr>
        <p:spPr>
          <a:xfrm>
            <a:off x="0" y="6781800"/>
            <a:ext cx="9144000" cy="76200"/>
          </a:xfrm>
          <a:prstGeom prst="rect">
            <a:avLst/>
          </a:prstGeom>
          <a:solidFill>
            <a:srgbClr val="F1F5F9"/>
          </a:solidFill>
          <a:ln>
            <a:noFill/>
          </a:ln>
        </p:spPr>
        <p:txBody>
          <a:bodyPr/>
          <a:lstStyle/>
          <a:p/>
        </p:txBody>
      </p:sp>
      <p:sp>
        <p:nvSpPr>
          <p:cNvPr id="2" name="Title"/>
          <p:cNvSpPr>
            <a:spLocks noGrp="1"/>
          </p:cNvSpPr>
          <p:nvPr>
            <p:ph type="title"/>
          </p:nvPr>
        </p:nvSpPr>
        <p:spPr>
          <a:xfrm>
            <a:off x="457200" y="142240"/>
            <a:ext cx="8229600" cy="900000"/>
          </a:xfrm>
          <a:prstGeom prst="rect">
            <a:avLst/>
          </a:prstGeom>
        </p:spPr>
        <p:txBody>
          <a:bodyPr wrap="square" anchor="t" vert="horz"/>
          <a:lstStyle/>
          <a:p>
            <a:r>
              <a:rPr sz="2400" b="1" lang="en-US">
                <a:solidFill>
                  <a:srgbClr val="0F2440"/>
                </a:solidFill>
              </a:rPr>
              <a:t xml:space="preserve">Quiz</a:t>
            </a:r>
          </a:p>
        </p:txBody>
      </p:sp>
      <p:sp>
        <p:nvSpPr>
          <p:cNvPr id="6" name="HeadingUnderline"/>
          <p:cNvSpPr/>
          <p:nvPr/>
        </p:nvSpPr>
        <p:spPr>
          <a:xfrm>
            <a:off x="457200" y="1042240"/>
            <a:ext cx="8229600" cy="38100"/>
          </a:xfrm>
          <a:prstGeom prst="rect">
            <a:avLst/>
          </a:prstGeom>
          <a:solidFill>
            <a:srgbClr val="E8A820"/>
          </a:solidFill>
        </p:spPr>
        <p:txBody>
          <a:bodyPr/>
          <a:lstStyle/>
          <a:p/>
        </p:txBody>
      </p:sp>
      <p:sp>
        <p:nvSpPr>
          <p:cNvPr id="3" name="Content"/>
          <p:cNvSpPr>
            <a:spLocks noGrp="1"/>
          </p:cNvSpPr>
          <p:nvPr>
            <p:ph idx="1" type="body"/>
          </p:nvPr>
        </p:nvSpPr>
        <p:spPr>
          <a:xfrm>
            <a:off x="457200" y="1171780"/>
            <a:ext cx="8229600" cy="5564300"/>
          </a:xfrm>
          <a:prstGeom prst="rect">
            <a:avLst/>
          </a:prstGeom>
        </p:spPr>
        <p:txBody>
          <a:bodyPr wrap="square" anchor="t" vert="horz" lIns="91440" tIns="45720" rIns="91440" bIns="45720"/>
          <a:lstStyle>
            <a:lvl1pPr marL="457200" indent="-228600" algn="l">
              <a:buChar char="•"/>
              <a:defRPr sz="1200">
                <a:solidFill>
                  <a:srgbClr val="1E293B"/>
                </a:solidFill>
              </a:defRPr>
            </a:lvl1pPr>
          </a:lstStyle>
          <a:p>
            <a:pPr lvl="0" algn="l">
              <a:lnSpc>
                <a:spcPct val="112000"/>
              </a:lnSpc>
            </a:pPr>
            <a:r>
              <a:rPr sz="1200" lang="en-US">
                <a:solidFill>
                  <a:srgbClr val="1E293B"/>
                </a:solidFill>
              </a:rPr>
              <a:t xml:space="preserve">What controls the speed of an AC motor connected to a VFD?</a:t>
            </a:r>
          </a:p>
          <a:p>
            <a:pPr lvl="0" algn="l">
              <a:lnSpc>
                <a:spcPct val="112000"/>
              </a:lnSpc>
            </a:pPr>
            <a:r>
              <a:rPr sz="1200" lang="en-US">
                <a:solidFill>
                  <a:srgbClr val="1E293B"/>
                </a:solidFill>
              </a:rPr>
              <a:t xml:space="preserve">The PLC changes the motor's winding configuration | The VFD varies the output frequency and voltage to the motor | A mechanical gearbox inside the VFD | The power supply voltage is adjusted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Office">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Application>plc-training</Application>
  <Slides>30</Slides>
</Properties>
</file>

<file path=docProps/core.xml><?xml version="1.0" encoding="utf-8"?>
<cp:coreProperties xmlns:cp="http://schemas.openxmlformats.org/package/2006/metadata/core-properties" xmlns:dc="http://purl.org/dc/elements/1.1/">
  <dc:title>PLC Tabletop Training</dc:title>
  <dc:creator>plc-training export</dc:creator>
</cp:coreProperties>
</file>