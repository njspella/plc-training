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Lst>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11" Type="http://schemas.openxmlformats.org/officeDocument/2006/relationships/slide" Target="slides/slide1.xml"/>
<Relationship Id="rId12" Type="http://schemas.openxmlformats.org/officeDocument/2006/relationships/slide" Target="slides/slide2.xml"/>
<Relationship Id="rId13" Type="http://schemas.openxmlformats.org/officeDocument/2006/relationships/slide" Target="slides/slide3.xml"/>
<Relationship Id="rId14" Type="http://schemas.openxmlformats.org/officeDocument/2006/relationships/slide" Target="slides/slide4.xml"/>
<Relationship Id="rId15" Type="http://schemas.openxmlformats.org/officeDocument/2006/relationships/slide" Target="slides/slide5.xml"/>
<Relationship Id="rId16" Type="http://schemas.openxmlformats.org/officeDocument/2006/relationships/slide" Target="slides/slide6.xml"/>
<Relationship Id="rId17" Type="http://schemas.openxmlformats.org/officeDocument/2006/relationships/slide" Target="slides/slide7.xml"/>
<Relationship Id="rId18" Type="http://schemas.openxmlformats.org/officeDocument/2006/relationships/slide" Target="slides/slide8.xml"/>
<Relationship Id="rId19" Type="http://schemas.openxmlformats.org/officeDocument/2006/relationships/slide" Target="slides/slide9.xml"/>
<Relationship Id="rId20" Type="http://schemas.openxmlformats.org/officeDocument/2006/relationships/slide" Target="slides/slide10.xml"/>
<Relationship Id="rId21" Type="http://schemas.openxmlformats.org/officeDocument/2006/relationships/slide" Target="slides/slide11.xml"/>
<Relationship Id="rId22" Type="http://schemas.openxmlformats.org/officeDocument/2006/relationships/slide" Target="slides/slide12.xml"/>
<Relationship Id="rId23" Type="http://schemas.openxmlformats.org/officeDocument/2006/relationships/slide" Target="slides/slide13.xml"/>
<Relationship Id="rId24" Type="http://schemas.openxmlformats.org/officeDocument/2006/relationships/slide" Target="slides/slide14.xml"/>
<Relationship Id="rId25" Type="http://schemas.openxmlformats.org/officeDocument/2006/relationships/slide" Target="slides/slide15.xml"/>
<Relationship Id="rId26" Type="http://schemas.openxmlformats.org/officeDocument/2006/relationships/slide" Target="slides/slide16.xml"/>
<Relationship Id="rId27" Type="http://schemas.openxmlformats.org/officeDocument/2006/relationships/slide" Target="slides/slide17.xml"/>
<Relationship Id="rId28" Type="http://schemas.openxmlformats.org/officeDocument/2006/relationships/slide" Target="slides/slide18.xml"/>
<Relationship Id="rId29" Type="http://schemas.openxmlformats.org/officeDocument/2006/relationships/slide" Target="slides/slide19.xml"/>
<Relationship Id="rId30" Type="http://schemas.openxmlformats.org/officeDocument/2006/relationships/slide" Target="slides/slide20.xml"/>
<Relationship Id="rId31" Type="http://schemas.openxmlformats.org/officeDocument/2006/relationships/slide" Target="slides/slide21.xml"/>
<Relationship Id="rId32" Type="http://schemas.openxmlformats.org/officeDocument/2006/relationships/slide" Target="slides/slide22.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and Content">
    <p:spTree>
      <p:nvGrpSpPr>
        <p:cNvPr id="1" name=""/>
        <p:cNvGrpSpPr/>
        <p:nvPr/>
      </p:nvGrpSpPr>
      <p:grpSpPr/>
    </p:spTree>
  </p:cSld>
</p:sldLayout>
</file>

<file path=ppt/slideMasters/_rels/slideMaster1.xml.rels><?xml version="1.0"?><Relationships xmlns="http://schemas.openxmlformats.org/package/2006/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sldMaster>
</file>

<file path=ppt/slides/_rels/slide1.xml.rels><?xml version="1.0"?><Relationships xmlns="http://schemas.openxmlformats.org/package/2006/relationships">
<Relationship Id="rId1" Type="http://schemas.openxmlformats.org/officeDocument/2006/relationships/slideLayout" Target="../slideLayouts/slideLayout1.xml"/>
</Relationships>
</file>

<file path=ppt/slides/_rels/slide2.xml.rels><?xml version="1.0"?><Relationships xmlns="http://schemas.openxmlformats.org/package/2006/relationships">
<Relationship Id="rId1" Type="http://schemas.openxmlformats.org/officeDocument/2006/relationships/slideLayout" Target="../slideLayouts/slideLayout1.xml"/>
</Relationships>
</file>

<file path=ppt/slides/_rels/slide3.xml.rels><?xml version="1.0"?><Relationships xmlns="http://schemas.openxmlformats.org/package/2006/relationships">
<Relationship Id="rId1" Type="http://schemas.openxmlformats.org/officeDocument/2006/relationships/slideLayout" Target="../slideLayouts/slideLayout1.xml"/>
</Relationships>
</file>

<file path=ppt/slides/_rels/slide4.xml.rels><?xml version="1.0"?><Relationships xmlns="http://schemas.openxmlformats.org/package/2006/relationships">
<Relationship Id="rId1" Type="http://schemas.openxmlformats.org/officeDocument/2006/relationships/slideLayout" Target="../slideLayouts/slideLayout1.xml"/>
</Relationships>
</file>

<file path=ppt/slides/_rels/slide5.xml.rels><?xml version="1.0"?><Relationships xmlns="http://schemas.openxmlformats.org/package/2006/relationships">
<Relationship Id="rId1" Type="http://schemas.openxmlformats.org/officeDocument/2006/relationships/slideLayout" Target="../slideLayouts/slideLayout1.xml"/>
</Relationships>
</file>

<file path=ppt/slides/_rels/slide6.xml.rels><?xml version="1.0"?><Relationships xmlns="http://schemas.openxmlformats.org/package/2006/relationships">
<Relationship Id="rId1" Type="http://schemas.openxmlformats.org/officeDocument/2006/relationships/slideLayout" Target="../slideLayouts/slideLayout1.xml"/>
</Relationships>
</file>

<file path=ppt/slides/_rels/slide7.xml.rels><?xml version="1.0"?><Relationships xmlns="http://schemas.openxmlformats.org/package/2006/relationships">
<Relationship Id="rId1" Type="http://schemas.openxmlformats.org/officeDocument/2006/relationships/slideLayout" Target="../slideLayouts/slideLayout1.xml"/>
</Relationships>
</file>

<file path=ppt/slides/_rels/slide8.xml.rels><?xml version="1.0"?><Relationships xmlns="http://schemas.openxmlformats.org/package/2006/relationships">
<Relationship Id="rId1" Type="http://schemas.openxmlformats.org/officeDocument/2006/relationships/slideLayout" Target="../slideLayouts/slideLayout1.xml"/>
</Relationships>
</file>

<file path=ppt/slides/_rels/slide9.xml.rels><?xml version="1.0"?><Relationships xmlns="http://schemas.openxmlformats.org/package/2006/relationships">
<Relationship Id="rId1" Type="http://schemas.openxmlformats.org/officeDocument/2006/relationships/slideLayout" Target="../slideLayouts/slideLayout1.xml"/>
</Relationships>
</file>

<file path=ppt/slides/_rels/slide10.xml.rels><?xml version="1.0"?><Relationships xmlns="http://schemas.openxmlformats.org/package/2006/relationships">
<Relationship Id="rId1" Type="http://schemas.openxmlformats.org/officeDocument/2006/relationships/slideLayout" Target="../slideLayouts/slideLayout1.xml"/>
</Relationships>
</file>

<file path=ppt/slides/_rels/slide11.xml.rels><?xml version="1.0"?><Relationships xmlns="http://schemas.openxmlformats.org/package/2006/relationships">
<Relationship Id="rId1" Type="http://schemas.openxmlformats.org/officeDocument/2006/relationships/slideLayout" Target="../slideLayouts/slideLayout1.xml"/>
</Relationships>
</file>

<file path=ppt/slides/_rels/slide12.xml.rels><?xml version="1.0"?><Relationships xmlns="http://schemas.openxmlformats.org/package/2006/relationships">
<Relationship Id="rId1" Type="http://schemas.openxmlformats.org/officeDocument/2006/relationships/slideLayout" Target="../slideLayouts/slideLayout1.xml"/>
</Relationships>
</file>

<file path=ppt/slides/_rels/slide13.xml.rels><?xml version="1.0"?><Relationships xmlns="http://schemas.openxmlformats.org/package/2006/relationships">
<Relationship Id="rId1" Type="http://schemas.openxmlformats.org/officeDocument/2006/relationships/slideLayout" Target="../slideLayouts/slideLayout1.xml"/>
</Relationships>
</file>

<file path=ppt/slides/_rels/slide14.xml.rels><?xml version="1.0"?><Relationships xmlns="http://schemas.openxmlformats.org/package/2006/relationships">
<Relationship Id="rId1" Type="http://schemas.openxmlformats.org/officeDocument/2006/relationships/slideLayout" Target="../slideLayouts/slideLayout1.xml"/>
</Relationships>
</file>

<file path=ppt/slides/_rels/slide15.xml.rels><?xml version="1.0"?><Relationships xmlns="http://schemas.openxmlformats.org/package/2006/relationships">
<Relationship Id="rId1" Type="http://schemas.openxmlformats.org/officeDocument/2006/relationships/slideLayout" Target="../slideLayouts/slideLayout1.xml"/>
</Relationships>
</file>

<file path=ppt/slides/_rels/slide16.xml.rels><?xml version="1.0"?><Relationships xmlns="http://schemas.openxmlformats.org/package/2006/relationships">
<Relationship Id="rId1" Type="http://schemas.openxmlformats.org/officeDocument/2006/relationships/slideLayout" Target="../slideLayouts/slideLayout1.xml"/>
</Relationships>
</file>

<file path=ppt/slides/_rels/slide17.xml.rels><?xml version="1.0"?><Relationships xmlns="http://schemas.openxmlformats.org/package/2006/relationships">
<Relationship Id="rId1" Type="http://schemas.openxmlformats.org/officeDocument/2006/relationships/slideLayout" Target="../slideLayouts/slideLayout1.xml"/>
</Relationships>
</file>

<file path=ppt/slides/_rels/slide18.xml.rels><?xml version="1.0"?><Relationships xmlns="http://schemas.openxmlformats.org/package/2006/relationships">
<Relationship Id="rId1" Type="http://schemas.openxmlformats.org/officeDocument/2006/relationships/slideLayout" Target="../slideLayouts/slideLayout1.xml"/>
</Relationships>
</file>

<file path=ppt/slides/_rels/slide19.xml.rels><?xml version="1.0"?><Relationships xmlns="http://schemas.openxmlformats.org/package/2006/relationships">
<Relationship Id="rId1" Type="http://schemas.openxmlformats.org/officeDocument/2006/relationships/slideLayout" Target="../slideLayouts/slideLayout1.xml"/>
</Relationships>
</file>

<file path=ppt/slides/_rels/slide20.xml.rels><?xml version="1.0"?><Relationships xmlns="http://schemas.openxmlformats.org/package/2006/relationships">
<Relationship Id="rId1" Type="http://schemas.openxmlformats.org/officeDocument/2006/relationships/slideLayout" Target="../slideLayouts/slideLayout1.xml"/>
</Relationships>
</file>

<file path=ppt/slides/_rels/slide21.xml.rels><?xml version="1.0"?><Relationships xmlns="http://schemas.openxmlformats.org/package/2006/relationships">
<Relationship Id="rId1" Type="http://schemas.openxmlformats.org/officeDocument/2006/relationships/slideLayout" Target="../slideLayouts/slideLayout1.xml"/>
</Relationships>
</file>

<file path=ppt/slides/_rels/slide22.xml.rels><?xml version="1.0"?><Relationships xmlns="http://schemas.openxmlformats.org/package/2006/relationships">
<Relationship Id="rId1" Type="http://schemas.openxmlformats.org/officeDocument/2006/relationships/slideLayout" Target="../slideLayouts/slideLayout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Module 2: Safety &amp; Input/Output Devices</a:t>
            </a:r>
          </a:p>
        </p:txBody>
      </p:sp>
      <p:sp>
        <p:nvSpPr>
          <p:cNvPr id="3" name="Content"/>
          <p:cNvSpPr>
            <a:spLocks noGrp="1"/>
          </p:cNvSpPr>
          <p:nvPr>
            <p:ph idx="1" type="body"/>
          </p:nvPr>
        </p:nvSpPr>
        <p:spPr/>
        <p:txBody>
          <a:bodyPr/>
          <a:lstStyle/>
          <a:p>
            <a:r>
              <a:rPr sz="1400"/>
              <a:t>PLC Tabletop Training Program · Lecture + Lab · 2.5 h</a:t>
            </a:r>
          </a:p>
          <a:p>
            <a:r>
              <a:rPr sz="1400"/>
              <a:t>v1.0 (April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Learning objectives</a:t>
            </a:r>
          </a:p>
        </p:txBody>
      </p:sp>
      <p:sp>
        <p:nvSpPr>
          <p:cNvPr id="3" name="Content"/>
          <p:cNvSpPr>
            <a:spLocks noGrp="1"/>
          </p:cNvSpPr>
          <p:nvPr>
            <p:ph idx="1" type="body"/>
          </p:nvPr>
        </p:nvSpPr>
        <p:spPr/>
        <p:txBody>
          <a:bodyPr/>
          <a:lstStyle/>
          <a:p>
            <a:r>
              <a:rPr sz="1400"/>
              <a:t>Identify the main input device types and describe the signal each sends to the PLC</a:t>
            </a:r>
          </a:p>
          <a:p>
            <a:r>
              <a:rPr sz="1400"/>
              <a:t>Identify the main output device types and describe how the PLC drives each</a:t>
            </a:r>
          </a:p>
          <a:p>
            <a:r>
              <a:rPr sz="1400"/>
              <a:t>Understand the difference between standard I/O and safety I/O (dual-channel, OSSD)</a:t>
            </a:r>
          </a:p>
          <a:p>
            <a:r>
              <a:rPr sz="1400"/>
              <a:t>Recognize additional field devices: photoelectric sensors, encoders, solenoid valves, VFDs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Overview</a:t>
            </a:r>
          </a:p>
        </p:txBody>
      </p:sp>
      <p:sp>
        <p:nvSpPr>
          <p:cNvPr id="3" name="Content"/>
          <p:cNvSpPr>
            <a:spLocks noGrp="1"/>
          </p:cNvSpPr>
          <p:nvPr>
            <p:ph idx="1" type="body"/>
          </p:nvPr>
        </p:nvSpPr>
        <p:spPr/>
        <p:txBody>
          <a:bodyPr/>
          <a:lstStyle/>
          <a:p>
            <a:r>
              <a:rPr sz="1400"/>
              <a:t>Input devices (sensors, switches, safety devices) and output devices (motors, relays, valves) — how they work and how they connect to the PLC.</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Lesson: Input Devices — Sensors &amp; Switches</a:t>
            </a:r>
          </a:p>
        </p:txBody>
      </p:sp>
      <p:sp>
        <p:nvSpPr>
          <p:cNvPr id="3" name="Content"/>
          <p:cNvSpPr>
            <a:spLocks noGrp="1"/>
          </p:cNvSpPr>
          <p:nvPr>
            <p:ph idx="1" type="body"/>
          </p:nvPr>
        </p:nvSpPr>
        <p:spPr/>
        <p:txBody>
          <a:bodyPr/>
          <a:lstStyle/>
          <a:p>
            <a:r>
              <a:rPr sz="1400"/>
              <a:t>Proximity sensors, limit switches, photoelectric sensors, push buttons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Input Devices — Sensors &amp; Switches (content)</a:t>
            </a:r>
          </a:p>
        </p:txBody>
      </p:sp>
      <p:sp>
        <p:nvSpPr>
          <p:cNvPr id="3" name="Content"/>
          <p:cNvSpPr>
            <a:spLocks noGrp="1"/>
          </p:cNvSpPr>
          <p:nvPr>
            <p:ph idx="1" type="body"/>
          </p:nvPr>
        </p:nvSpPr>
        <p:spPr/>
        <p:txBody>
          <a:bodyPr/>
          <a:lstStyle/>
          <a:p>
            <a:r>
              <a:rPr sz="1400"/>
              <a:t>→ Proximity Sensors</a:t>
            </a:r>
          </a:p>
          <a:p>
            <a:r>
              <a:rPr sz="1400"/>
              <a:t>[Figure] Inductive proximity sensor — detects metal without contact</a:t>
            </a:r>
          </a:p>
          <a:p>
            <a:r>
              <a:rPr sz="1400"/>
              <a:t>An inductive proximity sensor detects metal objects without physical contact. It sends a 24VDC signal to the PLC digital input when a metal target enters its sensing range. Available in NPN (sinking) and PNP (sourcing) output types.</a:t>
            </a:r>
          </a:p>
          <a:p>
            <a:r>
              <a:rPr sz="1400"/>
              <a:t>→ Limit Switches</a:t>
            </a:r>
          </a:p>
          <a:p>
            <a:r>
              <a:rPr sz="1400"/>
              <a:t>A limit switch is a mechanical contact sensor that triggers when an actuator (lever, roller, plunger) reaches its end-of-travel position. Provides either Normally Open (N/O) or Normally Closed (N/C) dry contacts.</a:t>
            </a:r>
          </a:p>
          <a:p>
            <a:r>
              <a:rPr sz="1400"/>
              <a:t>[Figure] Roller-lever limit / microswitch — typical end-of-travel sensing</a:t>
            </a:r>
          </a:p>
          <a:p>
            <a:r>
              <a:rPr sz="1400"/>
              <a:t>→ Photoelectric Sensors</a:t>
            </a:r>
          </a:p>
          <a:p>
            <a:r>
              <a:rPr sz="1400"/>
              <a:t>Photoelectric sensors use light beams for detection. Three main types are used in manufacturing:</a:t>
            </a:r>
          </a:p>
          <a:p>
            <a:r>
              <a:rPr sz="1400"/>
              <a:t>Table: Type | Configuration | Range | Best For</a:t>
            </a:r>
          </a:p>
          <a:p>
            <a:r>
              <a:rPr sz="1400"/>
              <a:t>  • Through-beam | Separate emitter + receiver | Longest (up to 30m) | Part counting, conveyor jam detection — most reliable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Input Devices — Sensors &amp; Switches (content)</a:t>
            </a:r>
          </a:p>
        </p:txBody>
      </p:sp>
      <p:sp>
        <p:nvSpPr>
          <p:cNvPr id="3" name="Content"/>
          <p:cNvSpPr>
            <a:spLocks noGrp="1"/>
          </p:cNvSpPr>
          <p:nvPr>
            <p:ph idx="1" type="body"/>
          </p:nvPr>
        </p:nvSpPr>
        <p:spPr/>
        <p:txBody>
          <a:bodyPr/>
          <a:lstStyle/>
          <a:p>
            <a:r>
              <a:rPr sz="1400"/>
              <a:t>  • Retroreflective | Emitter/receiver in one housing + reflector | Medium (up to 10m) | Presence detection where mounting space is limited on one side</a:t>
            </a:r>
          </a:p>
          <a:p>
            <a:r>
              <a:rPr sz="1400"/>
              <a:t>  • Diffuse | Emitter/receiver in one housing, detects object directly | Short (up to 1m) | Close-range part detection, color/contrast sensing</a:t>
            </a:r>
          </a:p>
          <a:p>
            <a:r>
              <a:rPr sz="1400"/>
              <a:t>[Figure] Photoelectric sensor — through-beam, retroreflective, and diffuse types use similar hardware</a:t>
            </a:r>
          </a:p>
          <a:p>
            <a:r>
              <a:rPr sz="1400"/>
              <a:t>[TIP] Maintenance Tip: Dirty lenses are the #1 cause of photoelectric sensor failures. Regular cleaning with a lint-free cloth can prevent most false triggers and missed detections.</a:t>
            </a:r>
          </a:p>
          <a:p>
            <a:r>
              <a:rPr sz="1400"/>
              <a:t>→ Push Buttons</a:t>
            </a:r>
          </a:p>
          <a:p>
            <a:r>
              <a:rPr sz="1400"/>
              <a:t>[Figure] Operator panel with pushbuttons — typical start/stop and mode selection</a:t>
            </a:r>
          </a:p>
          <a:p>
            <a:r>
              <a:rPr sz="1400"/>
              <a:t>Push buttons provide operator input to the PLC. Can be N/O (closes when pressed) or N/C (opens when pressed), momentary (spring-return) or maintained (latching). E-stop buttons are always N/C — they open the safety circuit when pressed and must be physically reset.</a:t>
            </a:r>
          </a:p>
          <a:p>
            <a:r>
              <a:rPr sz="1400"/>
              <a:t>[Figure] Emergency stop — wired as normally closed (N/C) in the safety circuit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Lesson: Safety Devices</a:t>
            </a:r>
          </a:p>
        </p:txBody>
      </p:sp>
      <p:sp>
        <p:nvSpPr>
          <p:cNvPr id="3" name="Content"/>
          <p:cNvSpPr>
            <a:spLocks noGrp="1"/>
          </p:cNvSpPr>
          <p:nvPr>
            <p:ph idx="1" type="body"/>
          </p:nvPr>
        </p:nvSpPr>
        <p:spPr/>
        <p:txBody>
          <a:bodyPr/>
          <a:lstStyle/>
          <a:p>
            <a:r>
              <a:rPr sz="1400"/>
              <a:t>Area scanners, light curtains, safety relays, and OSSD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Safety Devices (content)</a:t>
            </a:r>
          </a:p>
        </p:txBody>
      </p:sp>
      <p:sp>
        <p:nvSpPr>
          <p:cNvPr id="3" name="Content"/>
          <p:cNvSpPr>
            <a:spLocks noGrp="1"/>
          </p:cNvSpPr>
          <p:nvPr>
            <p:ph idx="1" type="body"/>
          </p:nvPr>
        </p:nvSpPr>
        <p:spPr/>
        <p:txBody>
          <a:bodyPr/>
          <a:lstStyle/>
          <a:p>
            <a:r>
              <a:rPr sz="1400"/>
              <a:t>→ Area Scanners</a:t>
            </a:r>
          </a:p>
          <a:p>
            <a:r>
              <a:rPr sz="1400"/>
              <a:t>[Figure] 3D laser scanning for obstacle detection (example: level-crossing system — illustrates zone scanning, not a specific OS32C model)</a:t>
            </a:r>
          </a:p>
          <a:p>
            <a:r>
              <a:rPr sz="1400"/>
              <a:t>An area scanner uses a rotating laser to scan a defined area of space. If it detects a person or obstruction within its configured safety zone, it sends a signal to the PLC to stop or de-energize connected equipment.</a:t>
            </a:r>
          </a:p>
          <a:p>
            <a:r>
              <a:rPr sz="1400"/>
              <a:t>• Configurable warning and protective fields</a:t>
            </a:r>
          </a:p>
          <a:p>
            <a:r>
              <a:rPr sz="1400"/>
              <a:t>• OSSD (Output Signal Switching Device) safety outputs to PLC</a:t>
            </a:r>
          </a:p>
          <a:p>
            <a:r>
              <a:rPr sz="1400"/>
              <a:t>• Common brands: SICK S300/S3000, Omron OS32C</a:t>
            </a:r>
          </a:p>
          <a:p>
            <a:r>
              <a:rPr sz="1400"/>
              <a:t>• Programmed via USB using manufacturer software</a:t>
            </a:r>
          </a:p>
          <a:p>
            <a:r>
              <a:rPr sz="1400"/>
              <a:t>→ Light Curtains</a:t>
            </a:r>
          </a:p>
          <a:p>
            <a:r>
              <a:rPr sz="1400"/>
              <a:t>A light curtain is an infrared safety barrier consisting of an emitter and receiver pair. If any beam is broken (e.g., a hand reaches through), the OSSD outputs drop and the machine stops. Used to guard press brakes, palletizers, and robotic cells.</a:t>
            </a:r>
          </a:p>
          <a:p>
            <a:r>
              <a:rPr sz="1400"/>
              <a:t>[Figure] Light curtain concept — interrupted beams drop OSSD outputs (diagram)</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Safety Devices (content)</a:t>
            </a:r>
          </a:p>
        </p:txBody>
      </p:sp>
      <p:sp>
        <p:nvSpPr>
          <p:cNvPr id="3" name="Content"/>
          <p:cNvSpPr>
            <a:spLocks noGrp="1"/>
          </p:cNvSpPr>
          <p:nvPr>
            <p:ph idx="1" type="body"/>
          </p:nvPr>
        </p:nvSpPr>
        <p:spPr/>
        <p:txBody>
          <a:bodyPr/>
          <a:lstStyle/>
          <a:p>
            <a:r>
              <a:rPr sz="1400"/>
              <a:t>→ Safety Relays</a:t>
            </a:r>
          </a:p>
          <a:p>
            <a:r>
              <a:rPr sz="1400"/>
              <a:t>[Figure] DIN-rail power switching device — safety relays are often similar rail-mounted modules with dual-channel inputs</a:t>
            </a:r>
          </a:p>
          <a:p>
            <a:r>
              <a:rPr sz="1400"/>
              <a:t>Safety relays monitor safety circuits using dual-channel inputs with forced-guided contacts. They verify that both OSSD channels from a safety device agree before allowing machine operation. If the channels disagree (indicating a fault), the relay locks out and requires manual reset.</a:t>
            </a:r>
          </a:p>
          <a:p>
            <a:r>
              <a:rPr sz="1400"/>
              <a:t>→ What is OSSD?</a:t>
            </a:r>
          </a:p>
          <a:p>
            <a:r>
              <a:rPr sz="1400"/>
              <a:t>[INFO] OSSD — Output Signal Switching Device: Safety-rated devices use two independent output channels (OSSD1 and OSSD2). Both must be ON for the machine to run. This dual-channel design means a single component failure cannot defeat the safety function. Standard single-channel sensors cannot be used for safety-rated applications.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Lesson: Output Devices</a:t>
            </a:r>
          </a:p>
        </p:txBody>
      </p:sp>
      <p:sp>
        <p:nvSpPr>
          <p:cNvPr id="3" name="Content"/>
          <p:cNvSpPr>
            <a:spLocks noGrp="1"/>
          </p:cNvSpPr>
          <p:nvPr>
            <p:ph idx="1" type="body"/>
          </p:nvPr>
        </p:nvSpPr>
        <p:spPr/>
        <p:txBody>
          <a:bodyPr/>
          <a:lstStyle/>
          <a:p>
            <a:r>
              <a:rPr sz="1400"/>
              <a:t>Light towers, motors, drives, relays, solenoid valves, and VFDs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Output Devices (content)</a:t>
            </a:r>
          </a:p>
        </p:txBody>
      </p:sp>
      <p:sp>
        <p:nvSpPr>
          <p:cNvPr id="3" name="Content"/>
          <p:cNvSpPr>
            <a:spLocks noGrp="1"/>
          </p:cNvSpPr>
          <p:nvPr>
            <p:ph idx="1" type="body"/>
          </p:nvPr>
        </p:nvSpPr>
        <p:spPr/>
        <p:txBody>
          <a:bodyPr/>
          <a:lstStyle/>
          <a:p>
            <a:r>
              <a:rPr sz="1400"/>
              <a:t>→ Light Tower (Stack Light)</a:t>
            </a:r>
          </a:p>
          <a:p>
            <a:r>
              <a:rPr sz="1400"/>
              <a:t>[Figure] Stack (tower) light — each color segment is typically a separate PLC output</a:t>
            </a:r>
          </a:p>
          <a:p>
            <a:r>
              <a:rPr sz="1400"/>
              <a:t>Stack lights indicate machine status: Green = running, Red = fault/stopped, Amber = warning/attention needed, Blue = operator call. Each color is driven by a separate PLC digital output.</a:t>
            </a:r>
          </a:p>
          <a:p>
            <a:r>
              <a:rPr sz="1400"/>
              <a:t>→ Servo Motors &amp; Drives</a:t>
            </a:r>
          </a:p>
          <a:p>
            <a:r>
              <a:rPr sz="1400"/>
              <a:t>[Figure] Servomotor — closed-loop position, speed, and torque control with feedback</a:t>
            </a:r>
          </a:p>
          <a:p>
            <a:r>
              <a:rPr sz="1400"/>
              <a:t>Servo motors provide precise position, speed, and torque control. The servo drive receives commands from the PLC (typically via EtherCAT or EtherNet/IP) and controls the motor accordingly. Used for CNC positioning, robotic joints, and precise material handling.</a:t>
            </a:r>
          </a:p>
          <a:p>
            <a:r>
              <a:rPr sz="1400"/>
              <a:t>[Figure] Servo drive (amplifier) — executes motion commands from the PLC over the fieldbus</a:t>
            </a:r>
          </a:p>
          <a:p>
            <a:r>
              <a:rPr sz="1400"/>
              <a:t>→ Stepper Motors</a:t>
            </a:r>
          </a:p>
          <a:p>
            <a:r>
              <a:rPr sz="1400"/>
              <a:t>Stepper motors provide open-loop position control using discrete step pulses. Simpler and less expensive than servos but limited in torque and speed. Used for lower-precision positioning applications.</a:t>
            </a:r>
          </a:p>
          <a:p>
            <a:r>
              <a:rPr sz="1400"/>
              <a:t>[Figure] Stepper motor — moved in discrete steps under pulse command from the PLC or indexer</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Output Devices (content)</a:t>
            </a:r>
          </a:p>
        </p:txBody>
      </p:sp>
      <p:sp>
        <p:nvSpPr>
          <p:cNvPr id="3" name="Content"/>
          <p:cNvSpPr>
            <a:spLocks noGrp="1"/>
          </p:cNvSpPr>
          <p:nvPr>
            <p:ph idx="1" type="body"/>
          </p:nvPr>
        </p:nvSpPr>
        <p:spPr/>
        <p:txBody>
          <a:bodyPr/>
          <a:lstStyle/>
          <a:p>
            <a:r>
              <a:rPr sz="1400"/>
              <a:t>→ Relays</a:t>
            </a:r>
          </a:p>
          <a:p>
            <a:r>
              <a:rPr sz="1400"/>
              <a:t>Relays are electrically-operated switches that isolate PLC outputs from high-voltage or high-current loads. The PLC energizes the relay coil (24VDC), and the relay contacts switch the load circuit (which may be 120VAC, 240VAC, or higher).</a:t>
            </a:r>
          </a:p>
          <a:p>
            <a:r>
              <a:rPr sz="1400"/>
              <a:t>[Figure] Contactor on DIN rail — common style of relay/contactor switched by a PLC output</a:t>
            </a:r>
          </a:p>
          <a:p>
            <a:r>
              <a:rPr sz="1400"/>
              <a:t>→ Solenoid Valves</a:t>
            </a:r>
          </a:p>
          <a:p>
            <a:r>
              <a:rPr sz="1400"/>
              <a:t>Solenoid valves control pneumatic or hydraulic flow. The PLC digital output energizes the solenoid coil, which shifts a spool to direct air or fluid to cylinders, actuators, or clamps.</a:t>
            </a:r>
          </a:p>
          <a:p>
            <a:r>
              <a:rPr sz="1400"/>
              <a:t>[Figure] Solenoid coil (example: 24 V DC) — PLC output energizes the coil to shift the valve spool</a:t>
            </a:r>
          </a:p>
          <a:p>
            <a:r>
              <a:rPr sz="1400"/>
              <a:t>Table: Type | Action | Application</a:t>
            </a:r>
          </a:p>
          <a:p>
            <a:r>
              <a:rPr sz="1400"/>
              <a:t>  • 5/2 single-solenoid | Spring return — de-energize returns to home | Single-acting cylinders, simple extend/retract</a:t>
            </a:r>
          </a:p>
          <a:p>
            <a:r>
              <a:rPr sz="1400"/>
              <a:t>  • 5/2 double-solenoid | Detented — stays in last position | Double-acting cylinders where position must hold on power loss</a:t>
            </a:r>
          </a:p>
          <a:p>
            <a:r>
              <a:rPr sz="1400"/>
              <a:t>  • 5/3 center-closed | Center position blocks all ports | Holding position under load with no air flow</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Output Devices (content)</a:t>
            </a:r>
          </a:p>
        </p:txBody>
      </p:sp>
      <p:sp>
        <p:nvSpPr>
          <p:cNvPr id="3" name="Content"/>
          <p:cNvSpPr>
            <a:spLocks noGrp="1"/>
          </p:cNvSpPr>
          <p:nvPr>
            <p:ph idx="1" type="body"/>
          </p:nvPr>
        </p:nvSpPr>
        <p:spPr/>
        <p:txBody>
          <a:bodyPr/>
          <a:lstStyle/>
          <a:p>
            <a:r>
              <a:rPr sz="1400"/>
              <a:t>→ Variable Frequency Drives (VFDs)</a:t>
            </a:r>
          </a:p>
          <a:p>
            <a:r>
              <a:rPr sz="1400"/>
              <a:t>VFDs control AC motor speed by varying output frequency and voltage. Found on conveyors, pumps, fans, and mixers. Control methods:</a:t>
            </a:r>
          </a:p>
          <a:p>
            <a:r>
              <a:rPr sz="1400"/>
              <a:t>• Hardwired: PLC digital output for run/stop, analog output (4–20mA) for speed reference</a:t>
            </a:r>
          </a:p>
          <a:p>
            <a:r>
              <a:rPr sz="1400"/>
              <a:t>• Network: PLC sends commands and reads feedback over EtherNet/IP, EtherCAT, or Modbus — start/stop, speed setpoint, actual speed, current draw, and fault codes all in one connection</a:t>
            </a:r>
          </a:p>
          <a:p>
            <a:r>
              <a:rPr sz="1400"/>
              <a:t>[Figure] Variable-frequency drive — varies output frequency and voltage to the motor</a:t>
            </a:r>
          </a:p>
          <a:p>
            <a:r>
              <a:rPr sz="1400"/>
              <a:t>[WARNING] VFD Safety Note: VFD DC bus capacitors retain dangerous voltage (up to 800VDC) after the drive is powered off. Wait for the DC bus voltage to decay to zero (check the drive display or measure with a meter) before working on VFD wiring.</a:t>
            </a:r>
          </a:p>
          <a:p>
            <a:r>
              <a:rPr sz="1400"/>
              <a:t>→ Motor Contactors &amp; Starters</a:t>
            </a:r>
          </a:p>
          <a:p>
            <a:r>
              <a:rPr sz="1400"/>
              <a:t>For motors without VFDs, contactors switch motor power on/off. A motor starter = contactor + overload relay. The PLC energizes the contactor coil (usually through an interposing relay), and the overload relay's auxiliary contacts feed back to a PLC input for trip monitoring.</a:t>
            </a:r>
          </a:p>
          <a:p>
            <a:r>
              <a:rPr sz="1400"/>
              <a:t>[Figure] DOL (direct-on-line) motor starter — contactor, overload, and control in one assembly (example)</a:t>
            </a:r>
          </a:p>
          <a:p>
            <a:r>
              <a:rPr sz="1400"/>
              <a:t>→ Encoders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Output Devices (content)</a:t>
            </a:r>
          </a:p>
        </p:txBody>
      </p:sp>
      <p:sp>
        <p:nvSpPr>
          <p:cNvPr id="3" name="Content"/>
          <p:cNvSpPr>
            <a:spLocks noGrp="1"/>
          </p:cNvSpPr>
          <p:nvPr>
            <p:ph idx="1" type="body"/>
          </p:nvPr>
        </p:nvSpPr>
        <p:spPr/>
        <p:txBody>
          <a:bodyPr/>
          <a:lstStyle/>
          <a:p>
            <a:r>
              <a:rPr sz="1400"/>
              <a:t>Encoders provide position and speed feedback. Incremental encoders output A/B pulses proportional to rotation (connect to PLC high-speed counter inputs). Absolute encoders output a unique position value even after power loss (connect via SSI, BiSS, or EtherCAT).</a:t>
            </a:r>
          </a:p>
          <a:p>
            <a:r>
              <a:rPr sz="1400"/>
              <a:t>[Figure] Incremental rotary encoder — shaft rotation produces A/B quadrature pulses for position and speed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Lab: Input Device Activation</a:t>
            </a:r>
          </a:p>
        </p:txBody>
      </p:sp>
      <p:sp>
        <p:nvSpPr>
          <p:cNvPr id="3" name="Content"/>
          <p:cNvSpPr>
            <a:spLocks noGrp="1"/>
          </p:cNvSpPr>
          <p:nvPr>
            <p:ph idx="1" type="body"/>
          </p:nvPr>
        </p:nvSpPr>
        <p:spPr/>
        <p:txBody>
          <a:bodyPr/>
          <a:lstStyle/>
          <a:p>
            <a:r>
              <a:rPr sz="1400"/>
              <a:t>After: Input Devices — Sensors &amp; Switches</a:t>
            </a:r>
          </a:p>
          <a:p>
            <a:r>
              <a:rPr sz="1400"/>
              <a:t>Duration: 10 min</a:t>
            </a:r>
          </a:p>
          <a:p>
            <a:r>
              <a:rPr sz="1400"/>
              <a:t>At the bench, activate each input device: trigger the proximity sensor with a metal target, actuate the limit switch, press push buttons.</a:t>
            </a:r>
          </a:p>
          <a:p>
            <a:r>
              <a:rPr sz="1400"/>
              <a:t>Each student activates each input device and observes both the device's own LED and the I/O module channel LED light up. First time seeing the full input signal chain.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Lab: Output Device Observation</a:t>
            </a:r>
          </a:p>
        </p:txBody>
      </p:sp>
      <p:sp>
        <p:nvSpPr>
          <p:cNvPr id="3" name="Content"/>
          <p:cNvSpPr>
            <a:spLocks noGrp="1"/>
          </p:cNvSpPr>
          <p:nvPr>
            <p:ph idx="1" type="body"/>
          </p:nvPr>
        </p:nvSpPr>
        <p:spPr/>
        <p:txBody>
          <a:bodyPr/>
          <a:lstStyle/>
          <a:p>
            <a:r>
              <a:rPr sz="1400"/>
              <a:t>After: Output Devices</a:t>
            </a:r>
          </a:p>
          <a:p>
            <a:r>
              <a:rPr sz="1400"/>
              <a:t>Duration: 10 min</a:t>
            </a:r>
          </a:p>
          <a:p>
            <a:r>
              <a:rPr sz="1400"/>
              <a:t>Force outputs to energize the light tower (cycle colors), click the relay, and command a servo motor move. Point out I/O module output LEDs.</a:t>
            </a:r>
          </a:p>
          <a:p>
            <a:r>
              <a:rPr sz="1400"/>
              <a:t>Students observe outputs and match each physical action to its module LED. Listen for the relay click, watch the servo shaft move, see the light tower cycle.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Lab: Area Scanner OSSD Demo</a:t>
            </a:r>
          </a:p>
        </p:txBody>
      </p:sp>
      <p:sp>
        <p:nvSpPr>
          <p:cNvPr id="3" name="Content"/>
          <p:cNvSpPr>
            <a:spLocks noGrp="1"/>
          </p:cNvSpPr>
          <p:nvPr>
            <p:ph idx="1" type="body"/>
          </p:nvPr>
        </p:nvSpPr>
        <p:spPr/>
        <p:txBody>
          <a:bodyPr/>
          <a:lstStyle/>
          <a:p>
            <a:r>
              <a:rPr sz="1400"/>
              <a:t>After: Safety Devices</a:t>
            </a:r>
          </a:p>
          <a:p>
            <a:r>
              <a:rPr sz="1400"/>
              <a:t>Duration: 10 min</a:t>
            </a:r>
          </a:p>
          <a:p>
            <a:r>
              <a:rPr sz="1400"/>
              <a:t>Show the OS32C area scanner. Have someone walk into the detection zone. Show the scanner LED change, OSSD drop, and downstream effect.</a:t>
            </a:r>
          </a:p>
          <a:p>
            <a:r>
              <a:rPr sz="1400"/>
              <a:t>Students observe the full safety chain: intrusion → scanner response → OSSD state change → device de-energization. Ask: 'What just stopped and why?'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Quiz</a:t>
            </a:r>
          </a:p>
        </p:txBody>
      </p:sp>
      <p:sp>
        <p:nvSpPr>
          <p:cNvPr id="3" name="Content"/>
          <p:cNvSpPr>
            <a:spLocks noGrp="1"/>
          </p:cNvSpPr>
          <p:nvPr>
            <p:ph idx="1" type="body"/>
          </p:nvPr>
        </p:nvSpPr>
        <p:spPr/>
        <p:txBody>
          <a:bodyPr/>
          <a:lstStyle/>
          <a:p>
            <a:r>
              <a:rPr sz="1400"/>
              <a:t>What are the three types of photoelectric sensors?</a:t>
            </a:r>
          </a:p>
          <a:p>
            <a:r>
              <a:rPr sz="1400"/>
              <a:t>Inductive, capacitive, ultrasonic | Through-beam, retroreflective, diffuse | NPN, PNP, relay output | Analog, digital, safety</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Quiz</a:t>
            </a:r>
          </a:p>
        </p:txBody>
      </p:sp>
      <p:sp>
        <p:nvSpPr>
          <p:cNvPr id="3" name="Content"/>
          <p:cNvSpPr>
            <a:spLocks noGrp="1"/>
          </p:cNvSpPr>
          <p:nvPr>
            <p:ph idx="1" type="body"/>
          </p:nvPr>
        </p:nvSpPr>
        <p:spPr/>
        <p:txBody>
          <a:bodyPr/>
          <a:lstStyle/>
          <a:p>
            <a:r>
              <a:rPr sz="1400"/>
              <a:t>A proximity sensor has its LED lit but the PLC doesn't see the signal. The I/O module channel LED is also dark. What is the most likely cause?</a:t>
            </a:r>
          </a:p>
          <a:p>
            <a:r>
              <a:rPr sz="1400"/>
              <a:t>The sensor is broken | Bad wiring between the sensor and the I/O module | The PLC program has a bug | The HMI is misconfigured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Quiz</a:t>
            </a:r>
          </a:p>
        </p:txBody>
      </p:sp>
      <p:sp>
        <p:nvSpPr>
          <p:cNvPr id="3" name="Content"/>
          <p:cNvSpPr>
            <a:spLocks noGrp="1"/>
          </p:cNvSpPr>
          <p:nvPr>
            <p:ph idx="1" type="body"/>
          </p:nvPr>
        </p:nvSpPr>
        <p:spPr/>
        <p:txBody>
          <a:bodyPr/>
          <a:lstStyle/>
          <a:p>
            <a:r>
              <a:rPr sz="1400"/>
              <a:t>Why do safety devices use two OSSD channels instead of one?</a:t>
            </a:r>
          </a:p>
          <a:p>
            <a:r>
              <a:rPr sz="1400"/>
              <a:t>To double the signal strength | To provide redundancy — a single component failure cannot defeat the safety function | To allow two machines to share one sensor | To reduce wiring costs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Quiz</a:t>
            </a:r>
          </a:p>
        </p:txBody>
      </p:sp>
      <p:sp>
        <p:nvSpPr>
          <p:cNvPr id="3" name="Content"/>
          <p:cNvSpPr>
            <a:spLocks noGrp="1"/>
          </p:cNvSpPr>
          <p:nvPr>
            <p:ph idx="1" type="body"/>
          </p:nvPr>
        </p:nvSpPr>
        <p:spPr/>
        <p:txBody>
          <a:bodyPr/>
          <a:lstStyle/>
          <a:p>
            <a:r>
              <a:rPr sz="1400"/>
              <a:t>A VFD has been powered off. Is it immediately safe to touch the wiring?</a:t>
            </a:r>
          </a:p>
          <a:p>
            <a:r>
              <a:rPr sz="1400"/>
              <a:t>Yes — power is off | No — DC bus capacitors can retain dangerous voltage | Only if you wait 30 seconds | Only if the motor has stopped spinning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p:cNvSpPr>
            <a:spLocks noGrp="1"/>
          </p:cNvSpPr>
          <p:nvPr>
            <p:ph type="title"/>
          </p:nvPr>
        </p:nvSpPr>
        <p:spPr/>
        <p:txBody>
          <a:bodyPr/>
          <a:lstStyle/>
          <a:p>
            <a:r>
              <a:rPr sz="2800" b="1"/>
              <a:solidFill>
                <a:srgbClr val="1E3A5F"/>
              </a:solidFill>
              <a:t>Quiz</a:t>
            </a:r>
          </a:p>
        </p:txBody>
      </p:sp>
      <p:sp>
        <p:nvSpPr>
          <p:cNvPr id="3" name="Content"/>
          <p:cNvSpPr>
            <a:spLocks noGrp="1"/>
          </p:cNvSpPr>
          <p:nvPr>
            <p:ph idx="1" type="body"/>
          </p:nvPr>
        </p:nvSpPr>
        <p:spPr/>
        <p:txBody>
          <a:bodyPr/>
          <a:lstStyle/>
          <a:p>
            <a:r>
              <a:rPr sz="1400"/>
              <a:t>What controls the speed of an AC motor connected to a VFD?</a:t>
            </a:r>
          </a:p>
          <a:p>
            <a:r>
              <a:rPr sz="1400"/>
              <a:t>The PLC changes the motor's winding configuration | The VFD varies the output frequency and voltage to the motor | A mechanical gearbox inside the VFD | The power supply voltage is adjusted</a:t>
            </a:r>
          </a:p>
        </p:txBody>
      </p:sp>
    </p:spTree>
  </p:cSld>
</p:sld>
</file>