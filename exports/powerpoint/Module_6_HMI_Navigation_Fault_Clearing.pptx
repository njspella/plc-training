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11" Type="http://schemas.openxmlformats.org/officeDocument/2006/relationships/slide" Target="slides/slide1.xml"/>
<Relationship Id="rId12" Type="http://schemas.openxmlformats.org/officeDocument/2006/relationships/slide" Target="slides/slide2.xml"/>
<Relationship Id="rId13" Type="http://schemas.openxmlformats.org/officeDocument/2006/relationships/slide" Target="slides/slide3.xml"/>
<Relationship Id="rId14" Type="http://schemas.openxmlformats.org/officeDocument/2006/relationships/slide" Target="slides/slide4.xml"/>
<Relationship Id="rId15" Type="http://schemas.openxmlformats.org/officeDocument/2006/relationships/slide" Target="slides/slide5.xml"/>
<Relationship Id="rId16" Type="http://schemas.openxmlformats.org/officeDocument/2006/relationships/slide" Target="slides/slide6.xml"/>
<Relationship Id="rId17" Type="http://schemas.openxmlformats.org/officeDocument/2006/relationships/slide" Target="slides/slide7.xml"/>
<Relationship Id="rId18" Type="http://schemas.openxmlformats.org/officeDocument/2006/relationships/slide" Target="slides/slide8.xml"/>
<Relationship Id="rId19" Type="http://schemas.openxmlformats.org/officeDocument/2006/relationships/slide" Target="slides/slide9.xml"/>
<Relationship Id="rId20" Type="http://schemas.openxmlformats.org/officeDocument/2006/relationships/slide" Target="slides/slide10.xml"/>
<Relationship Id="rId21" Type="http://schemas.openxmlformats.org/officeDocument/2006/relationships/slide" Target="slides/slide11.xml"/>
<Relationship Id="rId22" Type="http://schemas.openxmlformats.org/officeDocument/2006/relationships/slide" Target="slides/slide12.xml"/>
<Relationship Id="rId23" Type="http://schemas.openxmlformats.org/officeDocument/2006/relationships/slide" Target="slides/slide13.xml"/>
<Relationship Id="rId24" Type="http://schemas.openxmlformats.org/officeDocument/2006/relationships/slide" Target="slides/slide14.xml"/>
<Relationship Id="rId25" Type="http://schemas.openxmlformats.org/officeDocument/2006/relationships/slide" Target="slides/slide15.xml"/>
<Relationship Id="rId26" Type="http://schemas.openxmlformats.org/officeDocument/2006/relationships/slide" Target="slides/slide16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?><Relationships xmlns="http://schemas.openxmlformats.org/package/2006/relationships"/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</p:sldMaster>
</file>

<file path=ppt/slides/_rels/slide1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?>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Module 6: HMI Navigation &amp; Fault Clearing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PLC Tabletop Training Program · Lecture + Lab · 2.5 h</a:t>
            </a:r>
          </a:p>
          <a:p>
            <a:r>
              <a:rPr sz="1400"/>
              <a:t>v1.0 (April 2026)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Learning objectives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Log into an HMI screen and navigate between key screens</a:t>
            </a:r>
          </a:p>
          <a:p>
            <a:r>
              <a:rPr sz="1400"/>
              <a:t>View and interpret active alarms and fault history</a:t>
            </a:r>
          </a:p>
          <a:p>
            <a:r>
              <a:rPr sz="1400"/>
              <a:t>Clear faults and reset the machine after a safe condition is restored</a:t>
            </a:r>
          </a:p>
          <a:p>
            <a:r>
              <a:rPr sz="1400"/>
              <a:t>Use the I/O status screen to verify field device communication</a:t>
            </a:r>
          </a:p>
          <a:p>
            <a:r>
              <a:rPr sz="1400"/>
              <a:t>Manually jog or operate outputs for maintenance testing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Overview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Operating the HMI screen — login, alarm management, I/O status monitoring, and fault clearing procedures.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Lesson: HMI Overview &amp; Login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What an HMI is, screen navigation, and user access levels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HMI Overview &amp; Login (content)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→ What is an HMI?</a:t>
            </a:r>
          </a:p>
          <a:p>
            <a:r>
              <a:rPr sz="1400"/>
              <a:t>[Figure] HMI screen — the operator's window into the PLC system</a:t>
            </a:r>
          </a:p>
          <a:p>
            <a:r>
              <a:rPr sz="1400"/>
              <a:t>HMI stands for Human-Machine Interface. It's a touchscreen panel that lets the operator monitor and control the PLC system in real time. Common brands on site: Omron NB/NA series, Allen Bradley PanelView, AutomationDirect C-more.</a:t>
            </a:r>
          </a:p>
          <a:p>
            <a:r>
              <a:rPr sz="1400"/>
              <a:t>→ Logging In</a:t>
            </a:r>
          </a:p>
          <a:p>
            <a:r>
              <a:rPr sz="1400"/>
              <a:t>• Touch the screen to wake it — the home/overview screen will display</a:t>
            </a:r>
          </a:p>
          <a:p>
            <a:r>
              <a:rPr sz="1400"/>
              <a:t>• Look for a padlock icon, user icon, or "Login" button (typically upper-right corner)</a:t>
            </a:r>
          </a:p>
          <a:p>
            <a:r>
              <a:rPr sz="1400"/>
              <a:t>• Enter credentials using the on-screen keypad (check machine binder for default maintenance credentials)</a:t>
            </a:r>
          </a:p>
          <a:p>
            <a:r>
              <a:rPr sz="1400"/>
              <a:t>• Press Enter or OK to log in</a:t>
            </a:r>
          </a:p>
          <a:p>
            <a:r>
              <a:rPr sz="1400"/>
              <a:t>→ User Access Levels</a:t>
            </a:r>
          </a:p>
          <a:p>
            <a:r>
              <a:rPr sz="1400"/>
              <a:t>Table: Level | Typical Users | Permissions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HMI Overview &amp; Login (content)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  • Operator | Production operators | View status, clear minor alarms, start/stop cycles</a:t>
            </a:r>
          </a:p>
          <a:p>
            <a:r>
              <a:rPr sz="1400"/>
              <a:t>  • Maintenance | Maintenance technicians | View I/O status, clear faults, manual jog, adjust setpoints</a:t>
            </a:r>
          </a:p>
          <a:p>
            <a:r>
              <a:rPr sz="1400"/>
              <a:t>  • Engineering | Controls engineers, automation lead | Full access — modify screens, change configurations, adjust safety parameters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Lesson: Alarm Management &amp; Fault Clearing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Reading alarms, understanding fault codes, and restoring normal operation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Alarm Management &amp; Fault Clearing (content)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→ Viewing Active Alarms</a:t>
            </a:r>
          </a:p>
          <a:p>
            <a:r>
              <a:rPr sz="1400"/>
              <a:t>Navigate to the Alarms screen (often a bell icon or dedicated Alarms button). Active alarms display the alarm code, description, timestamp, and associated tag name. Most recent alarms appear at the top.</a:t>
            </a:r>
          </a:p>
          <a:p>
            <a:r>
              <a:rPr sz="1400"/>
              <a:t>→ Fault Clearing Procedure</a:t>
            </a:r>
          </a:p>
          <a:p>
            <a:r>
              <a:rPr sz="1400"/>
              <a:t>• Read the alarm — note the alarm code, description, and timestamp. Take a photo for documentation.</a:t>
            </a:r>
          </a:p>
          <a:p>
            <a:r>
              <a:rPr sz="1400"/>
              <a:t>• Identify the root cause — use the alarm description and tag name to determine what triggered the fault. Open PLC software if needed to trace the associated logic.</a:t>
            </a:r>
          </a:p>
          <a:p>
            <a:r>
              <a:rPr sz="1400"/>
              <a:t>• Correct the physical condition — clear an obstruction, replace a sensor, reset a safety device, fix a wiring issue. Never clear an alarm without addressing the cause.</a:t>
            </a:r>
          </a:p>
          <a:p>
            <a:r>
              <a:rPr sz="1400"/>
              <a:t>• Clear the alarm on the HMI — select the alarm and press Clear/Reset. Some alarms require the fault condition to be gone before they can be cleared.</a:t>
            </a:r>
          </a:p>
          <a:p>
            <a:r>
              <a:rPr sz="1400"/>
              <a:t>• Verify normal operation — confirm the alarm doesn't immediately return and the machine enters Ready state.</a:t>
            </a:r>
          </a:p>
          <a:p>
            <a:r>
              <a:rPr sz="1400"/>
              <a:t>[DANGER] Never 'Clear and Hope': Clearing an alarm without fixing the underlying cause is a recipe for recurring faults, production downtime, and potential safety incidents. If the alarm comes back after clearing, the root cause hasn't been resolved.</a:t>
            </a:r>
          </a:p>
          <a:p>
            <a:r>
              <a:rPr sz="1400"/>
              <a:t>→ I/O Status Screen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Alarm Management &amp; Fault Clearing (content)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The I/O status screen shows real-time states of all inputs and outputs. Use it to verify sensors are communicating, outputs are energizing, and the physical world matches what the PLC reports.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Lesson: Manual Control &amp; Setpoint Adjustment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Jogging outputs, testing devices, and adjusting parameters from the HMI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Manual Control &amp; Setpoint Adjustment (content)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→ Manual Jog/Output Control</a:t>
            </a:r>
          </a:p>
          <a:p>
            <a:r>
              <a:rPr sz="1400"/>
              <a:t>During maintenance, you may need to manually operate individual outputs — jog a motor, extend a cylinder, energize a solenoid — for testing or positioning. This is done from the HMI's Manual Control screen (maintenance access required).</a:t>
            </a:r>
          </a:p>
          <a:p>
            <a:r>
              <a:rPr sz="1400"/>
              <a:t>[WARNING] Safety First: Manual mode bypasses the normal automatic sequence. Ensure the area is clear, safety guards are functional, and all personnel are aware before jogging any output.</a:t>
            </a:r>
          </a:p>
          <a:p>
            <a:r>
              <a:rPr sz="1400"/>
              <a:t>→ Setpoint Adjustment</a:t>
            </a:r>
          </a:p>
          <a:p>
            <a:r>
              <a:rPr sz="1400"/>
              <a:t>Timers, counters, speed references, and recipe parameters can be adjusted from the HMI. Always note the original value before changing it. Changes take effect immediately on most systems.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Lab: Live HMI Walkthrough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After: HMI Overview &amp; Login</a:t>
            </a:r>
          </a:p>
          <a:p>
            <a:r>
              <a:rPr sz="1400"/>
              <a:t>Duration: 10 min</a:t>
            </a:r>
          </a:p>
          <a:p>
            <a:r>
              <a:rPr sz="1400"/>
              <a:t>At the bench HMI, log in, navigate to key screens: overview, I/O status, alarms, manual control. Activate a proximity sensor and show the I/O status screen reflect it.</a:t>
            </a:r>
          </a:p>
          <a:p>
            <a:r>
              <a:rPr sz="1400"/>
              <a:t>Each student navigates to a different screen on the HMI. Students confirm they can find the I/O status screen and identify physical device states.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Lab: Fault Injection → Alarm → Clearance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After: Alarm Management &amp; Fault Clearing</a:t>
            </a:r>
          </a:p>
          <a:p>
            <a:r>
              <a:rPr sz="1400"/>
              <a:t>Duration: 15 min</a:t>
            </a:r>
          </a:p>
          <a:p>
            <a:r>
              <a:rPr sz="1400"/>
              <a:t>Trainer creates a fault (blocks area scanner). Walk through: read alarm → identify cause → clear obstruction → clear alarm → verify normal operation.</a:t>
            </a:r>
          </a:p>
          <a:p>
            <a:r>
              <a:rPr sz="1400"/>
              <a:t>After trainer demo, each student performs the full cycle: trainer injects a fault → student reads alarm → fixes physical cause → clears alarm → verifies.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Quiz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What is the correct order for clearing a fault on the HMI?</a:t>
            </a:r>
          </a:p>
          <a:p>
            <a:r>
              <a:rPr sz="1400"/>
              <a:t>Clear the alarm first, then investigate the cause | Read the alarm → Identify and fix the root cause → Clear the alarm → Verify normal operation | Restart the PLC → Clear all alarms → Resume production | Call the supervisor and wait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Quiz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The HMI shows three access levels. What can a Maintenance-level user do that an Operator cannot?</a:t>
            </a:r>
          </a:p>
          <a:p>
            <a:r>
              <a:rPr sz="1400"/>
              <a:t>View production statistics | Access I/O status, clear faults, manual jog, and adjust setpoints | Modify HMI screens | Nothing — they have the same access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solidFill>
                <a:srgbClr val="1E3A5F"/>
              </a:solidFill>
              <a:t>Quiz</a:t>
            </a:r>
          </a:p>
        </p:txBody>
      </p:sp>
      <p:sp>
        <p:nvSpPr>
          <p:cNvPr id="3" name="Content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rPr sz="1400"/>
              <a:t>An alarm appears on the HMI. You clear it, but it immediately returns. What does this mean?</a:t>
            </a:r>
          </a:p>
          <a:p>
            <a:r>
              <a:rPr sz="1400"/>
              <a:t>The HMI is malfunctioning | The root cause of the fault has not been resolved | You need to restart the PLC | The alarm has a 5-minute timeout</a:t>
            </a:r>
          </a:p>
        </p:txBody>
      </p:sp>
    </p:spTree>
  </p:cSld>
</p:sld>
</file>