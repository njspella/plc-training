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webp" ContentType="image/webp"/>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Placeholder"/>
          <p:cNvSpPr>
            <a:spLocks noGrp="1"/>
          </p:cNvSpPr>
          <p:nvPr>
            <p:ph type="title"/>
          </p:nvPr>
        </p:nvSpPr>
        <p:spPr>
          <a:xfrm>
            <a:off x="457200" y="142240"/>
            <a:ext cx="8229600" cy="900000"/>
          </a:xfrm>
          <a:prstGeom prst="rect">
            <a:avLst/>
          </a:prstGeom>
        </p:spPr>
        <p:txBody>
          <a:bodyPr/>
          <a:lstStyle/>
          <a:p/>
        </p:txBody>
      </p:sp>
      <p:sp>
        <p:nvSpPr>
          <p:cNvPr id="3" name="Content Placeholder"/>
          <p:cNvSpPr>
            <a:spLocks noGrp="1"/>
          </p:cNvSpPr>
          <p:nvPr>
            <p:ph idx="1" type="body"/>
          </p:nvPr>
        </p:nvSpPr>
        <p:spPr>
          <a:xfrm>
            <a:off x="457200" y="1171780"/>
            <a:ext cx="8229600" cy="5564300"/>
          </a:xfrm>
          <a:prstGeom prst="rect">
            <a:avLst/>
          </a:prstGeom>
        </p:spPr>
        <p:txBody>
          <a:bodyPr/>
          <a:lstStyle/>
          <a:p/>
        </p:txBody>
      </p:sp>
    </p:spTree>
  </p:cSld>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a:defRPr sz="4400" b="1">
          <a:latin typeface="Calibri"/>
        </a:defRPr>
      </a:lvl1pPr>
    </p:titleStyle>
    <p:bodyStyle>
      <a:lvl1pPr>
        <a:defRPr sz="2800">
          <a:latin typeface="Calibri"/>
        </a:defRPr>
      </a:lvl1pPr>
    </p:body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Module 8: Advanced Manufacturing Specifics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PLC Tabletop Training Program · Lecture + Discussion · 3.5 h</a:t>
            </a:r>
          </a:p>
          <a:p>
            <a:pPr lvl="0" algn="l">
              <a:lnSpc>
                <a:spcPct val="112000"/>
              </a:lnSpc>
            </a:pPr>
            <a:r>
              <a:rPr sz="1200" lang="en-US">
                <a:solidFill>
                  <a:srgbClr val="1E293B"/>
                </a:solidFill>
              </a:rPr>
              <a:t xml:space="preserve">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Learning objectives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Locate and use custom build documentation for Vermeer machines</a:t>
            </a:r>
          </a:p>
          <a:p>
            <a:pPr lvl="0" algn="l">
              <a:lnSpc>
                <a:spcPct val="112000"/>
              </a:lnSpc>
            </a:pPr>
            <a:r>
              <a:rPr sz="1200" lang="en-US">
                <a:solidFill>
                  <a:srgbClr val="1E293B"/>
                </a:solidFill>
              </a:rPr>
              <a:t xml:space="preserve">Understand core ladder logic instructions and their symbols</a:t>
            </a:r>
          </a:p>
          <a:p>
            <a:pPr lvl="0" algn="l">
              <a:lnSpc>
                <a:spcPct val="112000"/>
              </a:lnSpc>
            </a:pPr>
            <a:r>
              <a:rPr sz="1200" lang="en-US">
                <a:solidFill>
                  <a:srgbClr val="1E293B"/>
                </a:solidFill>
              </a:rPr>
              <a:t xml:space="preserve">Configure basic servo motor parameters in Sysmac Studio</a:t>
            </a:r>
          </a:p>
          <a:p>
            <a:pPr lvl="0" algn="l">
              <a:lnSpc>
                <a:spcPct val="112000"/>
              </a:lnSpc>
            </a:pPr>
            <a:r>
              <a:rPr sz="1200" lang="en-US">
                <a:solidFill>
                  <a:srgbClr val="1E293B"/>
                </a:solidFill>
              </a:rPr>
              <a:t xml:space="preserve">Create and use global variables with proper naming conventions</a:t>
            </a:r>
          </a:p>
          <a:p>
            <a:pPr lvl="0" algn="l">
              <a:lnSpc>
                <a:spcPct val="112000"/>
              </a:lnSpc>
            </a:pPr>
            <a:r>
              <a:rPr sz="1200" lang="en-US">
                <a:solidFill>
                  <a:srgbClr val="1E293B"/>
                </a:solidFill>
              </a:rPr>
              <a:t xml:space="preserve">Add I/O modules and devices to an existing PLC configuration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Overview</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Custom machine documentation, ladder logic building blocks, servo motor configuration, global variables, and adding I/O components to a PLC.</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Custom Machine Documentation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Where to find documentation for Cobot Carbide Tower, Cobot Reamer, Servo Motor, and Rodloader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Custom Machine Documentation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All custom build documentation is stored on the shared network drive under: Engineering &gt; Custom Builds &gt; [Machine Name]. Always check here first before making any changes.</a:t>
            </a:r>
          </a:p>
          <a:p>
            <a:pPr lvl="0" algn="l">
              <a:lnSpc>
                <a:spcPct val="112000"/>
              </a:lnSpc>
            </a:pPr>
            <a:r>
              <a:rPr sz="1200" lang="en-US">
                <a:solidFill>
                  <a:srgbClr val="1E293B"/>
                </a:solidFill>
              </a:rPr>
              <a:t xml:space="preserve">Table: Machine | Key Documents</a:t>
            </a:r>
          </a:p>
          <a:p>
            <a:pPr lvl="0" algn="l">
              <a:lnSpc>
                <a:spcPct val="112000"/>
              </a:lnSpc>
            </a:pPr>
            <a:r>
              <a:rPr sz="1200" lang="en-US">
                <a:solidFill>
                  <a:srgbClr val="1E293B"/>
                </a:solidFill>
              </a:rPr>
              <a:t xml:space="preserve">Cobot Carbide Tower | Wiring diagrams, Omron NX1P2 PLC program, Sysmac Studio project file, robot cell layout. Check revision history for latest approved version.</a:t>
            </a:r>
          </a:p>
          <a:p>
            <a:pPr lvl="0" algn="l">
              <a:lnSpc>
                <a:spcPct val="112000"/>
              </a:lnSpc>
            </a:pPr>
            <a:r>
              <a:rPr sz="1200" lang="en-US">
                <a:solidFill>
                  <a:srgbClr val="1E293B"/>
                </a:solidFill>
              </a:rPr>
              <a:t xml:space="preserve">Cobot Reamer | Task program, EtherCAT slave configuration, tooling offset table, safety zone drawings.</a:t>
            </a:r>
          </a:p>
          <a:p>
            <a:pPr lvl="0" algn="l">
              <a:lnSpc>
                <a:spcPct val="112000"/>
              </a:lnSpc>
            </a:pPr>
            <a:r>
              <a:rPr sz="1200" lang="en-US">
                <a:solidFill>
                  <a:srgbClr val="1E293B"/>
                </a:solidFill>
              </a:rPr>
              <a:t xml:space="preserve">Servo Motor Incorporation | Axis mapping spreadsheet, drive parameter backup file, mechanical coupling specs, motion profile documentation.</a:t>
            </a:r>
          </a:p>
          <a:p>
            <a:pPr lvl="0" algn="l">
              <a:lnSpc>
                <a:spcPct val="112000"/>
              </a:lnSpc>
            </a:pPr>
            <a:r>
              <a:rPr sz="1200" lang="en-US">
                <a:solidFill>
                  <a:srgbClr val="1E293B"/>
                </a:solidFill>
              </a:rPr>
              <a:t xml:space="preserve">Rodloader | Full wiring package, Productivity Suite project, I/O assignment list, sequence of operations document.</a:t>
            </a:r>
          </a:p>
          <a:p>
            <a:pPr lvl="0" algn="l">
              <a:lnSpc>
                <a:spcPct val="112000"/>
              </a:lnSpc>
            </a:pPr>
            <a:r>
              <a:rPr sz="1200" lang="en-US">
                <a:solidFill>
                  <a:srgbClr val="1E293B"/>
                </a:solidFill>
              </a:rPr>
              <a:t xml:space="preserve">[WARNING] Revision Control: Always verify you are working from the latest revision. Outdated documentation leads to incorrect troubleshooting and wasted time.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Ladder Logic Building Blocks — Part 1</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Core instructions: contacts, coils, latches, timers, and counters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Contacts and Coils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Table: Instruction | Symbol | Function</a:t>
            </a:r>
          </a:p>
          <a:p>
            <a:pPr lvl="0" algn="l">
              <a:lnSpc>
                <a:spcPct val="112000"/>
              </a:lnSpc>
            </a:pPr>
            <a:r>
              <a:rPr sz="1200" lang="en-US">
                <a:solidFill>
                  <a:srgbClr val="1E293B"/>
                </a:solidFill>
              </a:rPr>
              <a:t xml:space="preserve">Normally Open (XIC/NO) | --[ ]-- | Passes power when the referenced bit is ON (1). Checks if an input is active.</a:t>
            </a:r>
          </a:p>
          <a:p>
            <a:pPr lvl="0" algn="l">
              <a:lnSpc>
                <a:spcPct val="112000"/>
              </a:lnSpc>
            </a:pPr>
            <a:r>
              <a:rPr sz="1200" lang="en-US">
                <a:solidFill>
                  <a:srgbClr val="1E293B"/>
                </a:solidFill>
              </a:rPr>
              <a:t xml:space="preserve">Normally Closed (XIO/NC) | --[/]-- | Passes power when the referenced bit is OFF (0). Blocks logic when a fault/interlock is active.</a:t>
            </a:r>
          </a:p>
          <a:p>
            <a:pPr lvl="0" algn="l">
              <a:lnSpc>
                <a:spcPct val="112000"/>
              </a:lnSpc>
            </a:pPr>
            <a:r>
              <a:rPr sz="1200" lang="en-US">
                <a:solidFill>
                  <a:srgbClr val="1E293B"/>
                </a:solidFill>
              </a:rPr>
              <a:t xml:space="preserve">Output Coil (OTE) | --( )-- | Sets the referenced bit ON when the rung has power. Turns OFF when power is lost.</a:t>
            </a:r>
          </a:p>
          <a:p>
            <a:pPr lvl="0" algn="l">
              <a:lnSpc>
                <a:spcPct val="112000"/>
              </a:lnSpc>
            </a:pPr>
            <a:r>
              <a:rPr sz="1200" lang="en-US">
                <a:solidFill>
                  <a:srgbClr val="1E293B"/>
                </a:solidFill>
              </a:rPr>
              <a:t xml:space="preserve">Latch (OTL) | --(L)-- | Sets the bit ON and it stays ON even after the rung loses power. Requires an unlatch to turn off.</a:t>
            </a:r>
          </a:p>
          <a:p>
            <a:pPr lvl="0" algn="l">
              <a:lnSpc>
                <a:spcPct val="112000"/>
              </a:lnSpc>
            </a:pPr>
            <a:r>
              <a:rPr sz="1200" lang="en-US">
                <a:solidFill>
                  <a:srgbClr val="1E293B"/>
                </a:solidFill>
              </a:rPr>
              <a:t xml:space="preserve">Unlatch (OTU) | --(U)-- | Turns off a latched bit. Used in pairs with OTL for start/stop logic.</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Timers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Table: Timer | Function | Common Use</a:t>
            </a:r>
          </a:p>
          <a:p>
            <a:pPr lvl="0" algn="l">
              <a:lnSpc>
                <a:spcPct val="112000"/>
              </a:lnSpc>
            </a:pPr>
            <a:r>
              <a:rPr sz="1200" lang="en-US">
                <a:solidFill>
                  <a:srgbClr val="1E293B"/>
                </a:solidFill>
              </a:rPr>
              <a:t xml:space="preserve">TON (Timer On-Delay) | Starts counting when rung is true. DN bit turns ON after preset time. | Debounce sensors, sequence delays, dwell times</a:t>
            </a:r>
          </a:p>
          <a:p>
            <a:pPr lvl="0" algn="l">
              <a:lnSpc>
                <a:spcPct val="112000"/>
              </a:lnSpc>
            </a:pPr>
            <a:r>
              <a:rPr sz="1200" lang="en-US">
                <a:solidFill>
                  <a:srgbClr val="1E293B"/>
                </a:solidFill>
              </a:rPr>
              <a:t xml:space="preserve">TOF (Timer Off-Delay) | Starts counting when rung goes false. DN bit stays ON for preset time after rung goes false. | Cooldown periods, coast-down timing</a:t>
            </a:r>
          </a:p>
          <a:p>
            <a:pPr lvl="0" algn="l">
              <a:lnSpc>
                <a:spcPct val="112000"/>
              </a:lnSpc>
            </a:pPr>
            <a:r>
              <a:rPr sz="1200" lang="en-US">
                <a:solidFill>
                  <a:srgbClr val="1E293B"/>
                </a:solidFill>
              </a:rPr>
              <a:t xml:space="preserve">RTO (Retentive Timer) | Like TON but accumulator retains value when rung goes false. Must use RES to reset. | Total run-time tracking, accumulated process time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Counters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Table: Counter | Function | Common Use</a:t>
            </a:r>
          </a:p>
          <a:p>
            <a:pPr lvl="0" algn="l">
              <a:lnSpc>
                <a:spcPct val="112000"/>
              </a:lnSpc>
            </a:pPr>
            <a:r>
              <a:rPr sz="1200" lang="en-US">
                <a:solidFill>
                  <a:srgbClr val="1E293B"/>
                </a:solidFill>
              </a:rPr>
              <a:t xml:space="preserve">CTU (Count Up) | Increments by 1 each time the rung transitions from false to true. DN bit turns ON at preset. | Part counting, cycle counting</a:t>
            </a:r>
          </a:p>
          <a:p>
            <a:pPr lvl="0" algn="l">
              <a:lnSpc>
                <a:spcPct val="112000"/>
              </a:lnSpc>
            </a:pPr>
            <a:r>
              <a:rPr sz="1200" lang="en-US">
                <a:solidFill>
                  <a:srgbClr val="1E293B"/>
                </a:solidFill>
              </a:rPr>
              <a:t xml:space="preserve">CTD (Count Down) | Decrements by 1 each transition. DN bit turns ON when accumulator reaches zero. | Batch remaining count, magazine count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Ladder Logic Building Blocks — Part 2</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Comparison, math, move instructions, and other function blocks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Comparison Instructions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Comparison instructions evaluate two values and pass power if the condition is true:</a:t>
            </a:r>
          </a:p>
          <a:p>
            <a:pPr lvl="0" algn="l">
              <a:lnSpc>
                <a:spcPct val="112000"/>
              </a:lnSpc>
            </a:pPr>
            <a:r>
              <a:rPr sz="1200" lang="en-US">
                <a:solidFill>
                  <a:srgbClr val="1E293B"/>
                </a:solidFill>
              </a:rPr>
              <a:t xml:space="preserve">Table: Instruction | Meaning | Example</a:t>
            </a:r>
          </a:p>
          <a:p>
            <a:pPr lvl="0" algn="l">
              <a:lnSpc>
                <a:spcPct val="112000"/>
              </a:lnSpc>
            </a:pPr>
            <a:r>
              <a:rPr sz="1200" lang="en-US">
                <a:solidFill>
                  <a:srgbClr val="1E293B"/>
                </a:solidFill>
              </a:rPr>
              <a:t xml:space="preserve">EQU | Equal | Check if counter = target value</a:t>
            </a:r>
          </a:p>
          <a:p>
            <a:pPr lvl="0" algn="l">
              <a:lnSpc>
                <a:spcPct val="112000"/>
              </a:lnSpc>
            </a:pPr>
            <a:r>
              <a:rPr sz="1200" lang="en-US">
                <a:solidFill>
                  <a:srgbClr val="1E293B"/>
                </a:solidFill>
              </a:rPr>
              <a:t xml:space="preserve">NEQ | Not Equal | Check if status flag has changed</a:t>
            </a:r>
          </a:p>
          <a:p>
            <a:pPr lvl="0" algn="l">
              <a:lnSpc>
                <a:spcPct val="112000"/>
              </a:lnSpc>
            </a:pPr>
            <a:r>
              <a:rPr sz="1200" lang="en-US">
                <a:solidFill>
                  <a:srgbClr val="1E293B"/>
                </a:solidFill>
              </a:rPr>
              <a:t xml:space="preserve">GRT | Greater Than | Check if temperature exceeds limit</a:t>
            </a:r>
          </a:p>
          <a:p>
            <a:pPr lvl="0" algn="l">
              <a:lnSpc>
                <a:spcPct val="112000"/>
              </a:lnSpc>
            </a:pPr>
            <a:r>
              <a:rPr sz="1200" lang="en-US">
                <a:solidFill>
                  <a:srgbClr val="1E293B"/>
                </a:solidFill>
              </a:rPr>
              <a:t xml:space="preserve">LES | Less Than | Check if pressure is below minimum</a:t>
            </a:r>
          </a:p>
          <a:p>
            <a:pPr lvl="0" algn="l">
              <a:lnSpc>
                <a:spcPct val="112000"/>
              </a:lnSpc>
            </a:pPr>
            <a:r>
              <a:rPr sz="1200" lang="en-US">
                <a:solidFill>
                  <a:srgbClr val="1E293B"/>
                </a:solidFill>
              </a:rPr>
              <a:t xml:space="preserve">GEQ | Greater Than or Equal | Check if timer accumulator &gt;= setpoint</a:t>
            </a:r>
          </a:p>
          <a:p>
            <a:pPr lvl="0" algn="l">
              <a:lnSpc>
                <a:spcPct val="112000"/>
              </a:lnSpc>
            </a:pPr>
            <a:r>
              <a:rPr sz="1200" lang="en-US">
                <a:solidFill>
                  <a:srgbClr val="1E293B"/>
                </a:solidFill>
              </a:rPr>
              <a:t xml:space="preserve">LEQ | Less Than or Equal | Check if speed is within range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Math &amp; Move Instructions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MOV (Move): Copies a value from Source to Destination. Used for loading setpoints, copying recipes, and resetting accumulators.</a:t>
            </a:r>
          </a:p>
          <a:p>
            <a:pPr lvl="0" algn="l">
              <a:lnSpc>
                <a:spcPct val="112000"/>
              </a:lnSpc>
            </a:pPr>
            <a:r>
              <a:rPr sz="1200" lang="en-US">
                <a:solidFill>
                  <a:srgbClr val="1E293B"/>
                </a:solidFill>
              </a:rPr>
              <a:t xml:space="preserve">ADD / SUB / MUL / DIV: Arithmetic on tag values. Used for scaling analog signals, calculating rates, and batch arithmetic.</a:t>
            </a:r>
          </a:p>
          <a:p>
            <a:pPr lvl="0" algn="l">
              <a:lnSpc>
                <a:spcPct val="112000"/>
              </a:lnSpc>
            </a:pPr>
            <a:r>
              <a:rPr sz="1200" lang="en-US">
                <a:solidFill>
                  <a:srgbClr val="1E293B"/>
                </a:solidFill>
              </a:rPr>
              <a:t xml:space="preserve">CPT (Compute): Evaluates a formula expression. Useful for complex calculations in a single instruction.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Servo Motor Configuration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Setting up servo axes in Omron Sysmac Studio over EtherCAT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Adding a Servo Axis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In the Sysmac Studio project tree, go to Motion Control &gt; Axes</a:t>
            </a:r>
          </a:p>
          <a:p>
            <a:pPr lvl="0" algn="l">
              <a:lnSpc>
                <a:spcPct val="112000"/>
              </a:lnSpc>
            </a:pPr>
            <a:r>
              <a:rPr sz="1200" lang="en-US">
                <a:solidFill>
                  <a:srgbClr val="1E293B"/>
                </a:solidFill>
              </a:rPr>
              <a:t xml:space="preserve">Right-click and add a new Servo Axis</a:t>
            </a:r>
          </a:p>
          <a:p>
            <a:pPr lvl="0" algn="l">
              <a:lnSpc>
                <a:spcPct val="112000"/>
              </a:lnSpc>
            </a:pPr>
            <a:r>
              <a:rPr sz="1200" lang="en-US">
                <a:solidFill>
                  <a:srgbClr val="1E293B"/>
                </a:solidFill>
              </a:rPr>
              <a:t xml:space="preserve">Assign it to the EtherCAT node number matching the physical drive (check drive's rotary switches or DIP settings)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Unit Conversion Settings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Under Axis Parameters &gt; Unit Conversion, configure:</a:t>
            </a:r>
          </a:p>
          <a:p>
            <a:pPr lvl="0" algn="l">
              <a:lnSpc>
                <a:spcPct val="112000"/>
              </a:lnSpc>
            </a:pPr>
            <a:r>
              <a:rPr sz="1200" lang="en-US">
                <a:solidFill>
                  <a:srgbClr val="1E293B"/>
                </a:solidFill>
              </a:rPr>
              <a:t xml:space="preserve">Encoder pulses per revolution</a:t>
            </a:r>
          </a:p>
          <a:p>
            <a:pPr lvl="0" algn="l">
              <a:lnSpc>
                <a:spcPct val="112000"/>
              </a:lnSpc>
            </a:pPr>
            <a:r>
              <a:rPr sz="1200" lang="en-US">
                <a:solidFill>
                  <a:srgbClr val="1E293B"/>
                </a:solidFill>
              </a:rPr>
              <a:t xml:space="preserve">User units (mm, degrees, inches) per motor revolution</a:t>
            </a:r>
          </a:p>
          <a:p>
            <a:pPr lvl="0" algn="l">
              <a:lnSpc>
                <a:spcPct val="112000"/>
              </a:lnSpc>
            </a:pPr>
            <a:r>
              <a:rPr sz="1200" lang="en-US">
                <a:solidFill>
                  <a:srgbClr val="1E293B"/>
                </a:solidFill>
              </a:rPr>
              <a:t xml:space="preserve">Gear ratio if a gearbox is present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Key Parameters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Table: Parameter | What It Controls | Risk if Wrong</a:t>
            </a:r>
          </a:p>
          <a:p>
            <a:pPr lvl="0" algn="l">
              <a:lnSpc>
                <a:spcPct val="112000"/>
              </a:lnSpc>
            </a:pPr>
            <a:r>
              <a:rPr sz="1200" lang="en-US">
                <a:solidFill>
                  <a:srgbClr val="1E293B"/>
                </a:solidFill>
              </a:rPr>
              <a:t xml:space="preserve">Max Velocity | Speed limit for the axis | Too fast = mechanical damage, too slow = cycle time loss</a:t>
            </a:r>
          </a:p>
          <a:p>
            <a:pPr lvl="0" algn="l">
              <a:lnSpc>
                <a:spcPct val="112000"/>
              </a:lnSpc>
            </a:pPr>
            <a:r>
              <a:rPr sz="1200" lang="en-US">
                <a:solidFill>
                  <a:srgbClr val="1E293B"/>
                </a:solidFill>
              </a:rPr>
              <a:t xml:space="preserve">Acceleration / Deceleration | Ramp rates | Too aggressive = motor faults, too gentle = slow response</a:t>
            </a:r>
          </a:p>
          <a:p>
            <a:pPr lvl="0" algn="l">
              <a:lnSpc>
                <a:spcPct val="112000"/>
              </a:lnSpc>
            </a:pPr>
            <a:r>
              <a:rPr sz="1200" lang="en-US">
                <a:solidFill>
                  <a:srgbClr val="1E293B"/>
                </a:solidFill>
              </a:rPr>
              <a:t xml:space="preserve">Position Limits | Software travel limits | Prevents axis from moving beyond mechanical range</a:t>
            </a:r>
          </a:p>
          <a:p>
            <a:pPr lvl="0" algn="l">
              <a:lnSpc>
                <a:spcPct val="112000"/>
              </a:lnSpc>
            </a:pPr>
            <a:r>
              <a:rPr sz="1200" lang="en-US">
                <a:solidFill>
                  <a:srgbClr val="1E293B"/>
                </a:solidFill>
              </a:rPr>
              <a:t xml:space="preserve">Torque Limit | Maximum motor force | Too high = potential to damage tooling or workpiece</a:t>
            </a:r>
          </a:p>
          <a:p>
            <a:pPr lvl="0" algn="l">
              <a:lnSpc>
                <a:spcPct val="112000"/>
              </a:lnSpc>
            </a:pPr>
            <a:r>
              <a:rPr sz="1200" lang="en-US">
                <a:solidFill>
                  <a:srgbClr val="1E293B"/>
                </a:solidFill>
              </a:rPr>
              <a:t xml:space="preserve">[WARNING] Parameter Changes on Production: Never change servo parameters on a production machine without comparing to the documented values first. Small changes to acceleration or position limits can cause crashes, product damage, or injury.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Global Variables &amp; Adding Components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Creating global variables, naming conventions, and adding I/O modules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Creating Global Variables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Global variables are accessible from any program block in the PLC project. In Omron Sysmac Studio, define them in the Global Variable Table. In Allen Bradley Studio 5000, these are Controller-scoped tags.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Naming Convention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Use a function area prefix for instant clarity:</a:t>
            </a:r>
          </a:p>
          <a:p>
            <a:pPr lvl="0" algn="l">
              <a:lnSpc>
                <a:spcPct val="112000"/>
              </a:lnSpc>
            </a:pPr>
            <a:r>
              <a:rPr sz="1200" lang="en-US">
                <a:solidFill>
                  <a:srgbClr val="1E293B"/>
                </a:solidFill>
              </a:rPr>
              <a:t xml:space="preserve">SAFETY_ — E-stop, safety relay, scanner signals</a:t>
            </a:r>
          </a:p>
          <a:p>
            <a:pPr lvl="0" algn="l">
              <a:lnSpc>
                <a:spcPct val="112000"/>
              </a:lnSpc>
            </a:pPr>
            <a:r>
              <a:rPr sz="1200" lang="en-US">
                <a:solidFill>
                  <a:srgbClr val="1E293B"/>
                </a:solidFill>
              </a:rPr>
              <a:t xml:space="preserve">MOTION_ — Servo axis commands and feedback</a:t>
            </a:r>
          </a:p>
          <a:p>
            <a:pPr lvl="0" algn="l">
              <a:lnSpc>
                <a:spcPct val="112000"/>
              </a:lnSpc>
            </a:pPr>
            <a:r>
              <a:rPr sz="1200" lang="en-US">
                <a:solidFill>
                  <a:srgbClr val="1E293B"/>
                </a:solidFill>
              </a:rPr>
              <a:t xml:space="preserve">HMI_ — Operator interface signals</a:t>
            </a:r>
          </a:p>
          <a:p>
            <a:pPr lvl="0" algn="l">
              <a:lnSpc>
                <a:spcPct val="112000"/>
              </a:lnSpc>
            </a:pPr>
            <a:r>
              <a:rPr sz="1200" lang="en-US">
                <a:solidFill>
                  <a:srgbClr val="1E293B"/>
                </a:solidFill>
              </a:rPr>
              <a:t xml:space="preserve">CONV_ — Conveyor system signals</a:t>
            </a:r>
          </a:p>
          <a:p>
            <a:pPr lvl="0" algn="l">
              <a:lnSpc>
                <a:spcPct val="112000"/>
              </a:lnSpc>
            </a:pPr>
            <a:r>
              <a:rPr sz="1200" lang="en-US">
                <a:solidFill>
                  <a:srgbClr val="1E293B"/>
                </a:solidFill>
              </a:rPr>
              <a:t xml:space="preserve">IO_ — General I/O points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Adding I/O Components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Table: Platform | Steps</a:t>
            </a:r>
          </a:p>
          <a:p>
            <a:pPr lvl="0" algn="l">
              <a:lnSpc>
                <a:spcPct val="112000"/>
              </a:lnSpc>
            </a:pPr>
            <a:r>
              <a:rPr sz="1200" lang="en-US">
                <a:solidFill>
                  <a:srgbClr val="1E293B"/>
                </a:solidFill>
              </a:rPr>
              <a:t xml:space="preserve">Omron (EtherCAT) | Right-click EtherCAT master &gt; Add Slave. Select from ESI library. Assign node address. Map tags to I/O channels in the I/O Map view.</a:t>
            </a:r>
          </a:p>
          <a:p>
            <a:pPr lvl="0" algn="l">
              <a:lnSpc>
                <a:spcPct val="112000"/>
              </a:lnSpc>
            </a:pPr>
            <a:r>
              <a:rPr sz="1200" lang="en-US">
                <a:solidFill>
                  <a:srgbClr val="1E293B"/>
                </a:solidFill>
              </a:rPr>
              <a:t xml:space="preserve">Allen Bradley | Right-click I/O Configuration &gt; New Module. Search by catalog number. Set IP address and slot. Download and verify in I/O tree.</a:t>
            </a:r>
          </a:p>
          <a:p>
            <a:pPr lvl="0" algn="l">
              <a:lnSpc>
                <a:spcPct val="112000"/>
              </a:lnSpc>
            </a:pPr>
            <a:r>
              <a:rPr sz="1200" lang="en-US">
                <a:solidFill>
                  <a:srgbClr val="1E293B"/>
                </a:solidFill>
              </a:rPr>
              <a:t xml:space="preserve">AutomationDirect | Use the I/O Configuration wizard in Productivity Suite. Select module type, assign slot, map tags.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Servo Parameters — Live Adjustment</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Servo Motor Configuration</a:t>
            </a:r>
          </a:p>
          <a:p>
            <a:pPr lvl="0" algn="l">
              <a:lnSpc>
                <a:spcPct val="112000"/>
              </a:lnSpc>
            </a:pPr>
            <a:r>
              <a:rPr sz="1200" lang="en-US">
                <a:solidFill>
                  <a:srgbClr val="1E293B"/>
                </a:solidFill>
              </a:rPr>
              <a:t xml:space="preserve">Duration: 15 min</a:t>
            </a:r>
          </a:p>
          <a:p>
            <a:pPr lvl="0" algn="l">
              <a:lnSpc>
                <a:spcPct val="112000"/>
              </a:lnSpc>
            </a:pPr>
            <a:r>
              <a:rPr sz="1200" lang="en-US">
                <a:solidFill>
                  <a:srgbClr val="1E293B"/>
                </a:solidFill>
              </a:rPr>
              <a:t xml:space="preserve">On the EtherCAT servo drive, show current parameters. Make a safe change (reduce velocity by 50%), command a move, observe the difference. Restore original.</a:t>
            </a:r>
          </a:p>
          <a:p>
            <a:pPr lvl="0" algn="l">
              <a:lnSpc>
                <a:spcPct val="112000"/>
              </a:lnSpc>
            </a:pPr>
            <a:r>
              <a:rPr sz="1200" lang="en-US">
                <a:solidFill>
                  <a:srgbClr val="1E293B"/>
                </a:solidFill>
              </a:rPr>
              <a:t xml:space="preserve">Students read parameters, predict what a change will do, observe the result, then restore. Reinforces the read → predict → verify → restore cycle.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Add I/O Component End-to-End</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Global Variables &amp; Adding Components</a:t>
            </a:r>
          </a:p>
          <a:p>
            <a:pPr lvl="0" algn="l">
              <a:lnSpc>
                <a:spcPct val="112000"/>
              </a:lnSpc>
            </a:pPr>
            <a:r>
              <a:rPr sz="1200" lang="en-US">
                <a:solidFill>
                  <a:srgbClr val="1E293B"/>
                </a:solidFill>
              </a:rPr>
              <a:t xml:space="preserve">Duration: 15 min</a:t>
            </a:r>
          </a:p>
          <a:p>
            <a:pPr lvl="0" algn="l">
              <a:lnSpc>
                <a:spcPct val="112000"/>
              </a:lnSpc>
            </a:pPr>
            <a:r>
              <a:rPr sz="1200" lang="en-US">
                <a:solidFill>
                  <a:srgbClr val="1E293B"/>
                </a:solidFill>
              </a:rPr>
              <a:t xml:space="preserve">Walk through adding a new tag for an unused I/O point: create tag, map to physical channel, write a simple rung, download, test with physical device.</a:t>
            </a:r>
          </a:p>
          <a:p>
            <a:pPr lvl="0" algn="l">
              <a:lnSpc>
                <a:spcPct val="112000"/>
              </a:lnSpc>
            </a:pPr>
            <a:r>
              <a:rPr sz="1200" lang="en-US">
                <a:solidFill>
                  <a:srgbClr val="1E293B"/>
                </a:solidFill>
              </a:rPr>
              <a:t xml:space="preserve">Students follow along on laptops, replicating the tag and rung. Each pair tests their logic on the bench — the capstone integrative activity.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TON timer has a preset of 5000ms and the accumulator shows 5000ms. Is the DN (Done) bit ON or OFF?</a:t>
            </a:r>
          </a:p>
          <a:p>
            <a:pPr lvl="0" algn="l">
              <a:lnSpc>
                <a:spcPct val="112000"/>
              </a:lnSpc>
            </a:pPr>
            <a:r>
              <a:rPr sz="1200" lang="en-US">
                <a:solidFill>
                  <a:srgbClr val="1E293B"/>
                </a:solidFill>
              </a:rPr>
              <a:t xml:space="preserve">OFF — the timer is still counting | ON — the accumulator has reached the preset | It depends on the rung state | OFF — 5000ms means the timer has reset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What is the difference between OTE (Output Coil) and OTL (Output Latch)?</a:t>
            </a:r>
          </a:p>
          <a:p>
            <a:pPr lvl="0" algn="l">
              <a:lnSpc>
                <a:spcPct val="112000"/>
              </a:lnSpc>
            </a:pPr>
            <a:r>
              <a:rPr sz="1200" lang="en-US">
                <a:solidFill>
                  <a:srgbClr val="1E293B"/>
                </a:solidFill>
              </a:rPr>
              <a:t xml:space="preserve">They are the same | OTE turns off when the rung loses power; OTL stays on until an OTU unlatch instruction | OTL is faster than OTE | OTE is used for digital, OTL for analog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Before changing servo motor parameters on a production machine, what should you do?</a:t>
            </a:r>
          </a:p>
          <a:p>
            <a:pPr lvl="0" algn="l">
              <a:lnSpc>
                <a:spcPct val="112000"/>
              </a:lnSpc>
            </a:pPr>
            <a:r>
              <a:rPr sz="1200" lang="en-US">
                <a:solidFill>
                  <a:srgbClr val="1E293B"/>
                </a:solidFill>
              </a:rPr>
              <a:t xml:space="preserve">Just make the change — parameters auto-revert on restart | Compare the current values to the documented values and backup the program first | Switch the PLC to PROGRAM mode | Disconnect the encoder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What prefix would you use for a global variable controlling an E-stop circuit?</a:t>
            </a:r>
          </a:p>
          <a:p>
            <a:pPr lvl="0" algn="l">
              <a:lnSpc>
                <a:spcPct val="112000"/>
              </a:lnSpc>
            </a:pPr>
            <a:r>
              <a:rPr sz="1200" lang="en-US">
                <a:solidFill>
                  <a:srgbClr val="1E293B"/>
                </a:solidFill>
              </a:rPr>
              <a:t xml:space="preserve">CONV_ | MOTION_ | SAFETY_ | HMI_</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Application>plc-training</Application>
  <Slides>26</Slides>
</Properties>
</file>

<file path=docProps/core.xml><?xml version="1.0" encoding="utf-8"?>
<cp:coreProperties xmlns:cp="http://schemas.openxmlformats.org/package/2006/metadata/core-properties" xmlns:dc="http://purl.org/dc/elements/1.1/">
  <dc:title>PLC Tabletop Training</dc:title>
  <dc:creator>plc-training export</dc:creator>
</cp:coreProperties>
</file>