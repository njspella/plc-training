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Lst>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11" Type="http://schemas.openxmlformats.org/officeDocument/2006/relationships/slide" Target="slides/slide1.xml"/>
<Relationship Id="rId12" Type="http://schemas.openxmlformats.org/officeDocument/2006/relationships/slide" Target="slides/slide2.xml"/>
<Relationship Id="rId13" Type="http://schemas.openxmlformats.org/officeDocument/2006/relationships/slide" Target="slides/slide3.xml"/>
<Relationship Id="rId14" Type="http://schemas.openxmlformats.org/officeDocument/2006/relationships/slide" Target="slides/slide4.xml"/>
<Relationship Id="rId15" Type="http://schemas.openxmlformats.org/officeDocument/2006/relationships/slide" Target="slides/slide5.xml"/>
<Relationship Id="rId16" Type="http://schemas.openxmlformats.org/officeDocument/2006/relationships/slide" Target="slides/slide6.xml"/>
<Relationship Id="rId17" Type="http://schemas.openxmlformats.org/officeDocument/2006/relationships/slide" Target="slides/slide7.xml"/>
<Relationship Id="rId18" Type="http://schemas.openxmlformats.org/officeDocument/2006/relationships/slide" Target="slides/slide8.xml"/>
<Relationship Id="rId19" Type="http://schemas.openxmlformats.org/officeDocument/2006/relationships/slide" Target="slides/slide9.xml"/>
<Relationship Id="rId20" Type="http://schemas.openxmlformats.org/officeDocument/2006/relationships/slide" Target="slides/slide10.xml"/>
<Relationship Id="rId21" Type="http://schemas.openxmlformats.org/officeDocument/2006/relationships/slide" Target="slides/slide11.xml"/>
<Relationship Id="rId22" Type="http://schemas.openxmlformats.org/officeDocument/2006/relationships/slide" Target="slides/slide12.xml"/>
<Relationship Id="rId23" Type="http://schemas.openxmlformats.org/officeDocument/2006/relationships/slide" Target="slides/slide13.xml"/>
<Relationship Id="rId24" Type="http://schemas.openxmlformats.org/officeDocument/2006/relationships/slide" Target="slides/slide14.xml"/>
<Relationship Id="rId25" Type="http://schemas.openxmlformats.org/officeDocument/2006/relationships/slide" Target="slides/slide15.xml"/>
<Relationship Id="rId26" Type="http://schemas.openxmlformats.org/officeDocument/2006/relationships/slide" Target="slides/slide16.xml"/>
<Relationship Id="rId27" Type="http://schemas.openxmlformats.org/officeDocument/2006/relationships/slide" Target="slides/slide17.xml"/>
<Relationship Id="rId28" Type="http://schemas.openxmlformats.org/officeDocument/2006/relationships/slide" Target="slides/slide18.xml"/>
<Relationship Id="rId29" Type="http://schemas.openxmlformats.org/officeDocument/2006/relationships/slide" Target="slides/slide19.xml"/>
<Relationship Id="rId30" Type="http://schemas.openxmlformats.org/officeDocument/2006/relationships/slide" Target="slides/slide20.xml"/>
<Relationship Id="rId31" Type="http://schemas.openxmlformats.org/officeDocument/2006/relationships/slide" Target="slides/slide21.xml"/>
<Relationship Id="rId32" Type="http://schemas.openxmlformats.org/officeDocument/2006/relationships/slide" Target="slides/slide22.xml"/>
<Relationship Id="rId33" Type="http://schemas.openxmlformats.org/officeDocument/2006/relationships/slide" Target="slides/slide23.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and Content">
    <p:spTree>
      <p:nvGrpSpPr>
        <p:cNvPr id="1" name=""/>
        <p:cNvGrpSpPr/>
        <p:nvPr/>
      </p:nvGrpSpPr>
      <p:grpSpPr/>
    </p:spTree>
  </p:cSld>
</p:sldLayout>
</file>

<file path=ppt/slideMasters/_rels/slideMaster1.xml.rels><?xml version="1.0"?><Relationships xmlns="http://schemas.openxmlformats.org/package/2006/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sldMaster>
</file>

<file path=ppt/slides/_rels/slide1.xml.rels><?xml version="1.0"?><Relationships xmlns="http://schemas.openxmlformats.org/package/2006/relationships">
<Relationship Id="rId1" Type="http://schemas.openxmlformats.org/officeDocument/2006/relationships/slideLayout" Target="../slideLayouts/slideLayout1.xml"/>
</Relationships>
</file>

<file path=ppt/slides/_rels/slide2.xml.rels><?xml version="1.0"?><Relationships xmlns="http://schemas.openxmlformats.org/package/2006/relationships">
<Relationship Id="rId1" Type="http://schemas.openxmlformats.org/officeDocument/2006/relationships/slideLayout" Target="../slideLayouts/slideLayout1.xml"/>
</Relationships>
</file>

<file path=ppt/slides/_rels/slide3.xml.rels><?xml version="1.0"?><Relationships xmlns="http://schemas.openxmlformats.org/package/2006/relationships">
<Relationship Id="rId1" Type="http://schemas.openxmlformats.org/officeDocument/2006/relationships/slideLayout" Target="../slideLayouts/slideLayout1.xml"/>
</Relationships>
</file>

<file path=ppt/slides/_rels/slide4.xml.rels><?xml version="1.0"?><Relationships xmlns="http://schemas.openxmlformats.org/package/2006/relationships">
<Relationship Id="rId1" Type="http://schemas.openxmlformats.org/officeDocument/2006/relationships/slideLayout" Target="../slideLayouts/slideLayout1.xml"/>
</Relationships>
</file>

<file path=ppt/slides/_rels/slide5.xml.rels><?xml version="1.0"?><Relationships xmlns="http://schemas.openxmlformats.org/package/2006/relationships">
<Relationship Id="rId1" Type="http://schemas.openxmlformats.org/officeDocument/2006/relationships/slideLayout" Target="../slideLayouts/slideLayout1.xml"/>
</Relationships>
</file>

<file path=ppt/slides/_rels/slide6.xml.rels><?xml version="1.0"?><Relationships xmlns="http://schemas.openxmlformats.org/package/2006/relationships">
<Relationship Id="rId1" Type="http://schemas.openxmlformats.org/officeDocument/2006/relationships/slideLayout" Target="../slideLayouts/slideLayout1.xml"/>
</Relationships>
</file>

<file path=ppt/slides/_rels/slide7.xml.rels><?xml version="1.0"?><Relationships xmlns="http://schemas.openxmlformats.org/package/2006/relationships">
<Relationship Id="rId1" Type="http://schemas.openxmlformats.org/officeDocument/2006/relationships/slideLayout" Target="../slideLayouts/slideLayout1.xml"/>
</Relationships>
</file>

<file path=ppt/slides/_rels/slide8.xml.rels><?xml version="1.0"?><Relationships xmlns="http://schemas.openxmlformats.org/package/2006/relationships">
<Relationship Id="rId1" Type="http://schemas.openxmlformats.org/officeDocument/2006/relationships/slideLayout" Target="../slideLayouts/slideLayout1.xml"/>
</Relationships>
</file>

<file path=ppt/slides/_rels/slide9.xml.rels><?xml version="1.0"?><Relationships xmlns="http://schemas.openxmlformats.org/package/2006/relationships">
<Relationship Id="rId1" Type="http://schemas.openxmlformats.org/officeDocument/2006/relationships/slideLayout" Target="../slideLayouts/slideLayout1.xml"/>
</Relationships>
</file>

<file path=ppt/slides/_rels/slide10.xml.rels><?xml version="1.0"?><Relationships xmlns="http://schemas.openxmlformats.org/package/2006/relationships">
<Relationship Id="rId1" Type="http://schemas.openxmlformats.org/officeDocument/2006/relationships/slideLayout" Target="../slideLayouts/slideLayout1.xml"/>
</Relationships>
</file>

<file path=ppt/slides/_rels/slide11.xml.rels><?xml version="1.0"?><Relationships xmlns="http://schemas.openxmlformats.org/package/2006/relationships">
<Relationship Id="rId1" Type="http://schemas.openxmlformats.org/officeDocument/2006/relationships/slideLayout" Target="../slideLayouts/slideLayout1.xml"/>
</Relationships>
</file>

<file path=ppt/slides/_rels/slide12.xml.rels><?xml version="1.0"?><Relationships xmlns="http://schemas.openxmlformats.org/package/2006/relationships">
<Relationship Id="rId1" Type="http://schemas.openxmlformats.org/officeDocument/2006/relationships/slideLayout" Target="../slideLayouts/slideLayout1.xml"/>
</Relationships>
</file>

<file path=ppt/slides/_rels/slide13.xml.rels><?xml version="1.0"?><Relationships xmlns="http://schemas.openxmlformats.org/package/2006/relationships">
<Relationship Id="rId1" Type="http://schemas.openxmlformats.org/officeDocument/2006/relationships/slideLayout" Target="../slideLayouts/slideLayout1.xml"/>
</Relationships>
</file>

<file path=ppt/slides/_rels/slide14.xml.rels><?xml version="1.0"?><Relationships xmlns="http://schemas.openxmlformats.org/package/2006/relationships">
<Relationship Id="rId1" Type="http://schemas.openxmlformats.org/officeDocument/2006/relationships/slideLayout" Target="../slideLayouts/slideLayout1.xml"/>
</Relationships>
</file>

<file path=ppt/slides/_rels/slide15.xml.rels><?xml version="1.0"?><Relationships xmlns="http://schemas.openxmlformats.org/package/2006/relationships">
<Relationship Id="rId1" Type="http://schemas.openxmlformats.org/officeDocument/2006/relationships/slideLayout" Target="../slideLayouts/slideLayout1.xml"/>
</Relationships>
</file>

<file path=ppt/slides/_rels/slide16.xml.rels><?xml version="1.0"?><Relationships xmlns="http://schemas.openxmlformats.org/package/2006/relationships">
<Relationship Id="rId1" Type="http://schemas.openxmlformats.org/officeDocument/2006/relationships/slideLayout" Target="../slideLayouts/slideLayout1.xml"/>
</Relationships>
</file>

<file path=ppt/slides/_rels/slide17.xml.rels><?xml version="1.0"?><Relationships xmlns="http://schemas.openxmlformats.org/package/2006/relationships">
<Relationship Id="rId1" Type="http://schemas.openxmlformats.org/officeDocument/2006/relationships/slideLayout" Target="../slideLayouts/slideLayout1.xml"/>
</Relationships>
</file>

<file path=ppt/slides/_rels/slide18.xml.rels><?xml version="1.0"?><Relationships xmlns="http://schemas.openxmlformats.org/package/2006/relationships">
<Relationship Id="rId1" Type="http://schemas.openxmlformats.org/officeDocument/2006/relationships/slideLayout" Target="../slideLayouts/slideLayout1.xml"/>
</Relationships>
</file>

<file path=ppt/slides/_rels/slide19.xml.rels><?xml version="1.0"?><Relationships xmlns="http://schemas.openxmlformats.org/package/2006/relationships">
<Relationship Id="rId1" Type="http://schemas.openxmlformats.org/officeDocument/2006/relationships/slideLayout" Target="../slideLayouts/slideLayout1.xml"/>
</Relationships>
</file>

<file path=ppt/slides/_rels/slide20.xml.rels><?xml version="1.0"?><Relationships xmlns="http://schemas.openxmlformats.org/package/2006/relationships">
<Relationship Id="rId1" Type="http://schemas.openxmlformats.org/officeDocument/2006/relationships/slideLayout" Target="../slideLayouts/slideLayout1.xml"/>
</Relationships>
</file>

<file path=ppt/slides/_rels/slide21.xml.rels><?xml version="1.0"?><Relationships xmlns="http://schemas.openxmlformats.org/package/2006/relationships">
<Relationship Id="rId1" Type="http://schemas.openxmlformats.org/officeDocument/2006/relationships/slideLayout" Target="../slideLayouts/slideLayout1.xml"/>
</Relationships>
</file>

<file path=ppt/slides/_rels/slide22.xml.rels><?xml version="1.0"?><Relationships xmlns="http://schemas.openxmlformats.org/package/2006/relationships">
<Relationship Id="rId1" Type="http://schemas.openxmlformats.org/officeDocument/2006/relationships/slideLayout" Target="../slideLayouts/slideLayout1.xml"/>
</Relationships>
</file>

<file path=ppt/slides/_rels/slide23.xml.rels><?xml version="1.0"?><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Module 8: Advanced Manufacturing Specifics</a:t>
            </a:r>
          </a:p>
        </p:txBody>
      </p:sp>
      <p:sp>
        <p:nvSpPr>
          <p:cNvPr id="3" name="Content"/>
          <p:cNvSpPr>
            <a:spLocks noGrp="1"/>
          </p:cNvSpPr>
          <p:nvPr>
            <p:ph idx="1" type="body"/>
          </p:nvPr>
        </p:nvSpPr>
        <p:spPr/>
        <p:txBody>
          <a:bodyPr/>
          <a:lstStyle/>
          <a:p>
            <a:r>
              <a:rPr sz="1400"/>
              <a:t>PLC Tabletop Training Program · Lecture + Discussion · 3.5 h</a:t>
            </a:r>
          </a:p>
          <a:p>
            <a:r>
              <a:rPr sz="1400"/>
              <a:t>v1.0 (April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Learning objectives</a:t>
            </a:r>
          </a:p>
        </p:txBody>
      </p:sp>
      <p:sp>
        <p:nvSpPr>
          <p:cNvPr id="3" name="Content"/>
          <p:cNvSpPr>
            <a:spLocks noGrp="1"/>
          </p:cNvSpPr>
          <p:nvPr>
            <p:ph idx="1" type="body"/>
          </p:nvPr>
        </p:nvSpPr>
        <p:spPr/>
        <p:txBody>
          <a:bodyPr/>
          <a:lstStyle/>
          <a:p>
            <a:r>
              <a:rPr sz="1400"/>
              <a:t>Locate and use custom build documentation for Vermeer machines</a:t>
            </a:r>
          </a:p>
          <a:p>
            <a:r>
              <a:rPr sz="1400"/>
              <a:t>Understand core ladder logic instructions and their symbols</a:t>
            </a:r>
          </a:p>
          <a:p>
            <a:r>
              <a:rPr sz="1400"/>
              <a:t>Configure basic servo motor parameters in Sysmac Studio</a:t>
            </a:r>
          </a:p>
          <a:p>
            <a:r>
              <a:rPr sz="1400"/>
              <a:t>Create and use global variables with proper naming conventions</a:t>
            </a:r>
          </a:p>
          <a:p>
            <a:r>
              <a:rPr sz="1400"/>
              <a:t>Add I/O modules and devices to an existing PLC configuration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Overview</a:t>
            </a:r>
          </a:p>
        </p:txBody>
      </p:sp>
      <p:sp>
        <p:nvSpPr>
          <p:cNvPr id="3" name="Content"/>
          <p:cNvSpPr>
            <a:spLocks noGrp="1"/>
          </p:cNvSpPr>
          <p:nvPr>
            <p:ph idx="1" type="body"/>
          </p:nvPr>
        </p:nvSpPr>
        <p:spPr/>
        <p:txBody>
          <a:bodyPr/>
          <a:lstStyle/>
          <a:p>
            <a:r>
              <a:rPr sz="1400"/>
              <a:t>Custom machine documentation, ladder logic building blocks, servo motor configuration, global variables, and adding I/O components to a PLC.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Custom Machine Documentation</a:t>
            </a:r>
          </a:p>
        </p:txBody>
      </p:sp>
      <p:sp>
        <p:nvSpPr>
          <p:cNvPr id="3" name="Content"/>
          <p:cNvSpPr>
            <a:spLocks noGrp="1"/>
          </p:cNvSpPr>
          <p:nvPr>
            <p:ph idx="1" type="body"/>
          </p:nvPr>
        </p:nvSpPr>
        <p:spPr/>
        <p:txBody>
          <a:bodyPr/>
          <a:lstStyle/>
          <a:p>
            <a:r>
              <a:rPr sz="1400"/>
              <a:t>Where to find documentation for Cobot Carbide Tower, Cobot Reamer, Servo Motor, and Rodloader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Custom Machine Documentation (content)</a:t>
            </a:r>
          </a:p>
        </p:txBody>
      </p:sp>
      <p:sp>
        <p:nvSpPr>
          <p:cNvPr id="3" name="Content"/>
          <p:cNvSpPr>
            <a:spLocks noGrp="1"/>
          </p:cNvSpPr>
          <p:nvPr>
            <p:ph idx="1" type="body"/>
          </p:nvPr>
        </p:nvSpPr>
        <p:spPr/>
        <p:txBody>
          <a:bodyPr/>
          <a:lstStyle/>
          <a:p>
            <a:r>
              <a:rPr sz="1400"/>
              <a:t>All custom build documentation is stored on the shared network drive under: Engineering &gt; Custom Builds &gt; [Machine Name]. Always check here first before making any changes.</a:t>
            </a:r>
          </a:p>
          <a:p>
            <a:r>
              <a:rPr sz="1400"/>
              <a:t>Table: Machine | Key Documents</a:t>
            </a:r>
          </a:p>
          <a:p>
            <a:r>
              <a:rPr sz="1400"/>
              <a:t>  • Cobot Carbide Tower | Wiring diagrams, Omron NX1P2 PLC program, Sysmac Studio project file, robot cell layout. Check revision history for latest approved version.</a:t>
            </a:r>
          </a:p>
          <a:p>
            <a:r>
              <a:rPr sz="1400"/>
              <a:t>  • Cobot Reamer | Task program, EtherCAT slave configuration, tooling offset table, safety zone drawings.</a:t>
            </a:r>
          </a:p>
          <a:p>
            <a:r>
              <a:rPr sz="1400"/>
              <a:t>  • Servo Motor Incorporation | Axis mapping spreadsheet, drive parameter backup file, mechanical coupling specs, motion profile documentation.</a:t>
            </a:r>
          </a:p>
          <a:p>
            <a:r>
              <a:rPr sz="1400"/>
              <a:t>  • Rodloader | Full wiring package, Productivity Suite project, I/O assignment list, sequence of operations document.</a:t>
            </a:r>
          </a:p>
          <a:p>
            <a:r>
              <a:rPr sz="1400"/>
              <a:t>[WARNING] Revision Control: Always verify you are working from the latest revision. Outdated documentation leads to incorrect troubleshooting and wasted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Ladder Logic Building Blocks — Part 1</a:t>
            </a:r>
          </a:p>
        </p:txBody>
      </p:sp>
      <p:sp>
        <p:nvSpPr>
          <p:cNvPr id="3" name="Content"/>
          <p:cNvSpPr>
            <a:spLocks noGrp="1"/>
          </p:cNvSpPr>
          <p:nvPr>
            <p:ph idx="1" type="body"/>
          </p:nvPr>
        </p:nvSpPr>
        <p:spPr/>
        <p:txBody>
          <a:bodyPr/>
          <a:lstStyle/>
          <a:p>
            <a:r>
              <a:rPr sz="1400"/>
              <a:t>Core instructions: contacts, coils, latches, timers, and counters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Ladder Logic Building Blocks — Part 1 (content)</a:t>
            </a:r>
          </a:p>
        </p:txBody>
      </p:sp>
      <p:sp>
        <p:nvSpPr>
          <p:cNvPr id="3" name="Content"/>
          <p:cNvSpPr>
            <a:spLocks noGrp="1"/>
          </p:cNvSpPr>
          <p:nvPr>
            <p:ph idx="1" type="body"/>
          </p:nvPr>
        </p:nvSpPr>
        <p:spPr/>
        <p:txBody>
          <a:bodyPr/>
          <a:lstStyle/>
          <a:p>
            <a:r>
              <a:rPr sz="1400"/>
              <a:t>→ Contacts and Coils</a:t>
            </a:r>
          </a:p>
          <a:p>
            <a:r>
              <a:rPr sz="1400"/>
              <a:t>Table: Instruction | Symbol | Function</a:t>
            </a:r>
          </a:p>
          <a:p>
            <a:r>
              <a:rPr sz="1400"/>
              <a:t>  • Normally Open (XIC/NO) | --[ ]-- | Passes power when the referenced bit is ON (1). Checks if an input is active.</a:t>
            </a:r>
          </a:p>
          <a:p>
            <a:r>
              <a:rPr sz="1400"/>
              <a:t>  • Normally Closed (XIO/NC) | --[/]-- | Passes power when the referenced bit is OFF (0). Blocks logic when a fault/interlock is active.</a:t>
            </a:r>
          </a:p>
          <a:p>
            <a:r>
              <a:rPr sz="1400"/>
              <a:t>  • Output Coil (OTE) | --( )-- | Sets the referenced bit ON when the rung has power. Turns OFF when power is lost.</a:t>
            </a:r>
          </a:p>
          <a:p>
            <a:r>
              <a:rPr sz="1400"/>
              <a:t>  • Latch (OTL) | --(L)-- | Sets the bit ON and it stays ON even after the rung loses power. Requires an unlatch to turn off.</a:t>
            </a:r>
          </a:p>
          <a:p>
            <a:r>
              <a:rPr sz="1400"/>
              <a:t>  • Unlatch (OTU) | --(U)-- | Turns off a latched bit. Used in pairs with OTL for start/stop logic.</a:t>
            </a:r>
          </a:p>
          <a:p>
            <a:r>
              <a:rPr sz="1400"/>
              <a:t>→ Timers</a:t>
            </a:r>
          </a:p>
          <a:p>
            <a:r>
              <a:rPr sz="1400"/>
              <a:t>Table: Timer | Function | Common Use</a:t>
            </a:r>
          </a:p>
          <a:p>
            <a:r>
              <a:rPr sz="1400"/>
              <a:t>  • TON (Timer On-Delay) | Starts counting when rung is true. DN bit turns ON after preset time. | Debounce sensors, sequence delays, dwell times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Ladder Logic Building Blocks — Part 1 (content)</a:t>
            </a:r>
          </a:p>
        </p:txBody>
      </p:sp>
      <p:sp>
        <p:nvSpPr>
          <p:cNvPr id="3" name="Content"/>
          <p:cNvSpPr>
            <a:spLocks noGrp="1"/>
          </p:cNvSpPr>
          <p:nvPr>
            <p:ph idx="1" type="body"/>
          </p:nvPr>
        </p:nvSpPr>
        <p:spPr/>
        <p:txBody>
          <a:bodyPr/>
          <a:lstStyle/>
          <a:p>
            <a:r>
              <a:rPr sz="1400"/>
              <a:t>  • TOF (Timer Off-Delay) | Starts counting when rung goes false. DN bit stays ON for preset time after rung goes false. | Cooldown periods, coast-down timing</a:t>
            </a:r>
          </a:p>
          <a:p>
            <a:r>
              <a:rPr sz="1400"/>
              <a:t>  • RTO (Retentive Timer) | Like TON but accumulator retains value when rung goes false. Must use RES to reset. | Total run-time tracking, accumulated process time</a:t>
            </a:r>
          </a:p>
          <a:p>
            <a:r>
              <a:rPr sz="1400"/>
              <a:t>→ Counters</a:t>
            </a:r>
          </a:p>
          <a:p>
            <a:r>
              <a:rPr sz="1400"/>
              <a:t>Table: Counter | Function | Common Use</a:t>
            </a:r>
          </a:p>
          <a:p>
            <a:r>
              <a:rPr sz="1400"/>
              <a:t>  • CTU (Count Up) | Increments by 1 each time the rung transitions from false to true. DN bit turns ON at preset. | Part counting, cycle counting</a:t>
            </a:r>
          </a:p>
          <a:p>
            <a:r>
              <a:rPr sz="1400"/>
              <a:t>  • CTD (Count Down) | Decrements by 1 each transition. DN bit turns ON when accumulator reaches zero. | Batch remaining count, magazine count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Ladder Logic Building Blocks — Part 2</a:t>
            </a:r>
          </a:p>
        </p:txBody>
      </p:sp>
      <p:sp>
        <p:nvSpPr>
          <p:cNvPr id="3" name="Content"/>
          <p:cNvSpPr>
            <a:spLocks noGrp="1"/>
          </p:cNvSpPr>
          <p:nvPr>
            <p:ph idx="1" type="body"/>
          </p:nvPr>
        </p:nvSpPr>
        <p:spPr/>
        <p:txBody>
          <a:bodyPr/>
          <a:lstStyle/>
          <a:p>
            <a:r>
              <a:rPr sz="1400"/>
              <a:t>Comparison, math, move instructions, and other function blocks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Ladder Logic Building Blocks — Part 2 (content)</a:t>
            </a:r>
          </a:p>
        </p:txBody>
      </p:sp>
      <p:sp>
        <p:nvSpPr>
          <p:cNvPr id="3" name="Content"/>
          <p:cNvSpPr>
            <a:spLocks noGrp="1"/>
          </p:cNvSpPr>
          <p:nvPr>
            <p:ph idx="1" type="body"/>
          </p:nvPr>
        </p:nvSpPr>
        <p:spPr/>
        <p:txBody>
          <a:bodyPr/>
          <a:lstStyle/>
          <a:p>
            <a:r>
              <a:rPr sz="1400"/>
              <a:t>→ Comparison Instructions</a:t>
            </a:r>
          </a:p>
          <a:p>
            <a:r>
              <a:rPr sz="1400"/>
              <a:t>Comparison instructions evaluate two values and pass power if the condition is true:</a:t>
            </a:r>
          </a:p>
          <a:p>
            <a:r>
              <a:rPr sz="1400"/>
              <a:t>Table: Instruction | Meaning | Example</a:t>
            </a:r>
          </a:p>
          <a:p>
            <a:r>
              <a:rPr sz="1400"/>
              <a:t>  • EQU | Equal | Check if counter = target value</a:t>
            </a:r>
          </a:p>
          <a:p>
            <a:r>
              <a:rPr sz="1400"/>
              <a:t>  • NEQ | Not Equal | Check if status flag has changed</a:t>
            </a:r>
          </a:p>
          <a:p>
            <a:r>
              <a:rPr sz="1400"/>
              <a:t>  • GRT | Greater Than | Check if temperature exceeds limit</a:t>
            </a:r>
          </a:p>
          <a:p>
            <a:r>
              <a:rPr sz="1400"/>
              <a:t>  • LES | Less Than | Check if pressure is below minimum</a:t>
            </a:r>
          </a:p>
          <a:p>
            <a:r>
              <a:rPr sz="1400"/>
              <a:t>  • GEQ | Greater Than or Equal | Check if timer accumulator &gt;= setpoint</a:t>
            </a:r>
          </a:p>
          <a:p>
            <a:r>
              <a:rPr sz="1400"/>
              <a:t>  • LEQ | Less Than or Equal | Check if speed is within range</a:t>
            </a:r>
          </a:p>
          <a:p>
            <a:r>
              <a:rPr sz="1400"/>
              <a:t>→ Math &amp; Move Instructions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Ladder Logic Building Blocks — Part 2 (content)</a:t>
            </a:r>
          </a:p>
        </p:txBody>
      </p:sp>
      <p:sp>
        <p:nvSpPr>
          <p:cNvPr id="3" name="Content"/>
          <p:cNvSpPr>
            <a:spLocks noGrp="1"/>
          </p:cNvSpPr>
          <p:nvPr>
            <p:ph idx="1" type="body"/>
          </p:nvPr>
        </p:nvSpPr>
        <p:spPr/>
        <p:txBody>
          <a:bodyPr/>
          <a:lstStyle/>
          <a:p>
            <a:r>
              <a:rPr sz="1400"/>
              <a:t>• MOV (Move): Copies a value from Source to Destination. Used for loading setpoints, copying recipes, and resetting accumulators.</a:t>
            </a:r>
          </a:p>
          <a:p>
            <a:r>
              <a:rPr sz="1400"/>
              <a:t>• ADD / SUB / MUL / DIV: Arithmetic on tag values. Used for scaling analog signals, calculating rates, and batch arithmetic.</a:t>
            </a:r>
          </a:p>
          <a:p>
            <a:r>
              <a:rPr sz="1400"/>
              <a:t>• CPT (Compute): Evaluates a formula expression. Useful for complex calculations in a single instruction.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Servo Motor Configuration</a:t>
            </a:r>
          </a:p>
        </p:txBody>
      </p:sp>
      <p:sp>
        <p:nvSpPr>
          <p:cNvPr id="3" name="Content"/>
          <p:cNvSpPr>
            <a:spLocks noGrp="1"/>
          </p:cNvSpPr>
          <p:nvPr>
            <p:ph idx="1" type="body"/>
          </p:nvPr>
        </p:nvSpPr>
        <p:spPr/>
        <p:txBody>
          <a:bodyPr/>
          <a:lstStyle/>
          <a:p>
            <a:r>
              <a:rPr sz="1400"/>
              <a:t>Setting up servo axes in Omron Sysmac Studio over EtherCAT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Servo Motor Configuration (content)</a:t>
            </a:r>
          </a:p>
        </p:txBody>
      </p:sp>
      <p:sp>
        <p:nvSpPr>
          <p:cNvPr id="3" name="Content"/>
          <p:cNvSpPr>
            <a:spLocks noGrp="1"/>
          </p:cNvSpPr>
          <p:nvPr>
            <p:ph idx="1" type="body"/>
          </p:nvPr>
        </p:nvSpPr>
        <p:spPr/>
        <p:txBody>
          <a:bodyPr/>
          <a:lstStyle/>
          <a:p>
            <a:r>
              <a:rPr sz="1400"/>
              <a:t>→ Adding a Servo Axis</a:t>
            </a:r>
          </a:p>
          <a:p>
            <a:r>
              <a:rPr sz="1400"/>
              <a:t>• In the Sysmac Studio project tree, go to Motion Control &gt; Axes</a:t>
            </a:r>
          </a:p>
          <a:p>
            <a:r>
              <a:rPr sz="1400"/>
              <a:t>• Right-click and add a new Servo Axis</a:t>
            </a:r>
          </a:p>
          <a:p>
            <a:r>
              <a:rPr sz="1400"/>
              <a:t>• Assign it to the EtherCAT node number matching the physical drive (check drive's rotary switches or DIP settings)</a:t>
            </a:r>
          </a:p>
          <a:p>
            <a:r>
              <a:rPr sz="1400"/>
              <a:t>→ Unit Conversion Settings</a:t>
            </a:r>
          </a:p>
          <a:p>
            <a:r>
              <a:rPr sz="1400"/>
              <a:t>Under Axis Parameters &gt; Unit Conversion, configure:</a:t>
            </a:r>
          </a:p>
          <a:p>
            <a:r>
              <a:rPr sz="1400"/>
              <a:t>• Encoder pulses per revolution</a:t>
            </a:r>
          </a:p>
          <a:p>
            <a:r>
              <a:rPr sz="1400"/>
              <a:t>• User units (mm, degrees, inches) per motor revolution</a:t>
            </a:r>
          </a:p>
          <a:p>
            <a:r>
              <a:rPr sz="1400"/>
              <a:t>• Gear ratio if a gearbox is present</a:t>
            </a:r>
          </a:p>
          <a:p>
            <a:r>
              <a:rPr sz="1400"/>
              <a:t>→ Key Parameters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Servo Motor Configuration (content)</a:t>
            </a:r>
          </a:p>
        </p:txBody>
      </p:sp>
      <p:sp>
        <p:nvSpPr>
          <p:cNvPr id="3" name="Content"/>
          <p:cNvSpPr>
            <a:spLocks noGrp="1"/>
          </p:cNvSpPr>
          <p:nvPr>
            <p:ph idx="1" type="body"/>
          </p:nvPr>
        </p:nvSpPr>
        <p:spPr/>
        <p:txBody>
          <a:bodyPr/>
          <a:lstStyle/>
          <a:p>
            <a:r>
              <a:rPr sz="1400"/>
              <a:t>Table: Parameter | What It Controls | Risk if Wrong</a:t>
            </a:r>
          </a:p>
          <a:p>
            <a:r>
              <a:rPr sz="1400"/>
              <a:t>  • Max Velocity | Speed limit for the axis | Too fast = mechanical damage, too slow = cycle time loss</a:t>
            </a:r>
          </a:p>
          <a:p>
            <a:r>
              <a:rPr sz="1400"/>
              <a:t>  • Acceleration / Deceleration | Ramp rates | Too aggressive = motor faults, too gentle = slow response</a:t>
            </a:r>
          </a:p>
          <a:p>
            <a:r>
              <a:rPr sz="1400"/>
              <a:t>  • Position Limits | Software travel limits | Prevents axis from moving beyond mechanical range</a:t>
            </a:r>
          </a:p>
          <a:p>
            <a:r>
              <a:rPr sz="1400"/>
              <a:t>  • Torque Limit | Maximum motor force | Too high = potential to damage tooling or workpiece</a:t>
            </a:r>
          </a:p>
          <a:p>
            <a:r>
              <a:rPr sz="1400"/>
              <a:t>[WARNING] Parameter Changes on Production: Never change servo parameters on a production machine without comparing to the documented values first. Small changes to acceleration or position limits can cause crashes, product damage, or injury.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Global Variables &amp; Adding Components</a:t>
            </a:r>
          </a:p>
        </p:txBody>
      </p:sp>
      <p:sp>
        <p:nvSpPr>
          <p:cNvPr id="3" name="Content"/>
          <p:cNvSpPr>
            <a:spLocks noGrp="1"/>
          </p:cNvSpPr>
          <p:nvPr>
            <p:ph idx="1" type="body"/>
          </p:nvPr>
        </p:nvSpPr>
        <p:spPr/>
        <p:txBody>
          <a:bodyPr/>
          <a:lstStyle/>
          <a:p>
            <a:r>
              <a:rPr sz="1400"/>
              <a:t>Creating global variables, naming conventions, and adding I/O modules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Global Variables &amp; Adding Components (content)</a:t>
            </a:r>
          </a:p>
        </p:txBody>
      </p:sp>
      <p:sp>
        <p:nvSpPr>
          <p:cNvPr id="3" name="Content"/>
          <p:cNvSpPr>
            <a:spLocks noGrp="1"/>
          </p:cNvSpPr>
          <p:nvPr>
            <p:ph idx="1" type="body"/>
          </p:nvPr>
        </p:nvSpPr>
        <p:spPr/>
        <p:txBody>
          <a:bodyPr/>
          <a:lstStyle/>
          <a:p>
            <a:r>
              <a:rPr sz="1400"/>
              <a:t>→ Creating Global Variables</a:t>
            </a:r>
          </a:p>
          <a:p>
            <a:r>
              <a:rPr sz="1400"/>
              <a:t>Global variables are accessible from any program block in the PLC project. In Omron Sysmac Studio, define them in the Global Variable Table. In Allen Bradley Studio 5000, these are Controller-scoped tags.</a:t>
            </a:r>
          </a:p>
          <a:p>
            <a:r>
              <a:rPr sz="1400"/>
              <a:t>→ Naming Convention</a:t>
            </a:r>
          </a:p>
          <a:p>
            <a:r>
              <a:rPr sz="1400"/>
              <a:t>Use a function area prefix for instant clarity:</a:t>
            </a:r>
          </a:p>
          <a:p>
            <a:r>
              <a:rPr sz="1400"/>
              <a:t>• SAFETY_ — E-stop, safety relay, scanner signals</a:t>
            </a:r>
          </a:p>
          <a:p>
            <a:r>
              <a:rPr sz="1400"/>
              <a:t>• MOTION_ — Servo axis commands and feedback</a:t>
            </a:r>
          </a:p>
          <a:p>
            <a:r>
              <a:rPr sz="1400"/>
              <a:t>• HMI_ — Operator interface signals</a:t>
            </a:r>
          </a:p>
          <a:p>
            <a:r>
              <a:rPr sz="1400"/>
              <a:t>• CONV_ — Conveyor system signals</a:t>
            </a:r>
          </a:p>
          <a:p>
            <a:r>
              <a:rPr sz="1400"/>
              <a:t>• IO_ — General I/O points</a:t>
            </a:r>
          </a:p>
          <a:p>
            <a:r>
              <a:rPr sz="1400"/>
              <a:t>→ Adding I/O Components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Global Variables &amp; Adding Components (content)</a:t>
            </a:r>
          </a:p>
        </p:txBody>
      </p:sp>
      <p:sp>
        <p:nvSpPr>
          <p:cNvPr id="3" name="Content"/>
          <p:cNvSpPr>
            <a:spLocks noGrp="1"/>
          </p:cNvSpPr>
          <p:nvPr>
            <p:ph idx="1" type="body"/>
          </p:nvPr>
        </p:nvSpPr>
        <p:spPr/>
        <p:txBody>
          <a:bodyPr/>
          <a:lstStyle/>
          <a:p>
            <a:r>
              <a:rPr sz="1400"/>
              <a:t>Table: Platform | Steps</a:t>
            </a:r>
          </a:p>
          <a:p>
            <a:r>
              <a:rPr sz="1400"/>
              <a:t>  • Omron (EtherCAT) | Right-click EtherCAT master &gt; Add Slave. Select from ESI library. Assign node address. Map tags to I/O channels in the I/O Map view.</a:t>
            </a:r>
          </a:p>
          <a:p>
            <a:r>
              <a:rPr sz="1400"/>
              <a:t>  • Allen Bradley | Right-click I/O Configuration &gt; New Module. Search by catalog number. Set IP address and slot. Download and verify in I/O tree.</a:t>
            </a:r>
          </a:p>
          <a:p>
            <a:r>
              <a:rPr sz="1400"/>
              <a:t>  • AutomationDirect | Use the I/O Configuration wizard in Productivity Suite. Select module type, assign slot, map tags.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Lab: Servo Parameters — Live Adjustment</a:t>
            </a:r>
          </a:p>
        </p:txBody>
      </p:sp>
      <p:sp>
        <p:nvSpPr>
          <p:cNvPr id="3" name="Content"/>
          <p:cNvSpPr>
            <a:spLocks noGrp="1"/>
          </p:cNvSpPr>
          <p:nvPr>
            <p:ph idx="1" type="body"/>
          </p:nvPr>
        </p:nvSpPr>
        <p:spPr/>
        <p:txBody>
          <a:bodyPr/>
          <a:lstStyle/>
          <a:p>
            <a:r>
              <a:rPr sz="1400"/>
              <a:t>After: Servo Motor Configuration</a:t>
            </a:r>
          </a:p>
          <a:p>
            <a:r>
              <a:rPr sz="1400"/>
              <a:t>Duration: 15 min</a:t>
            </a:r>
          </a:p>
          <a:p>
            <a:r>
              <a:rPr sz="1400"/>
              <a:t>On the EtherCAT servo drive, show current parameters. Make a safe change (reduce velocity by 50%), command a move, observe the difference. Restore original.</a:t>
            </a:r>
          </a:p>
          <a:p>
            <a:r>
              <a:rPr sz="1400"/>
              <a:t>Students read parameters, predict what a change will do, observe the result, then restore. Reinforces the read → predict → verify → restore cycle.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Lab: Add I/O Component End-to-End</a:t>
            </a:r>
          </a:p>
        </p:txBody>
      </p:sp>
      <p:sp>
        <p:nvSpPr>
          <p:cNvPr id="3" name="Content"/>
          <p:cNvSpPr>
            <a:spLocks noGrp="1"/>
          </p:cNvSpPr>
          <p:nvPr>
            <p:ph idx="1" type="body"/>
          </p:nvPr>
        </p:nvSpPr>
        <p:spPr/>
        <p:txBody>
          <a:bodyPr/>
          <a:lstStyle/>
          <a:p>
            <a:r>
              <a:rPr sz="1400"/>
              <a:t>After: Global Variables &amp; Adding Components</a:t>
            </a:r>
          </a:p>
          <a:p>
            <a:r>
              <a:rPr sz="1400"/>
              <a:t>Duration: 15 min</a:t>
            </a:r>
          </a:p>
          <a:p>
            <a:r>
              <a:rPr sz="1400"/>
              <a:t>Walk through adding a new tag for an unused I/O point: create tag, map to physical channel, write a simple rung, download, test with physical device.</a:t>
            </a:r>
          </a:p>
          <a:p>
            <a:r>
              <a:rPr sz="1400"/>
              <a:t>Students follow along on laptops, replicating the tag and rung. Each pair tests their logic on the bench — the capstone integrative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A TON timer has a preset of 5000ms and the accumulator shows 5000ms. Is the DN (Done) bit ON or OFF?</a:t>
            </a:r>
          </a:p>
          <a:p>
            <a:r>
              <a:rPr sz="1400"/>
              <a:t>OFF — the timer is still counting | ON — the accumulator has reached the preset | It depends on the rung state | OFF — 5000ms means the timer has reset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What is the difference between OTE (Output Coil) and OTL (Output Latch)?</a:t>
            </a:r>
          </a:p>
          <a:p>
            <a:r>
              <a:rPr sz="1400"/>
              <a:t>They are the same | OTE turns off when the rung loses power; OTL stays on until an OTU unlatch instruction | OTL is faster than OTE | OTE is used for digital, OTL for analog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Before changing servo motor parameters on a production machine, what should you do?</a:t>
            </a:r>
          </a:p>
          <a:p>
            <a:r>
              <a:rPr sz="1400"/>
              <a:t>Just make the change — parameters auto-revert on restart | Compare the current values to the documented values and backup the program first | Switch the PLC to PROGRAM mode | Disconnect the encoder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What prefix would you use for a global variable controlling an E-stop circuit?</a:t>
            </a:r>
          </a:p>
          <a:p>
            <a:r>
              <a:rPr sz="1400"/>
              <a:t>CONV_ | MOTION_ | SAFETY_ | HMI_</a:t>
            </a:r>
          </a:p>
        </p:txBody>
      </p:sp>
    </p:spTree>
  </p:cSld>
</p:sld>
</file>